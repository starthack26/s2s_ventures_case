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2" r:id="rId4"/>
    <p:sldId id="263" r:id="rId5"/>
    <p:sldId id="265" r:id="rId6"/>
    <p:sldId id="258" r:id="rId7"/>
    <p:sldId id="259" r:id="rId8"/>
    <p:sldId id="260" r:id="rId9"/>
    <p:sldId id="261"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4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10E1D-0DEC-3FE8-90DD-A831822C846A}" v="525" dt="2026-05-26T07:46:07.447"/>
    <p1510:client id="{E89A1FED-807C-5049-8B6C-111E4AFB71C0}" v="11" dt="2026-05-25T20:29:29.9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1"/>
    <p:restoredTop sz="94610"/>
  </p:normalViewPr>
  <p:slideViewPr>
    <p:cSldViewPr snapToGrid="0" snapToObjects="1">
      <p:cViewPr>
        <p:scale>
          <a:sx n="91" d="100"/>
          <a:sy n="91" d="100"/>
        </p:scale>
        <p:origin x="1392" y="1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4705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Pause on 'the world has a deadline.' Let it land. Then say: '2030 is 4 years away — and most SDGs are still off track. But something has changed. AI gives us a shot we didn't have before.' Timing: ~25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'We're not setting a narrow brief. This is an open track. You choose your problem. But there are three rules.' Point to each card as you go. 'AI. SDGs. And it has to be something that could actually exist in the world.' Timing: ~35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intersection is enormous. These are just starting points. You might build in climate, health, food, education, cities, or biodiversity. Or something we haven't put on this slide. The only rule: connect AI to a real sustainability challenge.' Timing: ~30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want you to think like a founder, not a student. Four things matter: a real problem, a real solution using AI, a clear person or group who benefits, and some sense of how this grows.' Then gesture right: 'We're not looking for a chatbot wrapper. We're looking for something you'd be proud to put in front of investors.' Timing: ~40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judge on four things. Impact potential is the biggest — thirty percent. Then AI innovation and SDG fit, twenty-five each. And execution — we need to see something working, even if rough. Twenty percent.' Keep it fast. Timing: ~25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STRONG. Say: 'The prize is real but the real reward is this — you'll build something you can actually show investors, future employers, and co-founders. Use this weekend to validate an idea that matters.' Pause. 'Build the future. Start this weekend.' Step back. Timing: ~25 seconds. Total: under 3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697887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jpeg"/><Relationship Id="rId18" Type="http://schemas.openxmlformats.org/officeDocument/2006/relationships/image" Target="../media/image23.jpeg"/><Relationship Id="rId26" Type="http://schemas.openxmlformats.org/officeDocument/2006/relationships/image" Target="../media/image31.jpe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jpeg"/><Relationship Id="rId25" Type="http://schemas.openxmlformats.org/officeDocument/2006/relationships/image" Target="../media/image30.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sv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svg"/></Relationships>
</file>

<file path=ppt/slides/_rels/slide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A3DCC"/>
          </a:solidFill>
          <a:ln w="12700">
            <a:solidFill>
              <a:srgbClr val="1A3DCC"/>
            </a:solidFill>
            <a:prstDash val="solid"/>
          </a:ln>
        </p:spPr>
        <p:txBody>
          <a:bodyPr/>
          <a:lstStyle/>
          <a:p>
            <a:endParaRPr lang="fr-FR"/>
          </a:p>
        </p:txBody>
      </p:sp>
      <p:sp>
        <p:nvSpPr>
          <p:cNvPr id="3" name="Shape 1"/>
          <p:cNvSpPr/>
          <p:nvPr/>
        </p:nvSpPr>
        <p:spPr>
          <a:xfrm>
            <a:off x="4800600" y="1006918"/>
            <a:ext cx="3749040" cy="2103120"/>
          </a:xfrm>
          <a:prstGeom prst="rect">
            <a:avLst/>
          </a:prstGeom>
          <a:solidFill>
            <a:srgbClr val="EEF2FF"/>
          </a:solidFill>
          <a:ln w="12700">
            <a:solidFill>
              <a:srgbClr val="3D63F0"/>
            </a:solidFill>
            <a:prstDash val="solid"/>
          </a:ln>
        </p:spPr>
        <p:txBody>
          <a:bodyPr/>
          <a:lstStyle/>
          <a:p>
            <a:endParaRPr lang="fr-FR"/>
          </a:p>
        </p:txBody>
      </p:sp>
      <p:sp>
        <p:nvSpPr>
          <p:cNvPr id="5" name="Text 3"/>
          <p:cNvSpPr/>
          <p:nvPr/>
        </p:nvSpPr>
        <p:spPr>
          <a:xfrm>
            <a:off x="4891736" y="2340474"/>
            <a:ext cx="3650814" cy="685800"/>
          </a:xfrm>
          <a:prstGeom prst="rect">
            <a:avLst/>
          </a:prstGeom>
          <a:noFill/>
          <a:ln/>
        </p:spPr>
        <p:txBody>
          <a:bodyPr wrap="square" lIns="0" tIns="0" rIns="0" bIns="0" rtlCol="0" anchor="ctr"/>
          <a:lstStyle/>
          <a:p>
            <a:pPr algn="ctr"/>
            <a:r>
              <a:rPr lang="en-US" sz="1400">
                <a:solidFill>
                  <a:srgbClr val="64748B"/>
                </a:solidFill>
                <a:latin typeface="Calibri"/>
                <a:ea typeface="Calibri"/>
                <a:cs typeface="Calibri"/>
              </a:rPr>
              <a:t>SUSTAINABLE DEVELOPMTENT GOALS</a:t>
            </a:r>
            <a:endParaRPr lang="en-US" sz="1400" dirty="0">
              <a:solidFill>
                <a:srgbClr val="64748B"/>
              </a:solidFill>
              <a:latin typeface="Calibri"/>
              <a:ea typeface="Calibri"/>
              <a:cs typeface="Calibri"/>
            </a:endParaRPr>
          </a:p>
        </p:txBody>
      </p:sp>
      <p:sp>
        <p:nvSpPr>
          <p:cNvPr id="6" name="Text 4"/>
          <p:cNvSpPr/>
          <p:nvPr/>
        </p:nvSpPr>
        <p:spPr>
          <a:xfrm>
            <a:off x="457200" y="347472"/>
            <a:ext cx="4572000" cy="658368"/>
          </a:xfrm>
          <a:prstGeom prst="rect">
            <a:avLst/>
          </a:prstGeom>
          <a:noFill/>
          <a:ln/>
        </p:spPr>
        <p:txBody>
          <a:bodyPr wrap="square" lIns="0" tIns="0" rIns="0" bIns="0" rtlCol="0" anchor="ctr"/>
          <a:lstStyle/>
          <a:p>
            <a:pPr marL="0" indent="0">
              <a:buNone/>
            </a:pPr>
            <a:r>
              <a:rPr lang="en-US" sz="4600" b="1" dirty="0">
                <a:solidFill>
                  <a:srgbClr val="0F172A"/>
                </a:solidFill>
                <a:latin typeface="Arial Black" pitchFamily="34" charset="0"/>
                <a:ea typeface="Arial Black" pitchFamily="34" charset="-122"/>
                <a:cs typeface="Arial Black" pitchFamily="34" charset="-120"/>
              </a:rPr>
              <a:t>The world</a:t>
            </a:r>
            <a:endParaRPr lang="en-US" sz="4600" dirty="0"/>
          </a:p>
        </p:txBody>
      </p:sp>
      <p:sp>
        <p:nvSpPr>
          <p:cNvPr id="7" name="Text 5"/>
          <p:cNvSpPr/>
          <p:nvPr/>
        </p:nvSpPr>
        <p:spPr>
          <a:xfrm>
            <a:off x="459343" y="1392360"/>
            <a:ext cx="4071938" cy="658368"/>
          </a:xfrm>
          <a:prstGeom prst="rect">
            <a:avLst/>
          </a:prstGeom>
          <a:noFill/>
          <a:ln/>
        </p:spPr>
        <p:txBody>
          <a:bodyPr wrap="square" lIns="0" tIns="0" rIns="0" bIns="0" rtlCol="0" anchor="ctr"/>
          <a:lstStyle/>
          <a:p>
            <a:r>
              <a:rPr lang="en-US" sz="4600" b="1" dirty="0">
                <a:solidFill>
                  <a:srgbClr val="1A3DCC"/>
                </a:solidFill>
                <a:latin typeface="Arial Black"/>
                <a:ea typeface="Arial Black" pitchFamily="34" charset="-122"/>
                <a:cs typeface="Arial Black" pitchFamily="34" charset="-120"/>
              </a:rPr>
              <a:t>has </a:t>
            </a:r>
            <a:endParaRPr lang="en-US"/>
          </a:p>
          <a:p>
            <a:r>
              <a:rPr lang="en-US" sz="4600" b="1">
                <a:solidFill>
                  <a:srgbClr val="1A3DCC"/>
                </a:solidFill>
                <a:latin typeface="Arial Black"/>
                <a:ea typeface="Arial Black" pitchFamily="34" charset="-122"/>
                <a:cs typeface="Arial Black" pitchFamily="34" charset="-120"/>
              </a:rPr>
              <a:t>a deadline</a:t>
            </a:r>
            <a:endParaRPr lang="en-US"/>
          </a:p>
        </p:txBody>
      </p:sp>
      <p:sp>
        <p:nvSpPr>
          <p:cNvPr id="8" name="Text 6"/>
          <p:cNvSpPr/>
          <p:nvPr/>
        </p:nvSpPr>
        <p:spPr>
          <a:xfrm>
            <a:off x="731520" y="2431701"/>
            <a:ext cx="4389120" cy="1188720"/>
          </a:xfrm>
          <a:prstGeom prst="rect">
            <a:avLst/>
          </a:prstGeom>
          <a:noFill/>
          <a:ln/>
        </p:spPr>
        <p:txBody>
          <a:bodyPr wrap="square" rtlCol="0" anchor="ctr"/>
          <a:lstStyle/>
          <a:p>
            <a:pPr marL="0" indent="0">
              <a:lnSpc>
                <a:spcPct val="150000"/>
              </a:lnSpc>
              <a:buNone/>
            </a:pPr>
            <a:r>
              <a:rPr lang="en-US" sz="1600" dirty="0">
                <a:solidFill>
                  <a:srgbClr val="334155"/>
                </a:solidFill>
                <a:latin typeface="Calibri" pitchFamily="34" charset="0"/>
                <a:ea typeface="Calibri" pitchFamily="34" charset="-122"/>
                <a:cs typeface="Calibri" pitchFamily="34" charset="-120"/>
              </a:rPr>
              <a:t>2030 is 4 years away.</a:t>
            </a:r>
            <a:endParaRPr lang="en-US" sz="1600" dirty="0"/>
          </a:p>
          <a:p>
            <a:pPr marL="0" indent="0">
              <a:lnSpc>
                <a:spcPct val="150000"/>
              </a:lnSpc>
              <a:buNone/>
            </a:pPr>
            <a:r>
              <a:rPr lang="en-US" sz="1600" dirty="0">
                <a:solidFill>
                  <a:srgbClr val="334155"/>
                </a:solidFill>
                <a:latin typeface="Calibri" pitchFamily="34" charset="0"/>
                <a:ea typeface="Calibri" pitchFamily="34" charset="-122"/>
                <a:cs typeface="Calibri" pitchFamily="34" charset="-120"/>
              </a:rPr>
              <a:t>Most SDGs are off track.</a:t>
            </a:r>
            <a:endParaRPr lang="en-US" sz="1600" dirty="0"/>
          </a:p>
          <a:p>
            <a:pPr marL="0" indent="0">
              <a:lnSpc>
                <a:spcPct val="150000"/>
              </a:lnSpc>
              <a:buNone/>
            </a:pPr>
            <a:r>
              <a:rPr lang="en-US" sz="1600" dirty="0">
                <a:solidFill>
                  <a:srgbClr val="334155"/>
                </a:solidFill>
                <a:latin typeface="Calibri" pitchFamily="34" charset="0"/>
                <a:ea typeface="Calibri" pitchFamily="34" charset="-122"/>
                <a:cs typeface="Calibri" pitchFamily="34" charset="-120"/>
              </a:rPr>
              <a:t>AI is the fastest tool we have !</a:t>
            </a:r>
            <a:endParaRPr lang="en-US" sz="1600" dirty="0"/>
          </a:p>
        </p:txBody>
      </p:sp>
      <p:sp>
        <p:nvSpPr>
          <p:cNvPr id="9" name="Shape 7"/>
          <p:cNvSpPr/>
          <p:nvPr/>
        </p:nvSpPr>
        <p:spPr>
          <a:xfrm>
            <a:off x="0" y="3931920"/>
            <a:ext cx="9144000" cy="1216152"/>
          </a:xfrm>
          <a:prstGeom prst="rect">
            <a:avLst/>
          </a:prstGeom>
          <a:solidFill>
            <a:srgbClr val="1A3DCC"/>
          </a:solidFill>
          <a:ln w="12700">
            <a:solidFill>
              <a:srgbClr val="1A3DCC"/>
            </a:solidFill>
            <a:prstDash val="solid"/>
          </a:ln>
        </p:spPr>
        <p:txBody>
          <a:bodyPr/>
          <a:lstStyle/>
          <a:p>
            <a:endParaRPr lang="fr-FR"/>
          </a:p>
        </p:txBody>
      </p:sp>
      <p:sp>
        <p:nvSpPr>
          <p:cNvPr id="10" name="Text 8"/>
          <p:cNvSpPr/>
          <p:nvPr/>
        </p:nvSpPr>
        <p:spPr>
          <a:xfrm>
            <a:off x="251817" y="4094369"/>
            <a:ext cx="8649296" cy="894397"/>
          </a:xfrm>
          <a:prstGeom prst="rect">
            <a:avLst/>
          </a:prstGeom>
          <a:noFill/>
          <a:ln/>
        </p:spPr>
        <p:txBody>
          <a:bodyPr wrap="square" lIns="0" tIns="0" rIns="0" bIns="0" rtlCol="0" anchor="ctr"/>
          <a:lstStyle/>
          <a:p>
            <a:pPr algn="ctr"/>
            <a:r>
              <a:rPr lang="en-US" sz="2000" b="1">
                <a:solidFill>
                  <a:srgbClr val="FFFFFF"/>
                </a:solidFill>
                <a:latin typeface="Arial Black"/>
              </a:rPr>
              <a:t>In 36 hours, build something that brings us instantly closer </a:t>
            </a:r>
            <a:r>
              <a:rPr lang="en-US" sz="2000" b="1" dirty="0">
                <a:solidFill>
                  <a:srgbClr val="FFFFFF"/>
                </a:solidFill>
                <a:latin typeface="Arial Black"/>
              </a:rPr>
              <a:t>to 2030.</a:t>
            </a:r>
            <a:endParaRPr lang="en-US" sz="2000" dirty="0">
              <a:solidFill>
                <a:srgbClr val="000000"/>
              </a:solidFill>
              <a:latin typeface="Arial Black"/>
            </a:endParaRPr>
          </a:p>
        </p:txBody>
      </p:sp>
      <p:pic>
        <p:nvPicPr>
          <p:cNvPr id="13" name="Image 12">
            <a:extLst>
              <a:ext uri="{FF2B5EF4-FFF2-40B4-BE49-F238E27FC236}">
                <a16:creationId xmlns:a16="http://schemas.microsoft.com/office/drawing/2014/main" id="{82A06158-60C0-1267-E0E9-787FBEA52744}"/>
              </a:ext>
            </a:extLst>
          </p:cNvPr>
          <p:cNvPicPr>
            <a:picLocks noChangeAspect="1"/>
          </p:cNvPicPr>
          <p:nvPr/>
        </p:nvPicPr>
        <p:blipFill>
          <a:blip r:embed="rId3"/>
          <a:stretch>
            <a:fillRect/>
          </a:stretch>
        </p:blipFill>
        <p:spPr>
          <a:xfrm>
            <a:off x="6995160" y="-326682"/>
            <a:ext cx="2228203" cy="1485468"/>
          </a:xfrm>
          <a:prstGeom prst="rect">
            <a:avLst/>
          </a:prstGeom>
        </p:spPr>
      </p:pic>
      <p:sp>
        <p:nvSpPr>
          <p:cNvPr id="11" name="TextBox 10">
            <a:extLst>
              <a:ext uri="{FF2B5EF4-FFF2-40B4-BE49-F238E27FC236}">
                <a16:creationId xmlns:a16="http://schemas.microsoft.com/office/drawing/2014/main" id="{F6A6A325-5042-F405-3D85-644D8528271D}"/>
              </a:ext>
            </a:extLst>
          </p:cNvPr>
          <p:cNvSpPr txBox="1"/>
          <p:nvPr/>
        </p:nvSpPr>
        <p:spPr>
          <a:xfrm>
            <a:off x="5997758" y="1229825"/>
            <a:ext cx="1699383"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8800">
                <a:solidFill>
                  <a:srgbClr val="094EFF"/>
                </a:solidFill>
                <a:latin typeface="Arial Black"/>
                <a:ea typeface="Calibri"/>
                <a:cs typeface="Calibri"/>
              </a:rPr>
              <a:t>17</a:t>
            </a:r>
            <a:endParaRPr lang="en-US" sz="8800">
              <a:solidFill>
                <a:srgbClr val="094EFF"/>
              </a:solidFill>
              <a:latin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365760"/>
          </a:xfrm>
          <a:prstGeom prst="rect">
            <a:avLst/>
          </a:prstGeom>
          <a:noFill/>
          <a:ln/>
        </p:spPr>
        <p:txBody>
          <a:bodyPr wrap="square" lIns="0" tIns="0" rIns="0" bIns="0" rtlCol="0" anchor="ctr"/>
          <a:lstStyle/>
          <a:p>
            <a:pPr marL="0" indent="0">
              <a:buNone/>
            </a:pPr>
            <a:r>
              <a:rPr lang="en-US" sz="1100" b="1" kern="0" spc="500" dirty="0">
                <a:solidFill>
                  <a:srgbClr val="3D63F0"/>
                </a:solidFill>
                <a:latin typeface="Calibri" pitchFamily="34" charset="0"/>
                <a:ea typeface="Calibri" pitchFamily="34" charset="-122"/>
                <a:cs typeface="Calibri" pitchFamily="34" charset="-120"/>
              </a:rPr>
              <a:t>THE CHALLENGE</a:t>
            </a:r>
            <a:endParaRPr lang="en-US" sz="1100" dirty="0"/>
          </a:p>
        </p:txBody>
      </p:sp>
      <p:sp>
        <p:nvSpPr>
          <p:cNvPr id="3" name="Text 1"/>
          <p:cNvSpPr/>
          <p:nvPr/>
        </p:nvSpPr>
        <p:spPr>
          <a:xfrm>
            <a:off x="457200" y="621148"/>
            <a:ext cx="5943600" cy="1217654"/>
          </a:xfrm>
          <a:prstGeom prst="rect">
            <a:avLst/>
          </a:prstGeom>
          <a:noFill/>
          <a:ln/>
        </p:spPr>
        <p:txBody>
          <a:bodyPr wrap="square" lIns="91440" tIns="45720" rIns="91440" bIns="45720" rtlCol="0" anchor="ctr"/>
          <a:lstStyle/>
          <a:p>
            <a:pPr>
              <a:lnSpc>
                <a:spcPct val="120000"/>
              </a:lnSpc>
            </a:pPr>
            <a:r>
              <a:rPr lang="en-US" sz="3600" b="1" dirty="0">
                <a:solidFill>
                  <a:srgbClr val="0F172A"/>
                </a:solidFill>
                <a:latin typeface="Arial Black"/>
              </a:rPr>
              <a:t>Open innovation track </a:t>
            </a:r>
            <a:r>
              <a:rPr lang="en-US" sz="3600" b="1">
                <a:solidFill>
                  <a:srgbClr val="0F172A"/>
                </a:solidFill>
                <a:latin typeface="Arial Black"/>
              </a:rPr>
              <a:t>with S2S Ventures</a:t>
            </a:r>
            <a:endParaRPr lang="en-US" sz="3600" b="1" dirty="0">
              <a:solidFill>
                <a:srgbClr val="0F172A"/>
              </a:solidFill>
              <a:latin typeface="Arial Black"/>
            </a:endParaRPr>
          </a:p>
        </p:txBody>
      </p:sp>
      <p:sp>
        <p:nvSpPr>
          <p:cNvPr id="4" name="Shape 2"/>
          <p:cNvSpPr/>
          <p:nvPr/>
        </p:nvSpPr>
        <p:spPr>
          <a:xfrm>
            <a:off x="365760" y="2057400"/>
            <a:ext cx="2651760" cy="2651760"/>
          </a:xfrm>
          <a:prstGeom prst="rect">
            <a:avLst/>
          </a:prstGeom>
          <a:solidFill>
            <a:srgbClr val="EEF2FF"/>
          </a:solidFill>
          <a:ln w="19050">
            <a:solidFill>
              <a:srgbClr val="0284C7"/>
            </a:solidFill>
            <a:prstDash val="solid"/>
          </a:ln>
        </p:spPr>
        <p:txBody>
          <a:bodyPr/>
          <a:lstStyle/>
          <a:p>
            <a:endParaRPr lang="fr-FR"/>
          </a:p>
        </p:txBody>
      </p:sp>
      <p:pic>
        <p:nvPicPr>
          <p:cNvPr id="5" name="Image 0" descr="preencoded.png"/>
          <p:cNvPicPr>
            <a:picLocks noChangeAspect="1"/>
          </p:cNvPicPr>
          <p:nvPr/>
        </p:nvPicPr>
        <p:blipFill>
          <a:blip r:embed="rId3"/>
          <a:stretch>
            <a:fillRect/>
          </a:stretch>
        </p:blipFill>
        <p:spPr>
          <a:xfrm>
            <a:off x="640080" y="2240280"/>
            <a:ext cx="411480" cy="411480"/>
          </a:xfrm>
          <a:prstGeom prst="rect">
            <a:avLst/>
          </a:prstGeom>
        </p:spPr>
      </p:pic>
      <p:sp>
        <p:nvSpPr>
          <p:cNvPr id="6" name="Text 3"/>
          <p:cNvSpPr/>
          <p:nvPr/>
        </p:nvSpPr>
        <p:spPr>
          <a:xfrm>
            <a:off x="548640" y="2788920"/>
            <a:ext cx="2286000" cy="438912"/>
          </a:xfrm>
          <a:prstGeom prst="rect">
            <a:avLst/>
          </a:prstGeom>
          <a:noFill/>
          <a:ln/>
        </p:spPr>
        <p:txBody>
          <a:bodyPr wrap="square" lIns="0" tIns="0" rIns="0" bIns="0" rtlCol="0" anchor="ctr"/>
          <a:lstStyle/>
          <a:p>
            <a:pPr marL="0" indent="0">
              <a:buNone/>
            </a:pPr>
            <a:r>
              <a:rPr lang="en-US" sz="1500" b="1" dirty="0">
                <a:solidFill>
                  <a:srgbClr val="0F172A"/>
                </a:solidFill>
                <a:latin typeface="Arial Black" pitchFamily="34" charset="0"/>
                <a:ea typeface="Arial Black" pitchFamily="34" charset="-122"/>
                <a:cs typeface="Arial Black" pitchFamily="34" charset="-120"/>
              </a:rPr>
              <a:t>Must use AI</a:t>
            </a:r>
            <a:endParaRPr lang="en-US" sz="1500" dirty="0"/>
          </a:p>
        </p:txBody>
      </p:sp>
      <p:sp>
        <p:nvSpPr>
          <p:cNvPr id="7" name="Text 4"/>
          <p:cNvSpPr/>
          <p:nvPr/>
        </p:nvSpPr>
        <p:spPr>
          <a:xfrm>
            <a:off x="457200" y="3099471"/>
            <a:ext cx="2286000" cy="1188720"/>
          </a:xfrm>
          <a:prstGeom prst="rect">
            <a:avLst/>
          </a:prstGeom>
          <a:noFill/>
          <a:ln/>
        </p:spPr>
        <p:txBody>
          <a:bodyPr wrap="square" rtlCol="0" anchor="ctr"/>
          <a:lstStyle/>
          <a:p>
            <a:pPr marL="0" indent="0">
              <a:lnSpc>
                <a:spcPct val="135000"/>
              </a:lnSpc>
              <a:buNone/>
            </a:pPr>
            <a:r>
              <a:rPr lang="en-US" sz="1400" dirty="0">
                <a:solidFill>
                  <a:srgbClr val="334155"/>
                </a:solidFill>
                <a:latin typeface="Calibri" pitchFamily="34" charset="0"/>
                <a:ea typeface="Calibri" pitchFamily="34" charset="-122"/>
                <a:cs typeface="Calibri" pitchFamily="34" charset="-120"/>
              </a:rPr>
              <a:t>Machine learning, LLMs, computer vision, or agents</a:t>
            </a:r>
            <a:endParaRPr lang="en-US" sz="1400" dirty="0"/>
          </a:p>
        </p:txBody>
      </p:sp>
      <p:sp>
        <p:nvSpPr>
          <p:cNvPr id="8" name="Shape 5"/>
          <p:cNvSpPr/>
          <p:nvPr/>
        </p:nvSpPr>
        <p:spPr>
          <a:xfrm>
            <a:off x="3291840" y="2057400"/>
            <a:ext cx="2651760" cy="2651760"/>
          </a:xfrm>
          <a:prstGeom prst="rect">
            <a:avLst/>
          </a:prstGeom>
          <a:solidFill>
            <a:srgbClr val="EEF2FF"/>
          </a:solidFill>
          <a:ln w="19050">
            <a:solidFill>
              <a:srgbClr val="16A34A"/>
            </a:solidFill>
            <a:prstDash val="solid"/>
          </a:ln>
        </p:spPr>
        <p:txBody>
          <a:bodyPr/>
          <a:lstStyle/>
          <a:p>
            <a:endParaRPr lang="fr-FR"/>
          </a:p>
        </p:txBody>
      </p:sp>
      <p:pic>
        <p:nvPicPr>
          <p:cNvPr id="9" name="Image 1" descr="preencoded.png"/>
          <p:cNvPicPr>
            <a:picLocks noChangeAspect="1"/>
          </p:cNvPicPr>
          <p:nvPr/>
        </p:nvPicPr>
        <p:blipFill>
          <a:blip r:embed="rId4"/>
          <a:stretch>
            <a:fillRect/>
          </a:stretch>
        </p:blipFill>
        <p:spPr>
          <a:xfrm>
            <a:off x="3566160" y="2240280"/>
            <a:ext cx="411480" cy="411480"/>
          </a:xfrm>
          <a:prstGeom prst="rect">
            <a:avLst/>
          </a:prstGeom>
        </p:spPr>
      </p:pic>
      <p:sp>
        <p:nvSpPr>
          <p:cNvPr id="10" name="Text 6"/>
          <p:cNvSpPr/>
          <p:nvPr/>
        </p:nvSpPr>
        <p:spPr>
          <a:xfrm>
            <a:off x="3474720" y="2788920"/>
            <a:ext cx="2286000" cy="438912"/>
          </a:xfrm>
          <a:prstGeom prst="rect">
            <a:avLst/>
          </a:prstGeom>
          <a:noFill/>
          <a:ln/>
        </p:spPr>
        <p:txBody>
          <a:bodyPr wrap="square" lIns="0" tIns="0" rIns="0" bIns="0" rtlCol="0" anchor="ctr"/>
          <a:lstStyle/>
          <a:p>
            <a:pPr marL="0" indent="0">
              <a:buNone/>
            </a:pPr>
            <a:r>
              <a:rPr lang="en-US" sz="1500" b="1" dirty="0">
                <a:solidFill>
                  <a:srgbClr val="0F172A"/>
                </a:solidFill>
                <a:latin typeface="Arial Black" pitchFamily="34" charset="0"/>
                <a:ea typeface="Arial Black" pitchFamily="34" charset="-122"/>
                <a:cs typeface="Arial Black" pitchFamily="34" charset="-120"/>
              </a:rPr>
              <a:t>Must address SDGs</a:t>
            </a:r>
            <a:endParaRPr lang="en-US" sz="1500" dirty="0"/>
          </a:p>
        </p:txBody>
      </p:sp>
      <p:sp>
        <p:nvSpPr>
          <p:cNvPr id="11" name="Text 7"/>
          <p:cNvSpPr/>
          <p:nvPr/>
        </p:nvSpPr>
        <p:spPr>
          <a:xfrm>
            <a:off x="3474720" y="3099471"/>
            <a:ext cx="2286000" cy="1188720"/>
          </a:xfrm>
          <a:prstGeom prst="rect">
            <a:avLst/>
          </a:prstGeom>
          <a:noFill/>
          <a:ln/>
        </p:spPr>
        <p:txBody>
          <a:bodyPr wrap="square" rtlCol="0" anchor="ctr"/>
          <a:lstStyle/>
          <a:p>
            <a:pPr marL="0" indent="0">
              <a:lnSpc>
                <a:spcPct val="135000"/>
              </a:lnSpc>
              <a:buNone/>
            </a:pPr>
            <a:r>
              <a:rPr lang="en-US" sz="1400" dirty="0">
                <a:solidFill>
                  <a:srgbClr val="334155"/>
                </a:solidFill>
                <a:latin typeface="Calibri" pitchFamily="34" charset="0"/>
                <a:ea typeface="Calibri" pitchFamily="34" charset="-122"/>
                <a:cs typeface="Calibri" pitchFamily="34" charset="-120"/>
              </a:rPr>
              <a:t>Explicitly tied to 1 or more UN goals</a:t>
            </a:r>
            <a:endParaRPr lang="en-US" sz="1400" dirty="0"/>
          </a:p>
        </p:txBody>
      </p:sp>
      <p:sp>
        <p:nvSpPr>
          <p:cNvPr id="12" name="Shape 8"/>
          <p:cNvSpPr/>
          <p:nvPr/>
        </p:nvSpPr>
        <p:spPr>
          <a:xfrm>
            <a:off x="6217920" y="2057400"/>
            <a:ext cx="2651760" cy="2651760"/>
          </a:xfrm>
          <a:prstGeom prst="rect">
            <a:avLst/>
          </a:prstGeom>
          <a:solidFill>
            <a:srgbClr val="EEF2FF"/>
          </a:solidFill>
          <a:ln w="19050">
            <a:solidFill>
              <a:srgbClr val="D97706"/>
            </a:solidFill>
            <a:prstDash val="solid"/>
          </a:ln>
        </p:spPr>
        <p:txBody>
          <a:bodyPr/>
          <a:lstStyle/>
          <a:p>
            <a:endParaRPr lang="fr-FR"/>
          </a:p>
        </p:txBody>
      </p:sp>
      <p:pic>
        <p:nvPicPr>
          <p:cNvPr id="13" name="Image 2" descr="preencoded.png"/>
          <p:cNvPicPr>
            <a:picLocks noChangeAspect="1"/>
          </p:cNvPicPr>
          <p:nvPr/>
        </p:nvPicPr>
        <p:blipFill>
          <a:blip r:embed="rId5"/>
          <a:stretch>
            <a:fillRect/>
          </a:stretch>
        </p:blipFill>
        <p:spPr>
          <a:xfrm>
            <a:off x="6492240" y="2240280"/>
            <a:ext cx="411480" cy="411480"/>
          </a:xfrm>
          <a:prstGeom prst="rect">
            <a:avLst/>
          </a:prstGeom>
        </p:spPr>
      </p:pic>
      <p:sp>
        <p:nvSpPr>
          <p:cNvPr id="14" name="Text 9"/>
          <p:cNvSpPr/>
          <p:nvPr/>
        </p:nvSpPr>
        <p:spPr>
          <a:xfrm>
            <a:off x="6400800" y="2788920"/>
            <a:ext cx="2286000" cy="438912"/>
          </a:xfrm>
          <a:prstGeom prst="rect">
            <a:avLst/>
          </a:prstGeom>
          <a:noFill/>
          <a:ln/>
        </p:spPr>
        <p:txBody>
          <a:bodyPr wrap="square" lIns="0" tIns="0" rIns="0" bIns="0" rtlCol="0" anchor="ctr"/>
          <a:lstStyle/>
          <a:p>
            <a:pPr marL="0" indent="0">
              <a:buNone/>
            </a:pPr>
            <a:r>
              <a:rPr lang="en-US" sz="1500" b="1" dirty="0">
                <a:solidFill>
                  <a:srgbClr val="0F172A"/>
                </a:solidFill>
                <a:latin typeface="Arial Black" pitchFamily="34" charset="0"/>
                <a:ea typeface="Arial Black" pitchFamily="34" charset="-122"/>
                <a:cs typeface="Arial Black" pitchFamily="34" charset="-120"/>
              </a:rPr>
              <a:t>Must have startup potential</a:t>
            </a:r>
            <a:endParaRPr lang="en-US" sz="1500" dirty="0"/>
          </a:p>
        </p:txBody>
      </p:sp>
      <p:sp>
        <p:nvSpPr>
          <p:cNvPr id="15" name="Text 10"/>
          <p:cNvSpPr/>
          <p:nvPr/>
        </p:nvSpPr>
        <p:spPr>
          <a:xfrm>
            <a:off x="6400800" y="3101024"/>
            <a:ext cx="2286000" cy="1188720"/>
          </a:xfrm>
          <a:prstGeom prst="rect">
            <a:avLst/>
          </a:prstGeom>
          <a:noFill/>
          <a:ln/>
        </p:spPr>
        <p:txBody>
          <a:bodyPr wrap="square" lIns="91440" tIns="45720" rIns="91440" bIns="45720" rtlCol="0" anchor="ctr"/>
          <a:lstStyle/>
          <a:p>
            <a:pPr>
              <a:lnSpc>
                <a:spcPct val="135000"/>
              </a:lnSpc>
            </a:pPr>
            <a:r>
              <a:rPr lang="en-US" sz="1400">
                <a:solidFill>
                  <a:srgbClr val="334155"/>
                </a:solidFill>
                <a:latin typeface="Calibri"/>
                <a:ea typeface="Calibri"/>
                <a:cs typeface="Calibri"/>
              </a:rPr>
              <a:t>Bring open innovation to its maximum. </a:t>
            </a:r>
            <a:endParaRPr lang="en-US" sz="1400">
              <a:solidFill>
                <a:srgbClr val="334155"/>
              </a:solidFill>
              <a:ea typeface="Calibri"/>
              <a:cs typeface="Calibri"/>
            </a:endParaRPr>
          </a:p>
        </p:txBody>
      </p:sp>
      <p:pic>
        <p:nvPicPr>
          <p:cNvPr id="18" name="Image 17">
            <a:extLst>
              <a:ext uri="{FF2B5EF4-FFF2-40B4-BE49-F238E27FC236}">
                <a16:creationId xmlns:a16="http://schemas.microsoft.com/office/drawing/2014/main" id="{113CA48E-8F7E-70EE-FAAB-E9E1C658BCFF}"/>
              </a:ext>
            </a:extLst>
          </p:cNvPr>
          <p:cNvPicPr>
            <a:picLocks noChangeAspect="1"/>
          </p:cNvPicPr>
          <p:nvPr/>
        </p:nvPicPr>
        <p:blipFill>
          <a:blip r:embed="rId6"/>
          <a:stretch>
            <a:fillRect/>
          </a:stretch>
        </p:blipFill>
        <p:spPr>
          <a:xfrm>
            <a:off x="6995160" y="-326682"/>
            <a:ext cx="2228203" cy="14854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12946" y="253999"/>
            <a:ext cx="1248456" cy="365127"/>
          </a:xfrm>
          <a:custGeom>
            <a:avLst/>
            <a:gdLst/>
            <a:ahLst/>
            <a:cxnLst/>
            <a:rect l="l" t="t" r="r" b="b"/>
            <a:pathLst>
              <a:path w="2496912" h="730253">
                <a:moveTo>
                  <a:pt x="0" y="0"/>
                </a:moveTo>
                <a:lnTo>
                  <a:pt x="2496912" y="0"/>
                </a:lnTo>
                <a:lnTo>
                  <a:pt x="2496912" y="730253"/>
                </a:lnTo>
                <a:lnTo>
                  <a:pt x="0" y="7302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sz="900"/>
          </a:p>
        </p:txBody>
      </p:sp>
      <p:sp>
        <p:nvSpPr>
          <p:cNvPr id="7" name="TextBox 7"/>
          <p:cNvSpPr txBox="1"/>
          <p:nvPr/>
        </p:nvSpPr>
        <p:spPr>
          <a:xfrm>
            <a:off x="2917089" y="2318438"/>
            <a:ext cx="3375951" cy="698076"/>
          </a:xfrm>
          <a:prstGeom prst="rect">
            <a:avLst/>
          </a:prstGeom>
        </p:spPr>
        <p:txBody>
          <a:bodyPr lIns="0" tIns="0" rIns="0" bIns="0" rtlCol="0" anchor="t">
            <a:spAutoFit/>
          </a:bodyPr>
          <a:lstStyle/>
          <a:p>
            <a:pPr algn="ctr">
              <a:lnSpc>
                <a:spcPts val="2849"/>
              </a:lnSpc>
            </a:pPr>
            <a:r>
              <a:rPr lang="en-US" sz="2060">
                <a:solidFill>
                  <a:srgbClr val="000000"/>
                </a:solidFill>
                <a:latin typeface="Inter"/>
                <a:ea typeface="Inter"/>
                <a:cs typeface="Inter"/>
                <a:sym typeface="Inter"/>
              </a:rPr>
              <a:t> </a:t>
            </a:r>
            <a:r>
              <a:rPr lang="en-US" sz="2060" b="1">
                <a:solidFill>
                  <a:srgbClr val="0E3B98"/>
                </a:solidFill>
                <a:latin typeface="Inter Bold"/>
                <a:ea typeface="Inter Bold"/>
                <a:cs typeface="Inter Bold"/>
                <a:sym typeface="Inter Bold"/>
              </a:rPr>
              <a:t>We are the</a:t>
            </a:r>
            <a:r>
              <a:rPr lang="en-US" sz="2060" b="1">
                <a:solidFill>
                  <a:srgbClr val="1455D9"/>
                </a:solidFill>
                <a:latin typeface="Inter Bold"/>
                <a:ea typeface="Inter Bold"/>
                <a:cs typeface="Inter Bold"/>
                <a:sym typeface="Inter Bold"/>
              </a:rPr>
              <a:t> </a:t>
            </a:r>
            <a:r>
              <a:rPr lang="en-US" sz="2060" b="1">
                <a:solidFill>
                  <a:srgbClr val="F2359D"/>
                </a:solidFill>
                <a:latin typeface="Inter Bold"/>
                <a:ea typeface="Inter Bold"/>
                <a:cs typeface="Inter Bold"/>
                <a:sym typeface="Inter Bold"/>
              </a:rPr>
              <a:t>first believers </a:t>
            </a:r>
            <a:r>
              <a:rPr lang="en-US" sz="2060" b="1">
                <a:solidFill>
                  <a:srgbClr val="0E3B98"/>
                </a:solidFill>
                <a:latin typeface="Inter Bold"/>
                <a:ea typeface="Inter Bold"/>
                <a:cs typeface="Inter Bold"/>
                <a:sym typeface="Inter Bold"/>
              </a:rPr>
              <a:t> in their ideas</a:t>
            </a:r>
            <a:r>
              <a:rPr lang="en-US" sz="2060" b="1">
                <a:solidFill>
                  <a:srgbClr val="F2359D"/>
                </a:solidFill>
                <a:latin typeface="Inter Bold"/>
                <a:ea typeface="Inter Bold"/>
                <a:cs typeface="Inter Bold"/>
                <a:sym typeface="Inter Bold"/>
              </a:rPr>
              <a:t>.</a:t>
            </a:r>
            <a:r>
              <a:rPr lang="en-US" sz="2060" b="1">
                <a:solidFill>
                  <a:srgbClr val="0E3B98"/>
                </a:solidFill>
                <a:latin typeface="Inter Bold"/>
                <a:ea typeface="Inter Bold"/>
                <a:cs typeface="Inter Bold"/>
                <a:sym typeface="Inter Bold"/>
              </a:rPr>
              <a:t> </a:t>
            </a:r>
          </a:p>
        </p:txBody>
      </p:sp>
      <p:sp>
        <p:nvSpPr>
          <p:cNvPr id="8" name="TextBox 8"/>
          <p:cNvSpPr txBox="1"/>
          <p:nvPr/>
        </p:nvSpPr>
        <p:spPr>
          <a:xfrm>
            <a:off x="2034331" y="3527989"/>
            <a:ext cx="5176790" cy="698076"/>
          </a:xfrm>
          <a:prstGeom prst="rect">
            <a:avLst/>
          </a:prstGeom>
        </p:spPr>
        <p:txBody>
          <a:bodyPr lIns="0" tIns="0" rIns="0" bIns="0" rtlCol="0" anchor="t">
            <a:spAutoFit/>
          </a:bodyPr>
          <a:lstStyle/>
          <a:p>
            <a:pPr algn="ctr">
              <a:lnSpc>
                <a:spcPts val="2849"/>
              </a:lnSpc>
            </a:pPr>
            <a:r>
              <a:rPr lang="en-US" sz="2060" b="1">
                <a:solidFill>
                  <a:srgbClr val="0E3B98"/>
                </a:solidFill>
                <a:latin typeface="Inter Bold"/>
                <a:ea typeface="Inter Bold"/>
                <a:cs typeface="Inter Bold"/>
                <a:sym typeface="Inter Bold"/>
              </a:rPr>
              <a:t>And we help them build </a:t>
            </a:r>
            <a:r>
              <a:rPr lang="en-US" sz="2060" b="1">
                <a:solidFill>
                  <a:srgbClr val="F2359D"/>
                </a:solidFill>
                <a:latin typeface="Inter Bold"/>
                <a:ea typeface="Inter Bold"/>
                <a:cs typeface="Inter Bold"/>
                <a:sym typeface="Inter Bold"/>
              </a:rPr>
              <a:t>epic companies </a:t>
            </a:r>
            <a:r>
              <a:rPr lang="en-US" sz="2060" b="1">
                <a:solidFill>
                  <a:srgbClr val="0E3B98"/>
                </a:solidFill>
                <a:latin typeface="Inter Bold"/>
                <a:ea typeface="Inter Bold"/>
                <a:cs typeface="Inter Bold"/>
                <a:sym typeface="Inter Bold"/>
              </a:rPr>
              <a:t>by adding real value</a:t>
            </a:r>
            <a:r>
              <a:rPr lang="en-US" sz="2060" b="1">
                <a:solidFill>
                  <a:srgbClr val="F2359D"/>
                </a:solidFill>
                <a:latin typeface="Inter Bold"/>
                <a:ea typeface="Inter Bold"/>
                <a:cs typeface="Inter Bold"/>
                <a:sym typeface="Inter Bold"/>
              </a:rPr>
              <a:t>.</a:t>
            </a:r>
          </a:p>
        </p:txBody>
      </p:sp>
      <p:sp>
        <p:nvSpPr>
          <p:cNvPr id="10" name="TextBox 10"/>
          <p:cNvSpPr txBox="1"/>
          <p:nvPr/>
        </p:nvSpPr>
        <p:spPr>
          <a:xfrm>
            <a:off x="514350" y="230586"/>
            <a:ext cx="1761792" cy="337015"/>
          </a:xfrm>
          <a:prstGeom prst="rect">
            <a:avLst/>
          </a:prstGeom>
        </p:spPr>
        <p:txBody>
          <a:bodyPr lIns="0" tIns="0" rIns="0" bIns="0" rtlCol="0" anchor="t">
            <a:spAutoFit/>
          </a:bodyPr>
          <a:lstStyle/>
          <a:p>
            <a:pPr>
              <a:lnSpc>
                <a:spcPts val="2800"/>
              </a:lnSpc>
            </a:pPr>
            <a:r>
              <a:rPr lang="en-US" sz="2000" b="1">
                <a:solidFill>
                  <a:srgbClr val="0E3B98"/>
                </a:solidFill>
                <a:latin typeface="Canva Sans Bold"/>
                <a:ea typeface="Canva Sans Bold"/>
                <a:cs typeface="Canva Sans Bold"/>
                <a:sym typeface="Canva Sans Bold"/>
              </a:rPr>
              <a:t>OUR</a:t>
            </a:r>
            <a:r>
              <a:rPr lang="en-US" sz="2000" b="1">
                <a:solidFill>
                  <a:srgbClr val="1447E6"/>
                </a:solidFill>
                <a:latin typeface="Canva Sans Bold"/>
                <a:ea typeface="Canva Sans Bold"/>
                <a:cs typeface="Canva Sans Bold"/>
                <a:sym typeface="Canva Sans Bold"/>
              </a:rPr>
              <a:t> </a:t>
            </a:r>
            <a:r>
              <a:rPr lang="en-US" sz="2000" b="1">
                <a:solidFill>
                  <a:srgbClr val="F2359D"/>
                </a:solidFill>
                <a:latin typeface="Canva Sans Bold"/>
                <a:ea typeface="Canva Sans Bold"/>
                <a:cs typeface="Canva Sans Bold"/>
                <a:sym typeface="Canva Sans Bold"/>
              </a:rPr>
              <a:t>MISSION</a:t>
            </a:r>
          </a:p>
        </p:txBody>
      </p:sp>
      <p:sp>
        <p:nvSpPr>
          <p:cNvPr id="11" name="TextBox 11"/>
          <p:cNvSpPr txBox="1"/>
          <p:nvPr/>
        </p:nvSpPr>
        <p:spPr>
          <a:xfrm>
            <a:off x="2024268" y="1114482"/>
            <a:ext cx="5201493" cy="720838"/>
          </a:xfrm>
          <a:prstGeom prst="rect">
            <a:avLst/>
          </a:prstGeom>
        </p:spPr>
        <p:txBody>
          <a:bodyPr lIns="0" tIns="0" rIns="0" bIns="0" rtlCol="0" anchor="t">
            <a:spAutoFit/>
          </a:bodyPr>
          <a:lstStyle/>
          <a:p>
            <a:pPr algn="ctr">
              <a:lnSpc>
                <a:spcPts val="2888"/>
              </a:lnSpc>
            </a:pPr>
            <a:r>
              <a:rPr lang="en-US" sz="2069">
                <a:solidFill>
                  <a:srgbClr val="000000"/>
                </a:solidFill>
                <a:latin typeface="Inter"/>
                <a:ea typeface="Inter"/>
                <a:cs typeface="Inter"/>
                <a:sym typeface="Inter"/>
              </a:rPr>
              <a:t> </a:t>
            </a:r>
            <a:r>
              <a:rPr lang="en-US" sz="2069" b="1">
                <a:solidFill>
                  <a:srgbClr val="0E3B98"/>
                </a:solidFill>
                <a:latin typeface="Inter Bold"/>
                <a:ea typeface="Inter Bold"/>
                <a:cs typeface="Inter Bold"/>
                <a:sym typeface="Inter Bold"/>
              </a:rPr>
              <a:t>We invest in Switzerland's </a:t>
            </a:r>
            <a:r>
              <a:rPr lang="en-US" sz="2069" b="1">
                <a:solidFill>
                  <a:srgbClr val="F2359D"/>
                </a:solidFill>
                <a:latin typeface="Inter Bold"/>
                <a:ea typeface="Inter Bold"/>
                <a:cs typeface="Inter Bold"/>
                <a:sym typeface="Inter Bold"/>
              </a:rPr>
              <a:t>boldest </a:t>
            </a:r>
            <a:r>
              <a:rPr lang="en-US" sz="2069" b="1">
                <a:solidFill>
                  <a:srgbClr val="0E3B98"/>
                </a:solidFill>
                <a:latin typeface="Inter Bold"/>
                <a:ea typeface="Inter Bold"/>
                <a:cs typeface="Inter Bold"/>
                <a:sym typeface="Inter Bold"/>
              </a:rPr>
              <a:t>and</a:t>
            </a:r>
            <a:r>
              <a:rPr lang="en-US" sz="2069" b="1">
                <a:solidFill>
                  <a:srgbClr val="F2359D"/>
                </a:solidFill>
                <a:latin typeface="Inter Bold"/>
                <a:ea typeface="Inter Bold"/>
                <a:cs typeface="Inter Bold"/>
                <a:sym typeface="Inter Bold"/>
              </a:rPr>
              <a:t> brightest</a:t>
            </a:r>
            <a:r>
              <a:rPr lang="en-US" sz="2069" b="1">
                <a:solidFill>
                  <a:srgbClr val="000000"/>
                </a:solidFill>
                <a:latin typeface="Inter Bold"/>
                <a:ea typeface="Inter Bold"/>
                <a:cs typeface="Inter Bold"/>
                <a:sym typeface="Inter Bold"/>
              </a:rPr>
              <a:t> </a:t>
            </a:r>
            <a:r>
              <a:rPr lang="en-US" sz="2069" b="1">
                <a:solidFill>
                  <a:srgbClr val="0E3B98"/>
                </a:solidFill>
                <a:latin typeface="Inter Bold"/>
                <a:ea typeface="Inter Bold"/>
                <a:cs typeface="Inter Bold"/>
                <a:sym typeface="Inter Bold"/>
              </a:rPr>
              <a:t>student founders</a:t>
            </a:r>
            <a:r>
              <a:rPr lang="en-US" sz="2069" b="1">
                <a:solidFill>
                  <a:srgbClr val="F2359D"/>
                </a:solidFill>
                <a:latin typeface="Inter Bold"/>
                <a:ea typeface="Inter Bold"/>
                <a:cs typeface="Inter Bold"/>
                <a:sym typeface="Inter Bold"/>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12946" y="253999"/>
            <a:ext cx="1248456" cy="365127"/>
          </a:xfrm>
          <a:custGeom>
            <a:avLst/>
            <a:gdLst/>
            <a:ahLst/>
            <a:cxnLst/>
            <a:rect l="l" t="t" r="r" b="b"/>
            <a:pathLst>
              <a:path w="2496912" h="730253">
                <a:moveTo>
                  <a:pt x="0" y="0"/>
                </a:moveTo>
                <a:lnTo>
                  <a:pt x="2496912" y="0"/>
                </a:lnTo>
                <a:lnTo>
                  <a:pt x="2496912" y="730253"/>
                </a:lnTo>
                <a:lnTo>
                  <a:pt x="0" y="7302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sz="900"/>
          </a:p>
        </p:txBody>
      </p:sp>
      <p:sp>
        <p:nvSpPr>
          <p:cNvPr id="7" name="TextBox 7"/>
          <p:cNvSpPr txBox="1"/>
          <p:nvPr/>
        </p:nvSpPr>
        <p:spPr>
          <a:xfrm>
            <a:off x="1288885" y="920211"/>
            <a:ext cx="1025095" cy="1501565"/>
          </a:xfrm>
          <a:prstGeom prst="rect">
            <a:avLst/>
          </a:prstGeom>
        </p:spPr>
        <p:txBody>
          <a:bodyPr lIns="0" tIns="0" rIns="0" bIns="0" rtlCol="0" anchor="t">
            <a:spAutoFit/>
          </a:bodyPr>
          <a:lstStyle/>
          <a:p>
            <a:pPr>
              <a:lnSpc>
                <a:spcPts val="13512"/>
              </a:lnSpc>
            </a:pPr>
            <a:r>
              <a:rPr lang="en-US" sz="6000" b="1">
                <a:solidFill>
                  <a:srgbClr val="F2359D"/>
                </a:solidFill>
                <a:latin typeface="Inter Bold"/>
                <a:ea typeface="Inter Bold"/>
                <a:cs typeface="Inter Bold"/>
                <a:sym typeface="Inter Bold"/>
              </a:rPr>
              <a:t>33</a:t>
            </a:r>
          </a:p>
        </p:txBody>
      </p:sp>
      <p:sp>
        <p:nvSpPr>
          <p:cNvPr id="8" name="TextBox 8"/>
          <p:cNvSpPr txBox="1"/>
          <p:nvPr/>
        </p:nvSpPr>
        <p:spPr>
          <a:xfrm>
            <a:off x="2946964" y="1446081"/>
            <a:ext cx="65580" cy="455253"/>
          </a:xfrm>
          <a:prstGeom prst="rect">
            <a:avLst/>
          </a:prstGeom>
        </p:spPr>
        <p:txBody>
          <a:bodyPr lIns="0" tIns="0" rIns="0" bIns="0" rtlCol="0" anchor="t">
            <a:spAutoFit/>
          </a:bodyPr>
          <a:lstStyle/>
          <a:p>
            <a:pPr>
              <a:lnSpc>
                <a:spcPts val="4053"/>
              </a:lnSpc>
            </a:pPr>
            <a:r>
              <a:rPr lang="en-US">
                <a:solidFill>
                  <a:srgbClr val="0E3B98"/>
                </a:solidFill>
                <a:latin typeface="Inter"/>
                <a:ea typeface="Inter"/>
                <a:cs typeface="Inter"/>
                <a:sym typeface="Inter"/>
              </a:rPr>
              <a:t> </a:t>
            </a:r>
          </a:p>
        </p:txBody>
      </p:sp>
      <p:sp>
        <p:nvSpPr>
          <p:cNvPr id="9" name="TextBox 9"/>
          <p:cNvSpPr txBox="1"/>
          <p:nvPr/>
        </p:nvSpPr>
        <p:spPr>
          <a:xfrm>
            <a:off x="1257353" y="2605669"/>
            <a:ext cx="1538588" cy="1501565"/>
          </a:xfrm>
          <a:prstGeom prst="rect">
            <a:avLst/>
          </a:prstGeom>
        </p:spPr>
        <p:txBody>
          <a:bodyPr lIns="0" tIns="0" rIns="0" bIns="0" rtlCol="0" anchor="t">
            <a:spAutoFit/>
          </a:bodyPr>
          <a:lstStyle/>
          <a:p>
            <a:pPr>
              <a:lnSpc>
                <a:spcPts val="13512"/>
              </a:lnSpc>
            </a:pPr>
            <a:r>
              <a:rPr lang="en-US" sz="6000" b="1">
                <a:solidFill>
                  <a:srgbClr val="F2359D"/>
                </a:solidFill>
                <a:latin typeface="Inter Bold"/>
                <a:ea typeface="Inter Bold"/>
                <a:cs typeface="Inter Bold"/>
                <a:sym typeface="Inter Bold"/>
              </a:rPr>
              <a:t>1.2</a:t>
            </a:r>
            <a:r>
              <a:rPr lang="en-US" sz="6000">
                <a:solidFill>
                  <a:srgbClr val="0E3B98"/>
                </a:solidFill>
                <a:latin typeface="Inter"/>
                <a:ea typeface="Inter"/>
                <a:cs typeface="Inter"/>
                <a:sym typeface="Inter"/>
              </a:rPr>
              <a:t> </a:t>
            </a:r>
          </a:p>
        </p:txBody>
      </p:sp>
      <p:sp>
        <p:nvSpPr>
          <p:cNvPr id="10" name="TextBox 10"/>
          <p:cNvSpPr txBox="1"/>
          <p:nvPr/>
        </p:nvSpPr>
        <p:spPr>
          <a:xfrm>
            <a:off x="4561042" y="758443"/>
            <a:ext cx="1961041" cy="1607363"/>
          </a:xfrm>
          <a:prstGeom prst="rect">
            <a:avLst/>
          </a:prstGeom>
        </p:spPr>
        <p:txBody>
          <a:bodyPr lIns="0" tIns="0" rIns="0" bIns="0" rtlCol="0" anchor="t">
            <a:spAutoFit/>
          </a:bodyPr>
          <a:lstStyle/>
          <a:p>
            <a:pPr>
              <a:lnSpc>
                <a:spcPts val="14604"/>
              </a:lnSpc>
            </a:pPr>
            <a:r>
              <a:rPr lang="en-US" sz="6000" b="1">
                <a:solidFill>
                  <a:srgbClr val="F2359D"/>
                </a:solidFill>
                <a:latin typeface="Inter Bold"/>
                <a:ea typeface="Inter Bold"/>
                <a:cs typeface="Inter Bold"/>
                <a:sym typeface="Inter Bold"/>
              </a:rPr>
              <a:t>100+</a:t>
            </a:r>
          </a:p>
        </p:txBody>
      </p:sp>
      <p:sp>
        <p:nvSpPr>
          <p:cNvPr id="11" name="TextBox 11"/>
          <p:cNvSpPr txBox="1"/>
          <p:nvPr/>
        </p:nvSpPr>
        <p:spPr>
          <a:xfrm>
            <a:off x="5852960" y="2500894"/>
            <a:ext cx="512550" cy="1607363"/>
          </a:xfrm>
          <a:prstGeom prst="rect">
            <a:avLst/>
          </a:prstGeom>
        </p:spPr>
        <p:txBody>
          <a:bodyPr lIns="0" tIns="0" rIns="0" bIns="0" rtlCol="0" anchor="t">
            <a:spAutoFit/>
          </a:bodyPr>
          <a:lstStyle/>
          <a:p>
            <a:pPr>
              <a:lnSpc>
                <a:spcPts val="14604"/>
              </a:lnSpc>
            </a:pPr>
            <a:r>
              <a:rPr lang="en-US" sz="6000" b="1" spc="3978">
                <a:solidFill>
                  <a:srgbClr val="F2359D"/>
                </a:solidFill>
                <a:latin typeface="Inter Bold"/>
                <a:ea typeface="Inter Bold"/>
                <a:cs typeface="Inter Bold"/>
                <a:sym typeface="Inter Bold"/>
              </a:rPr>
              <a:t>3</a:t>
            </a:r>
          </a:p>
        </p:txBody>
      </p:sp>
      <p:sp>
        <p:nvSpPr>
          <p:cNvPr id="12" name="TextBox 12"/>
          <p:cNvSpPr txBox="1"/>
          <p:nvPr/>
        </p:nvSpPr>
        <p:spPr>
          <a:xfrm>
            <a:off x="6860810" y="3498795"/>
            <a:ext cx="65580" cy="484107"/>
          </a:xfrm>
          <a:prstGeom prst="rect">
            <a:avLst/>
          </a:prstGeom>
        </p:spPr>
        <p:txBody>
          <a:bodyPr lIns="0" tIns="0" rIns="0" bIns="0" rtlCol="0" anchor="t">
            <a:spAutoFit/>
          </a:bodyPr>
          <a:lstStyle/>
          <a:p>
            <a:pPr>
              <a:lnSpc>
                <a:spcPts val="4381"/>
              </a:lnSpc>
            </a:pPr>
            <a:r>
              <a:rPr lang="en-US" spc="1193">
                <a:solidFill>
                  <a:srgbClr val="0E3B98"/>
                </a:solidFill>
                <a:latin typeface="Inter"/>
                <a:ea typeface="Inter"/>
                <a:cs typeface="Inter"/>
                <a:sym typeface="Inter"/>
              </a:rPr>
              <a:t> </a:t>
            </a:r>
          </a:p>
        </p:txBody>
      </p:sp>
      <p:sp>
        <p:nvSpPr>
          <p:cNvPr id="14" name="TextBox 14"/>
          <p:cNvSpPr txBox="1"/>
          <p:nvPr/>
        </p:nvSpPr>
        <p:spPr>
          <a:xfrm>
            <a:off x="2445601" y="2985664"/>
            <a:ext cx="1425202" cy="301365"/>
          </a:xfrm>
          <a:prstGeom prst="rect">
            <a:avLst/>
          </a:prstGeom>
        </p:spPr>
        <p:txBody>
          <a:bodyPr lIns="0" tIns="0" rIns="0" bIns="0" rtlCol="0" anchor="t">
            <a:spAutoFit/>
          </a:bodyPr>
          <a:lstStyle/>
          <a:p>
            <a:pPr>
              <a:lnSpc>
                <a:spcPts val="2513"/>
              </a:lnSpc>
            </a:pPr>
            <a:r>
              <a:rPr lang="en-US" b="1">
                <a:solidFill>
                  <a:srgbClr val="0E3B98"/>
                </a:solidFill>
                <a:latin typeface="Inter Bold"/>
                <a:ea typeface="Inter Bold"/>
                <a:cs typeface="Inter Bold"/>
                <a:sym typeface="Inter Bold"/>
              </a:rPr>
              <a:t>millions CHF</a:t>
            </a:r>
          </a:p>
        </p:txBody>
      </p:sp>
      <p:sp>
        <p:nvSpPr>
          <p:cNvPr id="15" name="TextBox 15"/>
          <p:cNvSpPr txBox="1"/>
          <p:nvPr/>
        </p:nvSpPr>
        <p:spPr>
          <a:xfrm>
            <a:off x="2445601" y="3299232"/>
            <a:ext cx="944614" cy="621965"/>
          </a:xfrm>
          <a:prstGeom prst="rect">
            <a:avLst/>
          </a:prstGeom>
        </p:spPr>
        <p:txBody>
          <a:bodyPr lIns="0" tIns="0" rIns="0" bIns="0" rtlCol="0" anchor="t">
            <a:spAutoFit/>
          </a:bodyPr>
          <a:lstStyle/>
          <a:p>
            <a:pPr>
              <a:lnSpc>
                <a:spcPts val="2513"/>
              </a:lnSpc>
            </a:pPr>
            <a:r>
              <a:rPr lang="en-US">
                <a:solidFill>
                  <a:srgbClr val="0E3B98"/>
                </a:solidFill>
                <a:latin typeface="Inter"/>
                <a:ea typeface="Inter"/>
                <a:cs typeface="Inter"/>
                <a:sym typeface="Inter"/>
              </a:rPr>
              <a:t>invested so</a:t>
            </a:r>
            <a:r>
              <a:rPr lang="en-US">
                <a:solidFill>
                  <a:srgbClr val="000000"/>
                </a:solidFill>
                <a:latin typeface="Inter"/>
                <a:ea typeface="Inter"/>
                <a:cs typeface="Inter"/>
                <a:sym typeface="Inter"/>
              </a:rPr>
              <a:t> </a:t>
            </a:r>
            <a:r>
              <a:rPr lang="en-US">
                <a:solidFill>
                  <a:srgbClr val="0E3B98"/>
                </a:solidFill>
                <a:latin typeface="Inter"/>
                <a:ea typeface="Inter"/>
                <a:cs typeface="Inter"/>
                <a:sym typeface="Inter"/>
              </a:rPr>
              <a:t>far</a:t>
            </a:r>
          </a:p>
        </p:txBody>
      </p:sp>
      <p:sp>
        <p:nvSpPr>
          <p:cNvPr id="16" name="TextBox 16"/>
          <p:cNvSpPr txBox="1"/>
          <p:nvPr/>
        </p:nvSpPr>
        <p:spPr>
          <a:xfrm>
            <a:off x="2445601" y="1280151"/>
            <a:ext cx="1040583" cy="301365"/>
          </a:xfrm>
          <a:prstGeom prst="rect">
            <a:avLst/>
          </a:prstGeom>
        </p:spPr>
        <p:txBody>
          <a:bodyPr lIns="0" tIns="0" rIns="0" bIns="0" rtlCol="0" anchor="t">
            <a:spAutoFit/>
          </a:bodyPr>
          <a:lstStyle/>
          <a:p>
            <a:pPr algn="ctr">
              <a:lnSpc>
                <a:spcPts val="2513"/>
              </a:lnSpc>
            </a:pPr>
            <a:r>
              <a:rPr lang="en-US" b="1">
                <a:solidFill>
                  <a:srgbClr val="0E3B98"/>
                </a:solidFill>
                <a:latin typeface="Inter Bold"/>
                <a:ea typeface="Inter Bold"/>
                <a:cs typeface="Inter Bold"/>
                <a:sym typeface="Inter Bold"/>
              </a:rPr>
              <a:t>Students</a:t>
            </a:r>
          </a:p>
        </p:txBody>
      </p:sp>
      <p:sp>
        <p:nvSpPr>
          <p:cNvPr id="17" name="TextBox 17"/>
          <p:cNvSpPr txBox="1"/>
          <p:nvPr/>
        </p:nvSpPr>
        <p:spPr>
          <a:xfrm>
            <a:off x="2445601" y="1593718"/>
            <a:ext cx="1657379" cy="301365"/>
          </a:xfrm>
          <a:prstGeom prst="rect">
            <a:avLst/>
          </a:prstGeom>
        </p:spPr>
        <p:txBody>
          <a:bodyPr lIns="0" tIns="0" rIns="0" bIns="0" rtlCol="0" anchor="t">
            <a:spAutoFit/>
          </a:bodyPr>
          <a:lstStyle/>
          <a:p>
            <a:pPr>
              <a:lnSpc>
                <a:spcPts val="2513"/>
              </a:lnSpc>
            </a:pPr>
            <a:r>
              <a:rPr lang="en-US" dirty="0">
                <a:solidFill>
                  <a:srgbClr val="0E3B98"/>
                </a:solidFill>
                <a:latin typeface="Inter"/>
                <a:ea typeface="Inter"/>
                <a:cs typeface="Inter"/>
                <a:sym typeface="Inter"/>
              </a:rPr>
              <a:t>from all around</a:t>
            </a:r>
          </a:p>
        </p:txBody>
      </p:sp>
      <p:sp>
        <p:nvSpPr>
          <p:cNvPr id="18" name="TextBox 18"/>
          <p:cNvSpPr txBox="1"/>
          <p:nvPr/>
        </p:nvSpPr>
        <p:spPr>
          <a:xfrm>
            <a:off x="2445601" y="1912806"/>
            <a:ext cx="1294043" cy="301365"/>
          </a:xfrm>
          <a:prstGeom prst="rect">
            <a:avLst/>
          </a:prstGeom>
        </p:spPr>
        <p:txBody>
          <a:bodyPr lIns="0" tIns="0" rIns="0" bIns="0" rtlCol="0" anchor="t">
            <a:spAutoFit/>
          </a:bodyPr>
          <a:lstStyle/>
          <a:p>
            <a:pPr>
              <a:lnSpc>
                <a:spcPts val="2513"/>
              </a:lnSpc>
            </a:pPr>
            <a:r>
              <a:rPr lang="en-US">
                <a:solidFill>
                  <a:srgbClr val="0E3B98"/>
                </a:solidFill>
                <a:latin typeface="Inter"/>
                <a:ea typeface="Inter"/>
                <a:cs typeface="Inter"/>
                <a:sym typeface="Inter"/>
              </a:rPr>
              <a:t>Switzerland</a:t>
            </a:r>
          </a:p>
        </p:txBody>
      </p:sp>
      <p:sp>
        <p:nvSpPr>
          <p:cNvPr id="19" name="TextBox 19"/>
          <p:cNvSpPr txBox="1"/>
          <p:nvPr/>
        </p:nvSpPr>
        <p:spPr>
          <a:xfrm>
            <a:off x="6641302" y="1280151"/>
            <a:ext cx="803848" cy="942566"/>
          </a:xfrm>
          <a:prstGeom prst="rect">
            <a:avLst/>
          </a:prstGeom>
        </p:spPr>
        <p:txBody>
          <a:bodyPr lIns="0" tIns="0" rIns="0" bIns="0" rtlCol="0" anchor="t">
            <a:spAutoFit/>
          </a:bodyPr>
          <a:lstStyle/>
          <a:p>
            <a:pPr>
              <a:lnSpc>
                <a:spcPts val="2513"/>
              </a:lnSpc>
            </a:pPr>
            <a:r>
              <a:rPr lang="en-US" b="1">
                <a:solidFill>
                  <a:srgbClr val="0E3B98"/>
                </a:solidFill>
                <a:latin typeface="Inter Bold"/>
                <a:ea typeface="Inter Bold"/>
                <a:cs typeface="Inter Bold"/>
                <a:sym typeface="Inter Bold"/>
              </a:rPr>
              <a:t>Alumni </a:t>
            </a:r>
            <a:r>
              <a:rPr lang="en-US">
                <a:solidFill>
                  <a:srgbClr val="0E3B98"/>
                </a:solidFill>
                <a:latin typeface="Inter"/>
                <a:ea typeface="Inter"/>
                <a:cs typeface="Inter"/>
                <a:sym typeface="Inter"/>
              </a:rPr>
              <a:t>across Europe</a:t>
            </a:r>
          </a:p>
        </p:txBody>
      </p:sp>
      <p:sp>
        <p:nvSpPr>
          <p:cNvPr id="20" name="TextBox 20"/>
          <p:cNvSpPr txBox="1"/>
          <p:nvPr/>
        </p:nvSpPr>
        <p:spPr>
          <a:xfrm>
            <a:off x="6641302" y="3042352"/>
            <a:ext cx="1425202" cy="621965"/>
          </a:xfrm>
          <a:prstGeom prst="rect">
            <a:avLst/>
          </a:prstGeom>
        </p:spPr>
        <p:txBody>
          <a:bodyPr lIns="0" tIns="0" rIns="0" bIns="0" rtlCol="0" anchor="t">
            <a:spAutoFit/>
          </a:bodyPr>
          <a:lstStyle/>
          <a:p>
            <a:pPr>
              <a:lnSpc>
                <a:spcPts val="2513"/>
              </a:lnSpc>
            </a:pPr>
            <a:r>
              <a:rPr lang="en-US" b="1">
                <a:solidFill>
                  <a:srgbClr val="0E3B98"/>
                </a:solidFill>
                <a:latin typeface="Inter Bold"/>
                <a:ea typeface="Inter Bold"/>
                <a:cs typeface="Inter Bold"/>
                <a:sym typeface="Inter Bold"/>
              </a:rPr>
              <a:t>millions CHF </a:t>
            </a:r>
            <a:r>
              <a:rPr lang="en-US">
                <a:solidFill>
                  <a:srgbClr val="0E3B98"/>
                </a:solidFill>
                <a:latin typeface="Inter"/>
                <a:ea typeface="Inter"/>
                <a:cs typeface="Inter"/>
                <a:sym typeface="Inter"/>
              </a:rPr>
              <a:t>committed</a:t>
            </a:r>
          </a:p>
        </p:txBody>
      </p:sp>
      <p:sp>
        <p:nvSpPr>
          <p:cNvPr id="21" name="TextBox 21"/>
          <p:cNvSpPr txBox="1"/>
          <p:nvPr/>
        </p:nvSpPr>
        <p:spPr>
          <a:xfrm>
            <a:off x="6641302" y="3675007"/>
            <a:ext cx="1219848" cy="301365"/>
          </a:xfrm>
          <a:prstGeom prst="rect">
            <a:avLst/>
          </a:prstGeom>
        </p:spPr>
        <p:txBody>
          <a:bodyPr lIns="0" tIns="0" rIns="0" bIns="0" rtlCol="0" anchor="t">
            <a:spAutoFit/>
          </a:bodyPr>
          <a:lstStyle/>
          <a:p>
            <a:pPr>
              <a:lnSpc>
                <a:spcPts val="2513"/>
              </a:lnSpc>
            </a:pPr>
            <a:r>
              <a:rPr lang="en-US" dirty="0">
                <a:solidFill>
                  <a:srgbClr val="0E3B98"/>
                </a:solidFill>
                <a:latin typeface="Inter"/>
                <a:ea typeface="Inter"/>
                <a:cs typeface="Inter"/>
                <a:sym typeface="Inter"/>
              </a:rPr>
              <a:t>to our fund</a:t>
            </a:r>
          </a:p>
        </p:txBody>
      </p:sp>
      <p:sp>
        <p:nvSpPr>
          <p:cNvPr id="22" name="TextBox 22"/>
          <p:cNvSpPr txBox="1"/>
          <p:nvPr/>
        </p:nvSpPr>
        <p:spPr>
          <a:xfrm>
            <a:off x="514350" y="230586"/>
            <a:ext cx="3582177" cy="337015"/>
          </a:xfrm>
          <a:prstGeom prst="rect">
            <a:avLst/>
          </a:prstGeom>
        </p:spPr>
        <p:txBody>
          <a:bodyPr lIns="0" tIns="0" rIns="0" bIns="0" rtlCol="0" anchor="t">
            <a:spAutoFit/>
          </a:bodyPr>
          <a:lstStyle/>
          <a:p>
            <a:pPr>
              <a:lnSpc>
                <a:spcPts val="2800"/>
              </a:lnSpc>
            </a:pPr>
            <a:r>
              <a:rPr lang="en-US" sz="2000" b="1">
                <a:solidFill>
                  <a:srgbClr val="0E3B98"/>
                </a:solidFill>
                <a:latin typeface="Canva Sans Bold"/>
                <a:ea typeface="Canva Sans Bold"/>
                <a:cs typeface="Canva Sans Bold"/>
                <a:sym typeface="Canva Sans Bold"/>
              </a:rPr>
              <a:t>OUR DEVELOPMENT</a:t>
            </a:r>
            <a:r>
              <a:rPr lang="en-US" sz="2000" b="1">
                <a:solidFill>
                  <a:srgbClr val="1447E6"/>
                </a:solidFill>
                <a:latin typeface="Canva Sans Bold"/>
                <a:ea typeface="Canva Sans Bold"/>
                <a:cs typeface="Canva Sans Bold"/>
                <a:sym typeface="Canva Sans Bold"/>
              </a:rPr>
              <a:t> </a:t>
            </a:r>
            <a:r>
              <a:rPr lang="en-US" sz="2000" b="1">
                <a:solidFill>
                  <a:srgbClr val="F2359D"/>
                </a:solidFill>
                <a:latin typeface="Canva Sans Bold"/>
                <a:ea typeface="Canva Sans Bold"/>
                <a:cs typeface="Canva Sans Bold"/>
                <a:sym typeface="Canva Sans Bold"/>
              </a:rPr>
              <a:t>SO FAR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06983" y="2228341"/>
            <a:ext cx="2185640" cy="2463127"/>
            <a:chOff x="0" y="0"/>
            <a:chExt cx="4371276" cy="4926254"/>
          </a:xfrm>
        </p:grpSpPr>
        <p:sp>
          <p:nvSpPr>
            <p:cNvPr id="3" name="Freeform 3"/>
            <p:cNvSpPr/>
            <p:nvPr/>
          </p:nvSpPr>
          <p:spPr>
            <a:xfrm>
              <a:off x="72771" y="79502"/>
              <a:ext cx="4235064" cy="4780918"/>
            </a:xfrm>
            <a:custGeom>
              <a:avLst/>
              <a:gdLst/>
              <a:ahLst/>
              <a:cxnLst/>
              <a:rect l="l" t="t" r="r" b="b"/>
              <a:pathLst>
                <a:path w="4235064" h="4780918">
                  <a:moveTo>
                    <a:pt x="2104134" y="0"/>
                  </a:moveTo>
                  <a:lnTo>
                    <a:pt x="0" y="551942"/>
                  </a:lnTo>
                  <a:lnTo>
                    <a:pt x="0" y="4780918"/>
                  </a:lnTo>
                  <a:lnTo>
                    <a:pt x="4235064" y="4780918"/>
                  </a:lnTo>
                  <a:lnTo>
                    <a:pt x="4235064" y="551942"/>
                  </a:lnTo>
                  <a:lnTo>
                    <a:pt x="2130931" y="0"/>
                  </a:lnTo>
                  <a:close/>
                </a:path>
              </a:pathLst>
            </a:custGeom>
            <a:solidFill>
              <a:srgbClr val="F2F2F2"/>
            </a:solidFill>
          </p:spPr>
          <p:txBody>
            <a:bodyPr/>
            <a:lstStyle/>
            <a:p>
              <a:endParaRPr lang="en-GB" sz="900"/>
            </a:p>
          </p:txBody>
        </p:sp>
        <p:sp>
          <p:nvSpPr>
            <p:cNvPr id="4" name="Freeform 4"/>
            <p:cNvSpPr/>
            <p:nvPr/>
          </p:nvSpPr>
          <p:spPr>
            <a:xfrm>
              <a:off x="63500" y="65786"/>
              <a:ext cx="4234937" cy="4794507"/>
            </a:xfrm>
            <a:custGeom>
              <a:avLst/>
              <a:gdLst/>
              <a:ahLst/>
              <a:cxnLst/>
              <a:rect l="l" t="t" r="r" b="b"/>
              <a:pathLst>
                <a:path w="4234937" h="4794507">
                  <a:moveTo>
                    <a:pt x="2117468" y="0"/>
                  </a:moveTo>
                  <a:lnTo>
                    <a:pt x="0" y="555498"/>
                  </a:lnTo>
                  <a:lnTo>
                    <a:pt x="0" y="4794507"/>
                  </a:lnTo>
                  <a:lnTo>
                    <a:pt x="4234937" y="4794507"/>
                  </a:lnTo>
                  <a:lnTo>
                    <a:pt x="4234937" y="555498"/>
                  </a:lnTo>
                  <a:lnTo>
                    <a:pt x="2117468" y="0"/>
                  </a:lnTo>
                  <a:close/>
                </a:path>
              </a:pathLst>
            </a:custGeom>
            <a:solidFill>
              <a:srgbClr val="F2F2F2"/>
            </a:solidFill>
          </p:spPr>
          <p:txBody>
            <a:bodyPr/>
            <a:lstStyle/>
            <a:p>
              <a:endParaRPr lang="en-GB" sz="900"/>
            </a:p>
          </p:txBody>
        </p:sp>
        <p:sp>
          <p:nvSpPr>
            <p:cNvPr id="5" name="Freeform 5"/>
            <p:cNvSpPr/>
            <p:nvPr/>
          </p:nvSpPr>
          <p:spPr>
            <a:xfrm>
              <a:off x="210693" y="739521"/>
              <a:ext cx="3961633" cy="4123184"/>
            </a:xfrm>
            <a:custGeom>
              <a:avLst/>
              <a:gdLst/>
              <a:ahLst/>
              <a:cxnLst/>
              <a:rect l="l" t="t" r="r" b="b"/>
              <a:pathLst>
                <a:path w="3961633" h="4123184">
                  <a:moveTo>
                    <a:pt x="0" y="0"/>
                  </a:moveTo>
                  <a:lnTo>
                    <a:pt x="0" y="4123185"/>
                  </a:lnTo>
                  <a:lnTo>
                    <a:pt x="3961633" y="4123185"/>
                  </a:lnTo>
                  <a:lnTo>
                    <a:pt x="3961633" y="3321052"/>
                  </a:lnTo>
                  <a:lnTo>
                    <a:pt x="3961633" y="2214755"/>
                  </a:lnTo>
                  <a:lnTo>
                    <a:pt x="3961633" y="1108584"/>
                  </a:lnTo>
                  <a:lnTo>
                    <a:pt x="3961633" y="0"/>
                  </a:lnTo>
                  <a:close/>
                </a:path>
              </a:pathLst>
            </a:custGeom>
            <a:solidFill>
              <a:srgbClr val="F2F2F2"/>
            </a:solidFill>
          </p:spPr>
          <p:txBody>
            <a:bodyPr/>
            <a:lstStyle/>
            <a:p>
              <a:endParaRPr lang="en-GB" sz="900"/>
            </a:p>
          </p:txBody>
        </p:sp>
      </p:grpSp>
      <p:grpSp>
        <p:nvGrpSpPr>
          <p:cNvPr id="6" name="Group 6"/>
          <p:cNvGrpSpPr/>
          <p:nvPr/>
        </p:nvGrpSpPr>
        <p:grpSpPr>
          <a:xfrm>
            <a:off x="2938763" y="1253928"/>
            <a:ext cx="357188" cy="357188"/>
            <a:chOff x="0" y="0"/>
            <a:chExt cx="952500" cy="952500"/>
          </a:xfrm>
        </p:grpSpPr>
        <p:sp>
          <p:nvSpPr>
            <p:cNvPr id="7" name="Freeform 7" descr="Redalpine's logo"/>
            <p:cNvSpPr/>
            <p:nvPr/>
          </p:nvSpPr>
          <p:spPr>
            <a:xfrm>
              <a:off x="0" y="0"/>
              <a:ext cx="952500" cy="952500"/>
            </a:xfrm>
            <a:custGeom>
              <a:avLst/>
              <a:gdLst/>
              <a:ahLst/>
              <a:cxnLst/>
              <a:rect l="l" t="t" r="r" b="b"/>
              <a:pathLst>
                <a:path w="952500" h="952500">
                  <a:moveTo>
                    <a:pt x="0" y="0"/>
                  </a:moveTo>
                  <a:lnTo>
                    <a:pt x="952500" y="0"/>
                  </a:lnTo>
                  <a:lnTo>
                    <a:pt x="952500" y="952500"/>
                  </a:lnTo>
                  <a:lnTo>
                    <a:pt x="0" y="952500"/>
                  </a:lnTo>
                  <a:lnTo>
                    <a:pt x="0" y="0"/>
                  </a:lnTo>
                  <a:close/>
                </a:path>
              </a:pathLst>
            </a:custGeom>
            <a:blipFill>
              <a:blip r:embed="rId2"/>
              <a:stretch>
                <a:fillRect/>
              </a:stretch>
            </a:blipFill>
          </p:spPr>
          <p:txBody>
            <a:bodyPr/>
            <a:lstStyle/>
            <a:p>
              <a:endParaRPr lang="en-GB" sz="900"/>
            </a:p>
          </p:txBody>
        </p:sp>
      </p:grpSp>
      <p:grpSp>
        <p:nvGrpSpPr>
          <p:cNvPr id="8" name="Group 8"/>
          <p:cNvGrpSpPr/>
          <p:nvPr/>
        </p:nvGrpSpPr>
        <p:grpSpPr>
          <a:xfrm>
            <a:off x="3367164" y="1270145"/>
            <a:ext cx="325436" cy="325322"/>
            <a:chOff x="0" y="0"/>
            <a:chExt cx="650875" cy="650646"/>
          </a:xfrm>
        </p:grpSpPr>
        <p:sp>
          <p:nvSpPr>
            <p:cNvPr id="9" name="Freeform 9"/>
            <p:cNvSpPr/>
            <p:nvPr/>
          </p:nvSpPr>
          <p:spPr>
            <a:xfrm>
              <a:off x="63500" y="63500"/>
              <a:ext cx="523875" cy="523624"/>
            </a:xfrm>
            <a:custGeom>
              <a:avLst/>
              <a:gdLst/>
              <a:ahLst/>
              <a:cxnLst/>
              <a:rect l="l" t="t" r="r" b="b"/>
              <a:pathLst>
                <a:path w="523875" h="523624">
                  <a:moveTo>
                    <a:pt x="0" y="0"/>
                  </a:moveTo>
                  <a:lnTo>
                    <a:pt x="523875" y="0"/>
                  </a:lnTo>
                  <a:lnTo>
                    <a:pt x="523875" y="523625"/>
                  </a:lnTo>
                  <a:lnTo>
                    <a:pt x="0" y="523625"/>
                  </a:lnTo>
                  <a:close/>
                </a:path>
              </a:pathLst>
            </a:custGeom>
            <a:solidFill>
              <a:srgbClr val="FF5A00"/>
            </a:solidFill>
          </p:spPr>
          <p:txBody>
            <a:bodyPr/>
            <a:lstStyle/>
            <a:p>
              <a:endParaRPr lang="en-GB" sz="900"/>
            </a:p>
          </p:txBody>
        </p:sp>
        <p:sp>
          <p:nvSpPr>
            <p:cNvPr id="10" name="Freeform 10"/>
            <p:cNvSpPr/>
            <p:nvPr/>
          </p:nvSpPr>
          <p:spPr>
            <a:xfrm>
              <a:off x="217932" y="192501"/>
              <a:ext cx="212090" cy="273337"/>
            </a:xfrm>
            <a:custGeom>
              <a:avLst/>
              <a:gdLst/>
              <a:ahLst/>
              <a:cxnLst/>
              <a:rect l="l" t="t" r="r" b="b"/>
              <a:pathLst>
                <a:path w="212090" h="273337">
                  <a:moveTo>
                    <a:pt x="381" y="1302"/>
                  </a:moveTo>
                  <a:cubicBezTo>
                    <a:pt x="2667" y="1302"/>
                    <a:pt x="4826" y="159"/>
                    <a:pt x="7112" y="159"/>
                  </a:cubicBezTo>
                  <a:cubicBezTo>
                    <a:pt x="18288" y="159"/>
                    <a:pt x="29591" y="159"/>
                    <a:pt x="40767" y="1302"/>
                  </a:cubicBezTo>
                  <a:cubicBezTo>
                    <a:pt x="43053" y="1302"/>
                    <a:pt x="43053" y="2445"/>
                    <a:pt x="44069" y="3588"/>
                  </a:cubicBezTo>
                  <a:cubicBezTo>
                    <a:pt x="60833" y="38132"/>
                    <a:pt x="77724" y="73820"/>
                    <a:pt x="95631" y="109380"/>
                  </a:cubicBezTo>
                  <a:cubicBezTo>
                    <a:pt x="99060" y="117127"/>
                    <a:pt x="102362" y="123858"/>
                    <a:pt x="106807" y="130589"/>
                  </a:cubicBezTo>
                  <a:cubicBezTo>
                    <a:pt x="110236" y="125001"/>
                    <a:pt x="113538" y="119413"/>
                    <a:pt x="116840" y="112809"/>
                  </a:cubicBezTo>
                  <a:cubicBezTo>
                    <a:pt x="135890" y="74963"/>
                    <a:pt x="154940" y="38132"/>
                    <a:pt x="173990" y="286"/>
                  </a:cubicBezTo>
                  <a:cubicBezTo>
                    <a:pt x="186309" y="286"/>
                    <a:pt x="198628" y="-857"/>
                    <a:pt x="212090" y="1429"/>
                  </a:cubicBezTo>
                  <a:cubicBezTo>
                    <a:pt x="209804" y="9176"/>
                    <a:pt x="205359" y="14764"/>
                    <a:pt x="202057" y="21495"/>
                  </a:cubicBezTo>
                  <a:cubicBezTo>
                    <a:pt x="177419" y="69375"/>
                    <a:pt x="151638" y="117254"/>
                    <a:pt x="125730" y="165260"/>
                  </a:cubicBezTo>
                  <a:cubicBezTo>
                    <a:pt x="124587" y="167546"/>
                    <a:pt x="124587" y="168562"/>
                    <a:pt x="124587" y="170848"/>
                  </a:cubicBezTo>
                  <a:cubicBezTo>
                    <a:pt x="124587" y="205392"/>
                    <a:pt x="124587" y="239937"/>
                    <a:pt x="124587" y="273338"/>
                  </a:cubicBezTo>
                  <a:cubicBezTo>
                    <a:pt x="112268" y="273338"/>
                    <a:pt x="99949" y="273338"/>
                    <a:pt x="87630" y="273338"/>
                  </a:cubicBezTo>
                  <a:cubicBezTo>
                    <a:pt x="87630" y="239937"/>
                    <a:pt x="87630" y="206535"/>
                    <a:pt x="87630" y="173007"/>
                  </a:cubicBezTo>
                  <a:cubicBezTo>
                    <a:pt x="87630" y="169705"/>
                    <a:pt x="87630" y="165260"/>
                    <a:pt x="85344" y="161831"/>
                  </a:cubicBezTo>
                  <a:cubicBezTo>
                    <a:pt x="61849" y="118397"/>
                    <a:pt x="39370" y="74963"/>
                    <a:pt x="15748" y="30385"/>
                  </a:cubicBezTo>
                  <a:cubicBezTo>
                    <a:pt x="11303" y="21495"/>
                    <a:pt x="5715" y="11462"/>
                    <a:pt x="0" y="1429"/>
                  </a:cubicBezTo>
                  <a:close/>
                </a:path>
              </a:pathLst>
            </a:custGeom>
            <a:solidFill>
              <a:srgbClr val="FFFEFE"/>
            </a:solidFill>
          </p:spPr>
          <p:txBody>
            <a:bodyPr/>
            <a:lstStyle/>
            <a:p>
              <a:endParaRPr lang="en-GB" sz="900"/>
            </a:p>
          </p:txBody>
        </p:sp>
      </p:grpSp>
      <p:grpSp>
        <p:nvGrpSpPr>
          <p:cNvPr id="11" name="Group 11"/>
          <p:cNvGrpSpPr/>
          <p:nvPr/>
        </p:nvGrpSpPr>
        <p:grpSpPr>
          <a:xfrm>
            <a:off x="4404165" y="1311726"/>
            <a:ext cx="678552" cy="239711"/>
            <a:chOff x="0" y="0"/>
            <a:chExt cx="1357097" cy="479425"/>
          </a:xfrm>
        </p:grpSpPr>
        <p:sp>
          <p:nvSpPr>
            <p:cNvPr id="12" name="Freeform 12"/>
            <p:cNvSpPr/>
            <p:nvPr/>
          </p:nvSpPr>
          <p:spPr>
            <a:xfrm>
              <a:off x="1099055" y="170180"/>
              <a:ext cx="194564" cy="245745"/>
            </a:xfrm>
            <a:custGeom>
              <a:avLst/>
              <a:gdLst/>
              <a:ahLst/>
              <a:cxnLst/>
              <a:rect l="l" t="t" r="r" b="b"/>
              <a:pathLst>
                <a:path w="194564" h="245745">
                  <a:moveTo>
                    <a:pt x="47879" y="245745"/>
                  </a:moveTo>
                  <a:lnTo>
                    <a:pt x="75946" y="179197"/>
                  </a:lnTo>
                  <a:lnTo>
                    <a:pt x="0" y="0"/>
                  </a:lnTo>
                  <a:lnTo>
                    <a:pt x="43561" y="0"/>
                  </a:lnTo>
                  <a:lnTo>
                    <a:pt x="96647" y="131572"/>
                  </a:lnTo>
                  <a:lnTo>
                    <a:pt x="100076" y="131572"/>
                  </a:lnTo>
                  <a:lnTo>
                    <a:pt x="152654" y="0"/>
                  </a:lnTo>
                  <a:lnTo>
                    <a:pt x="194564" y="0"/>
                  </a:lnTo>
                  <a:lnTo>
                    <a:pt x="90805" y="245745"/>
                  </a:lnTo>
                  <a:lnTo>
                    <a:pt x="47879" y="245745"/>
                  </a:lnTo>
                  <a:close/>
                </a:path>
              </a:pathLst>
            </a:custGeom>
            <a:solidFill>
              <a:srgbClr val="000000"/>
            </a:solidFill>
          </p:spPr>
          <p:txBody>
            <a:bodyPr/>
            <a:lstStyle/>
            <a:p>
              <a:endParaRPr lang="en-GB" sz="900"/>
            </a:p>
          </p:txBody>
        </p:sp>
        <p:sp>
          <p:nvSpPr>
            <p:cNvPr id="13" name="Freeform 13"/>
            <p:cNvSpPr/>
            <p:nvPr/>
          </p:nvSpPr>
          <p:spPr>
            <a:xfrm>
              <a:off x="334136" y="101219"/>
              <a:ext cx="202437" cy="248539"/>
            </a:xfrm>
            <a:custGeom>
              <a:avLst/>
              <a:gdLst/>
              <a:ahLst/>
              <a:cxnLst/>
              <a:rect l="l" t="t" r="r" b="b"/>
              <a:pathLst>
                <a:path w="202437" h="248539">
                  <a:moveTo>
                    <a:pt x="78867" y="248539"/>
                  </a:moveTo>
                  <a:lnTo>
                    <a:pt x="78867" y="36957"/>
                  </a:lnTo>
                  <a:lnTo>
                    <a:pt x="0" y="36957"/>
                  </a:lnTo>
                  <a:lnTo>
                    <a:pt x="0" y="0"/>
                  </a:lnTo>
                  <a:lnTo>
                    <a:pt x="183769" y="0"/>
                  </a:lnTo>
                  <a:cubicBezTo>
                    <a:pt x="194056" y="0"/>
                    <a:pt x="202438" y="8255"/>
                    <a:pt x="202438" y="18415"/>
                  </a:cubicBezTo>
                  <a:cubicBezTo>
                    <a:pt x="202438" y="28575"/>
                    <a:pt x="194056" y="36830"/>
                    <a:pt x="183769" y="36830"/>
                  </a:cubicBezTo>
                  <a:lnTo>
                    <a:pt x="120396" y="36830"/>
                  </a:lnTo>
                  <a:lnTo>
                    <a:pt x="120396" y="248539"/>
                  </a:lnTo>
                  <a:lnTo>
                    <a:pt x="78867" y="248539"/>
                  </a:lnTo>
                  <a:close/>
                </a:path>
              </a:pathLst>
            </a:custGeom>
            <a:solidFill>
              <a:srgbClr val="000000"/>
            </a:solidFill>
          </p:spPr>
          <p:txBody>
            <a:bodyPr/>
            <a:lstStyle/>
            <a:p>
              <a:endParaRPr lang="en-GB" sz="900"/>
            </a:p>
          </p:txBody>
        </p:sp>
        <p:sp>
          <p:nvSpPr>
            <p:cNvPr id="14" name="Freeform 14"/>
            <p:cNvSpPr/>
            <p:nvPr/>
          </p:nvSpPr>
          <p:spPr>
            <a:xfrm>
              <a:off x="486536" y="165354"/>
              <a:ext cx="183896" cy="189357"/>
            </a:xfrm>
            <a:custGeom>
              <a:avLst/>
              <a:gdLst/>
              <a:ahLst/>
              <a:cxnLst/>
              <a:rect l="l" t="t" r="r" b="b"/>
              <a:pathLst>
                <a:path w="183896" h="189357">
                  <a:moveTo>
                    <a:pt x="0" y="94615"/>
                  </a:moveTo>
                  <a:cubicBezTo>
                    <a:pt x="0" y="31623"/>
                    <a:pt x="40132" y="0"/>
                    <a:pt x="94615" y="0"/>
                  </a:cubicBezTo>
                  <a:cubicBezTo>
                    <a:pt x="148081" y="0"/>
                    <a:pt x="183895" y="34163"/>
                    <a:pt x="183895" y="91186"/>
                  </a:cubicBezTo>
                  <a:cubicBezTo>
                    <a:pt x="183895" y="94996"/>
                    <a:pt x="183514" y="101219"/>
                    <a:pt x="182879" y="105156"/>
                  </a:cubicBezTo>
                  <a:lnTo>
                    <a:pt x="39751" y="105156"/>
                  </a:lnTo>
                  <a:cubicBezTo>
                    <a:pt x="42545" y="139954"/>
                    <a:pt x="65024" y="159131"/>
                    <a:pt x="94233" y="159131"/>
                  </a:cubicBezTo>
                  <a:cubicBezTo>
                    <a:pt x="112140" y="159131"/>
                    <a:pt x="129031" y="151130"/>
                    <a:pt x="137159" y="136525"/>
                  </a:cubicBezTo>
                  <a:lnTo>
                    <a:pt x="176656" y="136525"/>
                  </a:lnTo>
                  <a:cubicBezTo>
                    <a:pt x="166115" y="169545"/>
                    <a:pt x="134492" y="189357"/>
                    <a:pt x="94742" y="189357"/>
                  </a:cubicBezTo>
                  <a:cubicBezTo>
                    <a:pt x="36322" y="189357"/>
                    <a:pt x="127" y="153543"/>
                    <a:pt x="127" y="94742"/>
                  </a:cubicBezTo>
                  <a:close/>
                  <a:moveTo>
                    <a:pt x="143255" y="77724"/>
                  </a:moveTo>
                  <a:cubicBezTo>
                    <a:pt x="140080" y="47117"/>
                    <a:pt x="118998" y="29972"/>
                    <a:pt x="92964" y="29972"/>
                  </a:cubicBezTo>
                  <a:cubicBezTo>
                    <a:pt x="67691" y="29972"/>
                    <a:pt x="45085" y="46736"/>
                    <a:pt x="40894" y="77724"/>
                  </a:cubicBezTo>
                  <a:lnTo>
                    <a:pt x="143255" y="77724"/>
                  </a:lnTo>
                  <a:close/>
                </a:path>
              </a:pathLst>
            </a:custGeom>
            <a:solidFill>
              <a:srgbClr val="000000"/>
            </a:solidFill>
          </p:spPr>
          <p:txBody>
            <a:bodyPr/>
            <a:lstStyle/>
            <a:p>
              <a:endParaRPr lang="en-GB" sz="900"/>
            </a:p>
          </p:txBody>
        </p:sp>
        <p:sp>
          <p:nvSpPr>
            <p:cNvPr id="15" name="Freeform 15"/>
            <p:cNvSpPr/>
            <p:nvPr/>
          </p:nvSpPr>
          <p:spPr>
            <a:xfrm>
              <a:off x="701292" y="165354"/>
              <a:ext cx="180085" cy="184531"/>
            </a:xfrm>
            <a:custGeom>
              <a:avLst/>
              <a:gdLst/>
              <a:ahLst/>
              <a:cxnLst/>
              <a:rect l="l" t="t" r="r" b="b"/>
              <a:pathLst>
                <a:path w="180085" h="184531">
                  <a:moveTo>
                    <a:pt x="0" y="184404"/>
                  </a:moveTo>
                  <a:lnTo>
                    <a:pt x="0" y="85598"/>
                  </a:lnTo>
                  <a:cubicBezTo>
                    <a:pt x="0" y="26416"/>
                    <a:pt x="34417" y="0"/>
                    <a:pt x="90043" y="0"/>
                  </a:cubicBezTo>
                  <a:cubicBezTo>
                    <a:pt x="145923" y="0"/>
                    <a:pt x="180086" y="24765"/>
                    <a:pt x="180086" y="83947"/>
                  </a:cubicBezTo>
                  <a:lnTo>
                    <a:pt x="180086" y="184531"/>
                  </a:lnTo>
                  <a:lnTo>
                    <a:pt x="140335" y="184531"/>
                  </a:lnTo>
                  <a:lnTo>
                    <a:pt x="140335" y="83820"/>
                  </a:lnTo>
                  <a:cubicBezTo>
                    <a:pt x="140335" y="49022"/>
                    <a:pt x="121666" y="33401"/>
                    <a:pt x="90043" y="33401"/>
                  </a:cubicBezTo>
                  <a:cubicBezTo>
                    <a:pt x="58420" y="33401"/>
                    <a:pt x="39751" y="50419"/>
                    <a:pt x="39751" y="85598"/>
                  </a:cubicBezTo>
                  <a:lnTo>
                    <a:pt x="39751" y="184531"/>
                  </a:lnTo>
                  <a:lnTo>
                    <a:pt x="0" y="184531"/>
                  </a:lnTo>
                  <a:close/>
                </a:path>
              </a:pathLst>
            </a:custGeom>
            <a:solidFill>
              <a:srgbClr val="000000"/>
            </a:solidFill>
          </p:spPr>
          <p:txBody>
            <a:bodyPr/>
            <a:lstStyle/>
            <a:p>
              <a:endParaRPr lang="en-GB" sz="900"/>
            </a:p>
          </p:txBody>
        </p:sp>
        <p:sp>
          <p:nvSpPr>
            <p:cNvPr id="16" name="Freeform 16"/>
            <p:cNvSpPr/>
            <p:nvPr/>
          </p:nvSpPr>
          <p:spPr>
            <a:xfrm>
              <a:off x="915921" y="96774"/>
              <a:ext cx="48515" cy="252984"/>
            </a:xfrm>
            <a:custGeom>
              <a:avLst/>
              <a:gdLst/>
              <a:ahLst/>
              <a:cxnLst/>
              <a:rect l="l" t="t" r="r" b="b"/>
              <a:pathLst>
                <a:path w="48515" h="252984">
                  <a:moveTo>
                    <a:pt x="1" y="24003"/>
                  </a:moveTo>
                  <a:cubicBezTo>
                    <a:pt x="1" y="10033"/>
                    <a:pt x="10161" y="0"/>
                    <a:pt x="24258" y="0"/>
                  </a:cubicBezTo>
                  <a:cubicBezTo>
                    <a:pt x="37720" y="0"/>
                    <a:pt x="48515" y="10795"/>
                    <a:pt x="48515" y="24003"/>
                  </a:cubicBezTo>
                  <a:cubicBezTo>
                    <a:pt x="48515" y="37973"/>
                    <a:pt x="38355" y="48006"/>
                    <a:pt x="24258" y="48006"/>
                  </a:cubicBezTo>
                  <a:cubicBezTo>
                    <a:pt x="10796" y="48006"/>
                    <a:pt x="-126" y="37211"/>
                    <a:pt x="1" y="24003"/>
                  </a:cubicBezTo>
                  <a:close/>
                  <a:moveTo>
                    <a:pt x="4192" y="252984"/>
                  </a:moveTo>
                  <a:lnTo>
                    <a:pt x="4192" y="93091"/>
                  </a:lnTo>
                  <a:cubicBezTo>
                    <a:pt x="4192" y="82296"/>
                    <a:pt x="13082" y="73406"/>
                    <a:pt x="24004" y="73406"/>
                  </a:cubicBezTo>
                  <a:cubicBezTo>
                    <a:pt x="34926" y="73406"/>
                    <a:pt x="43815" y="82169"/>
                    <a:pt x="43815" y="93091"/>
                  </a:cubicBezTo>
                  <a:lnTo>
                    <a:pt x="43815" y="252984"/>
                  </a:lnTo>
                  <a:lnTo>
                    <a:pt x="4192" y="252984"/>
                  </a:lnTo>
                  <a:close/>
                </a:path>
              </a:pathLst>
            </a:custGeom>
            <a:solidFill>
              <a:srgbClr val="000000"/>
            </a:solidFill>
          </p:spPr>
          <p:txBody>
            <a:bodyPr/>
            <a:lstStyle/>
            <a:p>
              <a:endParaRPr lang="en-GB" sz="900"/>
            </a:p>
          </p:txBody>
        </p:sp>
        <p:sp>
          <p:nvSpPr>
            <p:cNvPr id="17" name="Freeform 17"/>
            <p:cNvSpPr/>
            <p:nvPr/>
          </p:nvSpPr>
          <p:spPr>
            <a:xfrm>
              <a:off x="1000503" y="122174"/>
              <a:ext cx="87249" cy="227584"/>
            </a:xfrm>
            <a:custGeom>
              <a:avLst/>
              <a:gdLst/>
              <a:ahLst/>
              <a:cxnLst/>
              <a:rect l="l" t="t" r="r" b="b"/>
              <a:pathLst>
                <a:path w="87249" h="227584">
                  <a:moveTo>
                    <a:pt x="0" y="227584"/>
                  </a:moveTo>
                  <a:lnTo>
                    <a:pt x="0" y="81407"/>
                  </a:lnTo>
                  <a:lnTo>
                    <a:pt x="0" y="48006"/>
                  </a:lnTo>
                  <a:lnTo>
                    <a:pt x="0" y="0"/>
                  </a:lnTo>
                  <a:lnTo>
                    <a:pt x="39751" y="0"/>
                  </a:lnTo>
                  <a:lnTo>
                    <a:pt x="39751" y="48006"/>
                  </a:lnTo>
                  <a:lnTo>
                    <a:pt x="70358" y="48006"/>
                  </a:lnTo>
                  <a:cubicBezTo>
                    <a:pt x="79629" y="48006"/>
                    <a:pt x="87249" y="55499"/>
                    <a:pt x="87249" y="64770"/>
                  </a:cubicBezTo>
                  <a:cubicBezTo>
                    <a:pt x="87249" y="74041"/>
                    <a:pt x="79629" y="81534"/>
                    <a:pt x="70358" y="81534"/>
                  </a:cubicBezTo>
                  <a:lnTo>
                    <a:pt x="39751" y="81534"/>
                  </a:lnTo>
                  <a:lnTo>
                    <a:pt x="39751" y="227584"/>
                  </a:lnTo>
                  <a:lnTo>
                    <a:pt x="0" y="227584"/>
                  </a:lnTo>
                  <a:close/>
                </a:path>
              </a:pathLst>
            </a:custGeom>
            <a:solidFill>
              <a:srgbClr val="000000"/>
            </a:solidFill>
          </p:spPr>
          <p:txBody>
            <a:bodyPr/>
            <a:lstStyle/>
            <a:p>
              <a:endParaRPr lang="en-GB" sz="900"/>
            </a:p>
          </p:txBody>
        </p:sp>
        <p:sp>
          <p:nvSpPr>
            <p:cNvPr id="18" name="Freeform 18"/>
            <p:cNvSpPr/>
            <p:nvPr/>
          </p:nvSpPr>
          <p:spPr>
            <a:xfrm>
              <a:off x="143637" y="314833"/>
              <a:ext cx="48260" cy="93472"/>
            </a:xfrm>
            <a:custGeom>
              <a:avLst/>
              <a:gdLst/>
              <a:ahLst/>
              <a:cxnLst/>
              <a:rect l="l" t="t" r="r" b="b"/>
              <a:pathLst>
                <a:path w="48260" h="93472">
                  <a:moveTo>
                    <a:pt x="24130" y="0"/>
                  </a:moveTo>
                  <a:cubicBezTo>
                    <a:pt x="10795" y="0"/>
                    <a:pt x="0" y="10668"/>
                    <a:pt x="0" y="23876"/>
                  </a:cubicBezTo>
                  <a:lnTo>
                    <a:pt x="0" y="65786"/>
                  </a:lnTo>
                  <a:lnTo>
                    <a:pt x="48259" y="93472"/>
                  </a:lnTo>
                  <a:lnTo>
                    <a:pt x="48259" y="23876"/>
                  </a:lnTo>
                  <a:cubicBezTo>
                    <a:pt x="48259" y="10668"/>
                    <a:pt x="37465" y="0"/>
                    <a:pt x="24130" y="0"/>
                  </a:cubicBezTo>
                  <a:close/>
                </a:path>
              </a:pathLst>
            </a:custGeom>
            <a:solidFill>
              <a:srgbClr val="000000"/>
            </a:solidFill>
          </p:spPr>
          <p:txBody>
            <a:bodyPr/>
            <a:lstStyle/>
            <a:p>
              <a:endParaRPr lang="en-GB" sz="900"/>
            </a:p>
          </p:txBody>
        </p:sp>
        <p:sp>
          <p:nvSpPr>
            <p:cNvPr id="19" name="Freeform 19"/>
            <p:cNvSpPr/>
            <p:nvPr/>
          </p:nvSpPr>
          <p:spPr>
            <a:xfrm>
              <a:off x="63500" y="63500"/>
              <a:ext cx="174879" cy="271018"/>
            </a:xfrm>
            <a:custGeom>
              <a:avLst/>
              <a:gdLst/>
              <a:ahLst/>
              <a:cxnLst/>
              <a:rect l="l" t="t" r="r" b="b"/>
              <a:pathLst>
                <a:path w="174879" h="271018">
                  <a:moveTo>
                    <a:pt x="104267" y="69596"/>
                  </a:moveTo>
                  <a:cubicBezTo>
                    <a:pt x="118618" y="69596"/>
                    <a:pt x="130302" y="81153"/>
                    <a:pt x="130302" y="95377"/>
                  </a:cubicBezTo>
                  <a:cubicBezTo>
                    <a:pt x="130302" y="109601"/>
                    <a:pt x="118618" y="121158"/>
                    <a:pt x="104267" y="121158"/>
                  </a:cubicBezTo>
                  <a:cubicBezTo>
                    <a:pt x="89916" y="121158"/>
                    <a:pt x="78232" y="109601"/>
                    <a:pt x="78232" y="95377"/>
                  </a:cubicBezTo>
                  <a:cubicBezTo>
                    <a:pt x="78232" y="81153"/>
                    <a:pt x="89916" y="69596"/>
                    <a:pt x="104267" y="69596"/>
                  </a:cubicBezTo>
                  <a:close/>
                  <a:moveTo>
                    <a:pt x="104267" y="0"/>
                  </a:moveTo>
                  <a:cubicBezTo>
                    <a:pt x="99949" y="0"/>
                    <a:pt x="95758" y="1651"/>
                    <a:pt x="92456" y="4826"/>
                  </a:cubicBezTo>
                  <a:lnTo>
                    <a:pt x="60198" y="35814"/>
                  </a:lnTo>
                  <a:cubicBezTo>
                    <a:pt x="43434" y="52070"/>
                    <a:pt x="34036" y="74168"/>
                    <a:pt x="34036" y="97409"/>
                  </a:cubicBezTo>
                  <a:lnTo>
                    <a:pt x="34036" y="170307"/>
                  </a:lnTo>
                  <a:lnTo>
                    <a:pt x="12573" y="183769"/>
                  </a:lnTo>
                  <a:cubicBezTo>
                    <a:pt x="4699" y="188722"/>
                    <a:pt x="0" y="197231"/>
                    <a:pt x="0" y="206502"/>
                  </a:cubicBezTo>
                  <a:lnTo>
                    <a:pt x="0" y="271018"/>
                  </a:lnTo>
                  <a:lnTo>
                    <a:pt x="174878" y="170434"/>
                  </a:lnTo>
                  <a:lnTo>
                    <a:pt x="174878" y="97409"/>
                  </a:lnTo>
                  <a:cubicBezTo>
                    <a:pt x="174751" y="74168"/>
                    <a:pt x="165353" y="52070"/>
                    <a:pt x="148589" y="35814"/>
                  </a:cubicBezTo>
                  <a:lnTo>
                    <a:pt x="116332" y="4826"/>
                  </a:lnTo>
                  <a:cubicBezTo>
                    <a:pt x="113030" y="1651"/>
                    <a:pt x="108712" y="127"/>
                    <a:pt x="104521" y="0"/>
                  </a:cubicBezTo>
                  <a:close/>
                </a:path>
              </a:pathLst>
            </a:custGeom>
            <a:solidFill>
              <a:srgbClr val="000000"/>
            </a:solidFill>
          </p:spPr>
          <p:txBody>
            <a:bodyPr/>
            <a:lstStyle/>
            <a:p>
              <a:endParaRPr lang="en-GB" sz="900"/>
            </a:p>
          </p:txBody>
        </p:sp>
        <p:sp>
          <p:nvSpPr>
            <p:cNvPr id="20" name="Freeform 20"/>
            <p:cNvSpPr/>
            <p:nvPr/>
          </p:nvSpPr>
          <p:spPr>
            <a:xfrm>
              <a:off x="238251" y="233807"/>
              <a:ext cx="36576" cy="101981"/>
            </a:xfrm>
            <a:custGeom>
              <a:avLst/>
              <a:gdLst/>
              <a:ahLst/>
              <a:cxnLst/>
              <a:rect l="l" t="t" r="r" b="b"/>
              <a:pathLst>
                <a:path w="36576" h="101981">
                  <a:moveTo>
                    <a:pt x="0" y="81026"/>
                  </a:moveTo>
                  <a:lnTo>
                    <a:pt x="36576" y="101981"/>
                  </a:lnTo>
                  <a:lnTo>
                    <a:pt x="36576" y="38735"/>
                  </a:lnTo>
                  <a:cubicBezTo>
                    <a:pt x="36576" y="28829"/>
                    <a:pt x="31496" y="19685"/>
                    <a:pt x="22987" y="14351"/>
                  </a:cubicBezTo>
                  <a:lnTo>
                    <a:pt x="0" y="0"/>
                  </a:lnTo>
                  <a:lnTo>
                    <a:pt x="0" y="81026"/>
                  </a:lnTo>
                  <a:close/>
                </a:path>
              </a:pathLst>
            </a:custGeom>
            <a:solidFill>
              <a:srgbClr val="000000"/>
            </a:solidFill>
          </p:spPr>
          <p:txBody>
            <a:bodyPr/>
            <a:lstStyle/>
            <a:p>
              <a:endParaRPr lang="en-GB" sz="900"/>
            </a:p>
          </p:txBody>
        </p:sp>
      </p:grpSp>
      <p:grpSp>
        <p:nvGrpSpPr>
          <p:cNvPr id="21" name="Group 21"/>
          <p:cNvGrpSpPr/>
          <p:nvPr/>
        </p:nvGrpSpPr>
        <p:grpSpPr>
          <a:xfrm>
            <a:off x="3761513" y="1318927"/>
            <a:ext cx="566738" cy="228600"/>
            <a:chOff x="0" y="0"/>
            <a:chExt cx="1511300" cy="609600"/>
          </a:xfrm>
        </p:grpSpPr>
        <p:sp>
          <p:nvSpPr>
            <p:cNvPr id="22" name="Freeform 22" descr="42CAP's logo"/>
            <p:cNvSpPr/>
            <p:nvPr/>
          </p:nvSpPr>
          <p:spPr>
            <a:xfrm>
              <a:off x="0" y="0"/>
              <a:ext cx="1511300" cy="609600"/>
            </a:xfrm>
            <a:custGeom>
              <a:avLst/>
              <a:gdLst/>
              <a:ahLst/>
              <a:cxnLst/>
              <a:rect l="l" t="t" r="r" b="b"/>
              <a:pathLst>
                <a:path w="1511300" h="609600">
                  <a:moveTo>
                    <a:pt x="0" y="0"/>
                  </a:moveTo>
                  <a:lnTo>
                    <a:pt x="1511300" y="0"/>
                  </a:lnTo>
                  <a:lnTo>
                    <a:pt x="1511300" y="609600"/>
                  </a:lnTo>
                  <a:lnTo>
                    <a:pt x="0" y="609600"/>
                  </a:lnTo>
                  <a:lnTo>
                    <a:pt x="0" y="0"/>
                  </a:lnTo>
                  <a:close/>
                </a:path>
              </a:pathLst>
            </a:custGeom>
            <a:blipFill>
              <a:blip r:embed="rId3"/>
              <a:stretch>
                <a:fillRect/>
              </a:stretch>
            </a:blipFill>
          </p:spPr>
          <p:txBody>
            <a:bodyPr/>
            <a:lstStyle/>
            <a:p>
              <a:endParaRPr lang="en-GB" sz="900"/>
            </a:p>
          </p:txBody>
        </p:sp>
      </p:grpSp>
      <p:grpSp>
        <p:nvGrpSpPr>
          <p:cNvPr id="23" name="Group 23"/>
          <p:cNvGrpSpPr/>
          <p:nvPr/>
        </p:nvGrpSpPr>
        <p:grpSpPr>
          <a:xfrm>
            <a:off x="2945821" y="1911396"/>
            <a:ext cx="633413" cy="171450"/>
            <a:chOff x="0" y="0"/>
            <a:chExt cx="1689100" cy="457200"/>
          </a:xfrm>
        </p:grpSpPr>
        <p:sp>
          <p:nvSpPr>
            <p:cNvPr id="24" name="Freeform 24"/>
            <p:cNvSpPr/>
            <p:nvPr/>
          </p:nvSpPr>
          <p:spPr>
            <a:xfrm>
              <a:off x="0" y="0"/>
              <a:ext cx="1689100" cy="457200"/>
            </a:xfrm>
            <a:custGeom>
              <a:avLst/>
              <a:gdLst/>
              <a:ahLst/>
              <a:cxnLst/>
              <a:rect l="l" t="t" r="r" b="b"/>
              <a:pathLst>
                <a:path w="1689100" h="457200">
                  <a:moveTo>
                    <a:pt x="0" y="0"/>
                  </a:moveTo>
                  <a:lnTo>
                    <a:pt x="1689100" y="0"/>
                  </a:lnTo>
                  <a:lnTo>
                    <a:pt x="1689100" y="457200"/>
                  </a:lnTo>
                  <a:lnTo>
                    <a:pt x="0" y="457200"/>
                  </a:lnTo>
                  <a:lnTo>
                    <a:pt x="0" y="0"/>
                  </a:lnTo>
                  <a:close/>
                </a:path>
              </a:pathLst>
            </a:custGeom>
            <a:blipFill>
              <a:blip r:embed="rId4"/>
              <a:stretch>
                <a:fillRect/>
              </a:stretch>
            </a:blipFill>
          </p:spPr>
          <p:txBody>
            <a:bodyPr/>
            <a:lstStyle/>
            <a:p>
              <a:endParaRPr lang="en-GB" sz="900"/>
            </a:p>
          </p:txBody>
        </p:sp>
      </p:grpSp>
      <p:grpSp>
        <p:nvGrpSpPr>
          <p:cNvPr id="25" name="Group 25"/>
          <p:cNvGrpSpPr/>
          <p:nvPr/>
        </p:nvGrpSpPr>
        <p:grpSpPr>
          <a:xfrm>
            <a:off x="4338833" y="1667966"/>
            <a:ext cx="723900" cy="161925"/>
            <a:chOff x="0" y="0"/>
            <a:chExt cx="1930400" cy="431800"/>
          </a:xfrm>
        </p:grpSpPr>
        <p:sp>
          <p:nvSpPr>
            <p:cNvPr id="26" name="Freeform 26"/>
            <p:cNvSpPr/>
            <p:nvPr/>
          </p:nvSpPr>
          <p:spPr>
            <a:xfrm>
              <a:off x="0" y="0"/>
              <a:ext cx="1930400" cy="431800"/>
            </a:xfrm>
            <a:custGeom>
              <a:avLst/>
              <a:gdLst/>
              <a:ahLst/>
              <a:cxnLst/>
              <a:rect l="l" t="t" r="r" b="b"/>
              <a:pathLst>
                <a:path w="1930400" h="431800">
                  <a:moveTo>
                    <a:pt x="0" y="0"/>
                  </a:moveTo>
                  <a:lnTo>
                    <a:pt x="1930400" y="0"/>
                  </a:lnTo>
                  <a:lnTo>
                    <a:pt x="1930400" y="431800"/>
                  </a:lnTo>
                  <a:lnTo>
                    <a:pt x="0" y="431800"/>
                  </a:lnTo>
                  <a:lnTo>
                    <a:pt x="0" y="0"/>
                  </a:lnTo>
                  <a:close/>
                </a:path>
              </a:pathLst>
            </a:custGeom>
            <a:blipFill>
              <a:blip r:embed="rId5"/>
              <a:stretch>
                <a:fillRect/>
              </a:stretch>
            </a:blipFill>
          </p:spPr>
          <p:txBody>
            <a:bodyPr/>
            <a:lstStyle/>
            <a:p>
              <a:endParaRPr lang="en-GB" sz="900"/>
            </a:p>
          </p:txBody>
        </p:sp>
      </p:grpSp>
      <p:grpSp>
        <p:nvGrpSpPr>
          <p:cNvPr id="27" name="Group 27"/>
          <p:cNvGrpSpPr/>
          <p:nvPr/>
        </p:nvGrpSpPr>
        <p:grpSpPr>
          <a:xfrm>
            <a:off x="4405060" y="1857104"/>
            <a:ext cx="687753" cy="198258"/>
            <a:chOff x="0" y="0"/>
            <a:chExt cx="1375499" cy="396519"/>
          </a:xfrm>
        </p:grpSpPr>
        <p:sp>
          <p:nvSpPr>
            <p:cNvPr id="28" name="Freeform 28"/>
            <p:cNvSpPr/>
            <p:nvPr/>
          </p:nvSpPr>
          <p:spPr>
            <a:xfrm>
              <a:off x="63500" y="136320"/>
              <a:ext cx="1199184" cy="197027"/>
            </a:xfrm>
            <a:custGeom>
              <a:avLst/>
              <a:gdLst/>
              <a:ahLst/>
              <a:cxnLst/>
              <a:rect l="l" t="t" r="r" b="b"/>
              <a:pathLst>
                <a:path w="1199184" h="197027">
                  <a:moveTo>
                    <a:pt x="635" y="130255"/>
                  </a:moveTo>
                  <a:lnTo>
                    <a:pt x="56896" y="130255"/>
                  </a:lnTo>
                  <a:lnTo>
                    <a:pt x="56896" y="133684"/>
                  </a:lnTo>
                  <a:cubicBezTo>
                    <a:pt x="56261" y="139145"/>
                    <a:pt x="58293" y="144606"/>
                    <a:pt x="61976" y="148416"/>
                  </a:cubicBezTo>
                  <a:cubicBezTo>
                    <a:pt x="68707" y="151464"/>
                    <a:pt x="76200" y="152861"/>
                    <a:pt x="83693" y="152226"/>
                  </a:cubicBezTo>
                  <a:lnTo>
                    <a:pt x="155448" y="152226"/>
                  </a:lnTo>
                  <a:cubicBezTo>
                    <a:pt x="160909" y="152607"/>
                    <a:pt x="165989" y="151591"/>
                    <a:pt x="170688" y="148416"/>
                  </a:cubicBezTo>
                  <a:cubicBezTo>
                    <a:pt x="174117" y="145368"/>
                    <a:pt x="175768" y="140923"/>
                    <a:pt x="175133" y="136478"/>
                  </a:cubicBezTo>
                  <a:cubicBezTo>
                    <a:pt x="175514" y="131652"/>
                    <a:pt x="173482" y="126953"/>
                    <a:pt x="170053" y="124159"/>
                  </a:cubicBezTo>
                  <a:cubicBezTo>
                    <a:pt x="162941" y="120730"/>
                    <a:pt x="155448" y="119079"/>
                    <a:pt x="147701" y="119079"/>
                  </a:cubicBezTo>
                  <a:lnTo>
                    <a:pt x="58039" y="117047"/>
                  </a:lnTo>
                  <a:cubicBezTo>
                    <a:pt x="35687" y="116412"/>
                    <a:pt x="20447" y="111967"/>
                    <a:pt x="12700" y="104093"/>
                  </a:cubicBezTo>
                  <a:cubicBezTo>
                    <a:pt x="4953" y="96219"/>
                    <a:pt x="889" y="81487"/>
                    <a:pt x="889" y="60024"/>
                  </a:cubicBezTo>
                  <a:cubicBezTo>
                    <a:pt x="508" y="50752"/>
                    <a:pt x="1524" y="41608"/>
                    <a:pt x="3937" y="32972"/>
                  </a:cubicBezTo>
                  <a:cubicBezTo>
                    <a:pt x="5588" y="26114"/>
                    <a:pt x="9398" y="20272"/>
                    <a:pt x="14097" y="15192"/>
                  </a:cubicBezTo>
                  <a:cubicBezTo>
                    <a:pt x="20193" y="9731"/>
                    <a:pt x="27305" y="5667"/>
                    <a:pt x="35433" y="3889"/>
                  </a:cubicBezTo>
                  <a:cubicBezTo>
                    <a:pt x="49657" y="1095"/>
                    <a:pt x="63881" y="79"/>
                    <a:pt x="78359" y="460"/>
                  </a:cubicBezTo>
                  <a:lnTo>
                    <a:pt x="165100" y="460"/>
                  </a:lnTo>
                  <a:cubicBezTo>
                    <a:pt x="181737" y="-937"/>
                    <a:pt x="197866" y="3254"/>
                    <a:pt x="211836" y="12398"/>
                  </a:cubicBezTo>
                  <a:cubicBezTo>
                    <a:pt x="222377" y="22685"/>
                    <a:pt x="227457" y="37036"/>
                    <a:pt x="226060" y="51768"/>
                  </a:cubicBezTo>
                  <a:cubicBezTo>
                    <a:pt x="226060" y="52784"/>
                    <a:pt x="226060" y="54182"/>
                    <a:pt x="226060" y="55579"/>
                  </a:cubicBezTo>
                  <a:cubicBezTo>
                    <a:pt x="226060" y="56976"/>
                    <a:pt x="226060" y="59389"/>
                    <a:pt x="225679" y="62437"/>
                  </a:cubicBezTo>
                  <a:lnTo>
                    <a:pt x="170180" y="62437"/>
                  </a:lnTo>
                  <a:lnTo>
                    <a:pt x="170180" y="61802"/>
                  </a:lnTo>
                  <a:cubicBezTo>
                    <a:pt x="170561" y="56722"/>
                    <a:pt x="168783" y="51514"/>
                    <a:pt x="165481" y="47450"/>
                  </a:cubicBezTo>
                  <a:cubicBezTo>
                    <a:pt x="161798" y="44021"/>
                    <a:pt x="156718" y="42370"/>
                    <a:pt x="151257" y="42624"/>
                  </a:cubicBezTo>
                  <a:lnTo>
                    <a:pt x="85598" y="42624"/>
                  </a:lnTo>
                  <a:cubicBezTo>
                    <a:pt x="78105" y="41989"/>
                    <a:pt x="70739" y="43005"/>
                    <a:pt x="63881" y="46053"/>
                  </a:cubicBezTo>
                  <a:cubicBezTo>
                    <a:pt x="60198" y="48847"/>
                    <a:pt x="58166" y="53292"/>
                    <a:pt x="58801" y="57738"/>
                  </a:cubicBezTo>
                  <a:cubicBezTo>
                    <a:pt x="58420" y="62183"/>
                    <a:pt x="60198" y="66628"/>
                    <a:pt x="63500" y="69676"/>
                  </a:cubicBezTo>
                  <a:cubicBezTo>
                    <a:pt x="68961" y="72724"/>
                    <a:pt x="75057" y="74502"/>
                    <a:pt x="81153" y="74502"/>
                  </a:cubicBezTo>
                  <a:lnTo>
                    <a:pt x="174879" y="75899"/>
                  </a:lnTo>
                  <a:cubicBezTo>
                    <a:pt x="196215" y="76534"/>
                    <a:pt x="211455" y="81360"/>
                    <a:pt x="220218" y="90631"/>
                  </a:cubicBezTo>
                  <a:cubicBezTo>
                    <a:pt x="228981" y="99902"/>
                    <a:pt x="233426" y="115650"/>
                    <a:pt x="233426" y="138129"/>
                  </a:cubicBezTo>
                  <a:cubicBezTo>
                    <a:pt x="233807" y="148670"/>
                    <a:pt x="232029" y="158957"/>
                    <a:pt x="228727" y="168863"/>
                  </a:cubicBezTo>
                  <a:cubicBezTo>
                    <a:pt x="225298" y="176356"/>
                    <a:pt x="219583" y="182834"/>
                    <a:pt x="212471" y="187660"/>
                  </a:cubicBezTo>
                  <a:cubicBezTo>
                    <a:pt x="205994" y="191470"/>
                    <a:pt x="199263" y="193756"/>
                    <a:pt x="192151" y="194899"/>
                  </a:cubicBezTo>
                  <a:cubicBezTo>
                    <a:pt x="179578" y="196550"/>
                    <a:pt x="167132" y="197312"/>
                    <a:pt x="154940" y="196931"/>
                  </a:cubicBezTo>
                  <a:lnTo>
                    <a:pt x="78486" y="196931"/>
                  </a:lnTo>
                  <a:cubicBezTo>
                    <a:pt x="47371" y="196931"/>
                    <a:pt x="26416" y="193502"/>
                    <a:pt x="15875" y="186390"/>
                  </a:cubicBezTo>
                  <a:cubicBezTo>
                    <a:pt x="5334" y="179277"/>
                    <a:pt x="0" y="165561"/>
                    <a:pt x="0" y="145622"/>
                  </a:cubicBezTo>
                  <a:cubicBezTo>
                    <a:pt x="0" y="144606"/>
                    <a:pt x="0" y="142574"/>
                    <a:pt x="381" y="140161"/>
                  </a:cubicBezTo>
                  <a:cubicBezTo>
                    <a:pt x="762" y="137748"/>
                    <a:pt x="381" y="134065"/>
                    <a:pt x="762" y="130255"/>
                  </a:cubicBezTo>
                  <a:close/>
                  <a:moveTo>
                    <a:pt x="325628" y="194137"/>
                  </a:moveTo>
                  <a:lnTo>
                    <a:pt x="268478" y="194137"/>
                  </a:lnTo>
                  <a:lnTo>
                    <a:pt x="268478" y="2746"/>
                  </a:lnTo>
                  <a:lnTo>
                    <a:pt x="325628" y="2746"/>
                  </a:lnTo>
                  <a:lnTo>
                    <a:pt x="325628" y="194264"/>
                  </a:lnTo>
                  <a:close/>
                  <a:moveTo>
                    <a:pt x="544575" y="71454"/>
                  </a:moveTo>
                  <a:lnTo>
                    <a:pt x="544575" y="69422"/>
                  </a:lnTo>
                  <a:cubicBezTo>
                    <a:pt x="544956" y="62945"/>
                    <a:pt x="542162" y="56722"/>
                    <a:pt x="537463" y="53038"/>
                  </a:cubicBezTo>
                  <a:cubicBezTo>
                    <a:pt x="530732" y="48974"/>
                    <a:pt x="522604" y="47196"/>
                    <a:pt x="514476" y="47958"/>
                  </a:cubicBezTo>
                  <a:lnTo>
                    <a:pt x="468756" y="47958"/>
                  </a:lnTo>
                  <a:cubicBezTo>
                    <a:pt x="449071" y="47958"/>
                    <a:pt x="436625" y="50371"/>
                    <a:pt x="431164" y="55198"/>
                  </a:cubicBezTo>
                  <a:cubicBezTo>
                    <a:pt x="425703" y="60024"/>
                    <a:pt x="422655" y="70184"/>
                    <a:pt x="422655" y="85678"/>
                  </a:cubicBezTo>
                  <a:lnTo>
                    <a:pt x="422655" y="112348"/>
                  </a:lnTo>
                  <a:cubicBezTo>
                    <a:pt x="421258" y="122635"/>
                    <a:pt x="424687" y="133176"/>
                    <a:pt x="431799" y="140669"/>
                  </a:cubicBezTo>
                  <a:cubicBezTo>
                    <a:pt x="437895" y="145749"/>
                    <a:pt x="450087" y="148543"/>
                    <a:pt x="468629" y="148543"/>
                  </a:cubicBezTo>
                  <a:lnTo>
                    <a:pt x="501776" y="148543"/>
                  </a:lnTo>
                  <a:cubicBezTo>
                    <a:pt x="513968" y="149559"/>
                    <a:pt x="526160" y="147908"/>
                    <a:pt x="537336" y="143082"/>
                  </a:cubicBezTo>
                  <a:cubicBezTo>
                    <a:pt x="543432" y="138256"/>
                    <a:pt x="546861" y="130128"/>
                    <a:pt x="545845" y="122254"/>
                  </a:cubicBezTo>
                  <a:lnTo>
                    <a:pt x="545845" y="120222"/>
                  </a:lnTo>
                  <a:lnTo>
                    <a:pt x="603757" y="120222"/>
                  </a:lnTo>
                  <a:cubicBezTo>
                    <a:pt x="603757" y="120603"/>
                    <a:pt x="603757" y="121238"/>
                    <a:pt x="603757" y="121619"/>
                  </a:cubicBezTo>
                  <a:cubicBezTo>
                    <a:pt x="604138" y="127080"/>
                    <a:pt x="604138" y="131525"/>
                    <a:pt x="604138" y="134319"/>
                  </a:cubicBezTo>
                  <a:cubicBezTo>
                    <a:pt x="604519" y="144606"/>
                    <a:pt x="602741" y="154893"/>
                    <a:pt x="599693" y="164799"/>
                  </a:cubicBezTo>
                  <a:cubicBezTo>
                    <a:pt x="597026" y="172292"/>
                    <a:pt x="591946" y="179150"/>
                    <a:pt x="585469" y="183977"/>
                  </a:cubicBezTo>
                  <a:cubicBezTo>
                    <a:pt x="577976" y="189057"/>
                    <a:pt x="569848" y="192486"/>
                    <a:pt x="561085" y="193883"/>
                  </a:cubicBezTo>
                  <a:cubicBezTo>
                    <a:pt x="546226" y="196296"/>
                    <a:pt x="531240" y="197312"/>
                    <a:pt x="516381" y="196931"/>
                  </a:cubicBezTo>
                  <a:lnTo>
                    <a:pt x="452500" y="196931"/>
                  </a:lnTo>
                  <a:cubicBezTo>
                    <a:pt x="437895" y="197312"/>
                    <a:pt x="423671" y="196296"/>
                    <a:pt x="409574" y="193883"/>
                  </a:cubicBezTo>
                  <a:cubicBezTo>
                    <a:pt x="401065" y="192232"/>
                    <a:pt x="392937" y="188422"/>
                    <a:pt x="385825" y="182961"/>
                  </a:cubicBezTo>
                  <a:cubicBezTo>
                    <a:pt x="378332" y="177118"/>
                    <a:pt x="372617" y="169244"/>
                    <a:pt x="369188" y="160354"/>
                  </a:cubicBezTo>
                  <a:cubicBezTo>
                    <a:pt x="365506" y="149432"/>
                    <a:pt x="363728" y="138129"/>
                    <a:pt x="364109" y="126445"/>
                  </a:cubicBezTo>
                  <a:lnTo>
                    <a:pt x="364109" y="73867"/>
                  </a:lnTo>
                  <a:cubicBezTo>
                    <a:pt x="364109" y="46561"/>
                    <a:pt x="370585" y="27384"/>
                    <a:pt x="383031" y="16462"/>
                  </a:cubicBezTo>
                  <a:cubicBezTo>
                    <a:pt x="395477" y="5540"/>
                    <a:pt x="418845" y="79"/>
                    <a:pt x="452119" y="79"/>
                  </a:cubicBezTo>
                  <a:lnTo>
                    <a:pt x="516127" y="79"/>
                  </a:lnTo>
                  <a:cubicBezTo>
                    <a:pt x="531367" y="-302"/>
                    <a:pt x="546226" y="714"/>
                    <a:pt x="561466" y="2873"/>
                  </a:cubicBezTo>
                  <a:cubicBezTo>
                    <a:pt x="569594" y="4270"/>
                    <a:pt x="577722" y="7318"/>
                    <a:pt x="584453" y="12398"/>
                  </a:cubicBezTo>
                  <a:cubicBezTo>
                    <a:pt x="590549" y="17224"/>
                    <a:pt x="594994" y="23701"/>
                    <a:pt x="597661" y="31194"/>
                  </a:cubicBezTo>
                  <a:cubicBezTo>
                    <a:pt x="600709" y="40719"/>
                    <a:pt x="602106" y="50625"/>
                    <a:pt x="601725" y="60659"/>
                  </a:cubicBezTo>
                  <a:lnTo>
                    <a:pt x="601725" y="67136"/>
                  </a:lnTo>
                  <a:cubicBezTo>
                    <a:pt x="601725" y="68533"/>
                    <a:pt x="601725" y="69930"/>
                    <a:pt x="601344" y="71581"/>
                  </a:cubicBezTo>
                  <a:lnTo>
                    <a:pt x="544575" y="71581"/>
                  </a:lnTo>
                  <a:close/>
                  <a:moveTo>
                    <a:pt x="757808" y="194391"/>
                  </a:moveTo>
                  <a:lnTo>
                    <a:pt x="700912" y="194391"/>
                  </a:lnTo>
                  <a:lnTo>
                    <a:pt x="700912" y="49228"/>
                  </a:lnTo>
                  <a:lnTo>
                    <a:pt x="622680" y="49228"/>
                  </a:lnTo>
                  <a:lnTo>
                    <a:pt x="622680" y="2365"/>
                  </a:lnTo>
                  <a:lnTo>
                    <a:pt x="835913" y="2365"/>
                  </a:lnTo>
                  <a:lnTo>
                    <a:pt x="835913" y="49228"/>
                  </a:lnTo>
                  <a:lnTo>
                    <a:pt x="757808" y="49228"/>
                  </a:lnTo>
                  <a:lnTo>
                    <a:pt x="757808" y="194264"/>
                  </a:lnTo>
                  <a:close/>
                  <a:moveTo>
                    <a:pt x="920622" y="194264"/>
                  </a:moveTo>
                  <a:lnTo>
                    <a:pt x="863726" y="194264"/>
                  </a:lnTo>
                  <a:lnTo>
                    <a:pt x="863726" y="2746"/>
                  </a:lnTo>
                  <a:lnTo>
                    <a:pt x="920876" y="2746"/>
                  </a:lnTo>
                  <a:lnTo>
                    <a:pt x="920495" y="194264"/>
                  </a:lnTo>
                  <a:close/>
                  <a:moveTo>
                    <a:pt x="1088643" y="48212"/>
                  </a:moveTo>
                  <a:lnTo>
                    <a:pt x="1063751" y="48212"/>
                  </a:lnTo>
                  <a:cubicBezTo>
                    <a:pt x="1044066" y="48212"/>
                    <a:pt x="1031620" y="50625"/>
                    <a:pt x="1026159" y="55452"/>
                  </a:cubicBezTo>
                  <a:cubicBezTo>
                    <a:pt x="1020698" y="60278"/>
                    <a:pt x="1017650" y="70438"/>
                    <a:pt x="1017650" y="85932"/>
                  </a:cubicBezTo>
                  <a:lnTo>
                    <a:pt x="1017650" y="112602"/>
                  </a:lnTo>
                  <a:cubicBezTo>
                    <a:pt x="1016253" y="122889"/>
                    <a:pt x="1019682" y="133430"/>
                    <a:pt x="1026794" y="140923"/>
                  </a:cubicBezTo>
                  <a:cubicBezTo>
                    <a:pt x="1032890" y="146003"/>
                    <a:pt x="1045082" y="148797"/>
                    <a:pt x="1063624" y="148797"/>
                  </a:cubicBezTo>
                  <a:lnTo>
                    <a:pt x="1096771" y="148797"/>
                  </a:lnTo>
                  <a:cubicBezTo>
                    <a:pt x="1108963" y="149813"/>
                    <a:pt x="1121155" y="148162"/>
                    <a:pt x="1132331" y="143336"/>
                  </a:cubicBezTo>
                  <a:cubicBezTo>
                    <a:pt x="1138427" y="138510"/>
                    <a:pt x="1141856" y="130382"/>
                    <a:pt x="1140840" y="122508"/>
                  </a:cubicBezTo>
                  <a:lnTo>
                    <a:pt x="1140840" y="120095"/>
                  </a:lnTo>
                  <a:lnTo>
                    <a:pt x="1198751" y="120095"/>
                  </a:lnTo>
                  <a:cubicBezTo>
                    <a:pt x="1198751" y="120476"/>
                    <a:pt x="1198751" y="121111"/>
                    <a:pt x="1198751" y="121492"/>
                  </a:cubicBezTo>
                  <a:cubicBezTo>
                    <a:pt x="1199133" y="126953"/>
                    <a:pt x="1199133" y="131398"/>
                    <a:pt x="1199133" y="134192"/>
                  </a:cubicBezTo>
                  <a:cubicBezTo>
                    <a:pt x="1199514" y="144479"/>
                    <a:pt x="1197736" y="154766"/>
                    <a:pt x="1194688" y="164672"/>
                  </a:cubicBezTo>
                  <a:cubicBezTo>
                    <a:pt x="1192021" y="172165"/>
                    <a:pt x="1186941" y="179023"/>
                    <a:pt x="1180464" y="183850"/>
                  </a:cubicBezTo>
                  <a:cubicBezTo>
                    <a:pt x="1172971" y="188930"/>
                    <a:pt x="1164843" y="192359"/>
                    <a:pt x="1156080" y="193756"/>
                  </a:cubicBezTo>
                  <a:cubicBezTo>
                    <a:pt x="1141221" y="196169"/>
                    <a:pt x="1126235" y="197185"/>
                    <a:pt x="1111376" y="196804"/>
                  </a:cubicBezTo>
                  <a:lnTo>
                    <a:pt x="1047495" y="196804"/>
                  </a:lnTo>
                  <a:cubicBezTo>
                    <a:pt x="1032890" y="197185"/>
                    <a:pt x="1018666" y="196169"/>
                    <a:pt x="1004569" y="193756"/>
                  </a:cubicBezTo>
                  <a:cubicBezTo>
                    <a:pt x="996060" y="192105"/>
                    <a:pt x="987932" y="188295"/>
                    <a:pt x="980820" y="182834"/>
                  </a:cubicBezTo>
                  <a:cubicBezTo>
                    <a:pt x="973327" y="176991"/>
                    <a:pt x="967612" y="169117"/>
                    <a:pt x="964183" y="160227"/>
                  </a:cubicBezTo>
                  <a:cubicBezTo>
                    <a:pt x="960500" y="149305"/>
                    <a:pt x="958722" y="138002"/>
                    <a:pt x="959103" y="126318"/>
                  </a:cubicBezTo>
                  <a:lnTo>
                    <a:pt x="959103" y="73867"/>
                  </a:lnTo>
                  <a:cubicBezTo>
                    <a:pt x="959103" y="46561"/>
                    <a:pt x="965580" y="27384"/>
                    <a:pt x="978026" y="16462"/>
                  </a:cubicBezTo>
                  <a:cubicBezTo>
                    <a:pt x="990472" y="5540"/>
                    <a:pt x="1013840" y="79"/>
                    <a:pt x="1047114" y="79"/>
                  </a:cubicBezTo>
                  <a:lnTo>
                    <a:pt x="1088008" y="79"/>
                  </a:lnTo>
                  <a:cubicBezTo>
                    <a:pt x="1087627" y="1476"/>
                    <a:pt x="1087627" y="2873"/>
                    <a:pt x="1087627" y="4143"/>
                  </a:cubicBezTo>
                  <a:lnTo>
                    <a:pt x="1087627" y="44148"/>
                  </a:lnTo>
                  <a:cubicBezTo>
                    <a:pt x="1088262" y="45545"/>
                    <a:pt x="1088643" y="46942"/>
                    <a:pt x="1088643" y="48212"/>
                  </a:cubicBezTo>
                  <a:close/>
                </a:path>
              </a:pathLst>
            </a:custGeom>
            <a:solidFill>
              <a:srgbClr val="B80000"/>
            </a:solidFill>
          </p:spPr>
          <p:txBody>
            <a:bodyPr/>
            <a:lstStyle/>
            <a:p>
              <a:endParaRPr lang="en-GB" sz="900"/>
            </a:p>
          </p:txBody>
        </p:sp>
        <p:sp>
          <p:nvSpPr>
            <p:cNvPr id="29" name="Freeform 29"/>
            <p:cNvSpPr/>
            <p:nvPr/>
          </p:nvSpPr>
          <p:spPr>
            <a:xfrm>
              <a:off x="1278507" y="174626"/>
              <a:ext cx="33528" cy="34036"/>
            </a:xfrm>
            <a:custGeom>
              <a:avLst/>
              <a:gdLst/>
              <a:ahLst/>
              <a:cxnLst/>
              <a:rect l="l" t="t" r="r" b="b"/>
              <a:pathLst>
                <a:path w="33528" h="34036">
                  <a:moveTo>
                    <a:pt x="33528" y="5080"/>
                  </a:moveTo>
                  <a:lnTo>
                    <a:pt x="33528" y="28957"/>
                  </a:lnTo>
                  <a:cubicBezTo>
                    <a:pt x="33528" y="31751"/>
                    <a:pt x="31115" y="34037"/>
                    <a:pt x="28448" y="34037"/>
                  </a:cubicBezTo>
                  <a:lnTo>
                    <a:pt x="5080" y="34037"/>
                  </a:lnTo>
                  <a:cubicBezTo>
                    <a:pt x="2413" y="34037"/>
                    <a:pt x="0" y="31624"/>
                    <a:pt x="0" y="28957"/>
                  </a:cubicBezTo>
                  <a:lnTo>
                    <a:pt x="0" y="5080"/>
                  </a:lnTo>
                  <a:cubicBezTo>
                    <a:pt x="0" y="2286"/>
                    <a:pt x="2413" y="0"/>
                    <a:pt x="5080" y="0"/>
                  </a:cubicBezTo>
                  <a:lnTo>
                    <a:pt x="28448" y="0"/>
                  </a:lnTo>
                  <a:cubicBezTo>
                    <a:pt x="31115" y="0"/>
                    <a:pt x="33528" y="2413"/>
                    <a:pt x="33528" y="5080"/>
                  </a:cubicBezTo>
                </a:path>
              </a:pathLst>
            </a:custGeom>
            <a:solidFill>
              <a:srgbClr val="F17E00"/>
            </a:solidFill>
          </p:spPr>
          <p:txBody>
            <a:bodyPr/>
            <a:lstStyle/>
            <a:p>
              <a:endParaRPr lang="en-GB" sz="900"/>
            </a:p>
          </p:txBody>
        </p:sp>
        <p:sp>
          <p:nvSpPr>
            <p:cNvPr id="30" name="Freeform 30"/>
            <p:cNvSpPr/>
            <p:nvPr/>
          </p:nvSpPr>
          <p:spPr>
            <a:xfrm>
              <a:off x="1190878" y="73407"/>
              <a:ext cx="33528" cy="34163"/>
            </a:xfrm>
            <a:custGeom>
              <a:avLst/>
              <a:gdLst/>
              <a:ahLst/>
              <a:cxnLst/>
              <a:rect l="l" t="t" r="r" b="b"/>
              <a:pathLst>
                <a:path w="33528" h="34163">
                  <a:moveTo>
                    <a:pt x="33528" y="5080"/>
                  </a:moveTo>
                  <a:lnTo>
                    <a:pt x="33528" y="29083"/>
                  </a:lnTo>
                  <a:cubicBezTo>
                    <a:pt x="33528" y="31877"/>
                    <a:pt x="31115" y="34163"/>
                    <a:pt x="28448" y="34163"/>
                  </a:cubicBezTo>
                  <a:lnTo>
                    <a:pt x="5080" y="34163"/>
                  </a:lnTo>
                  <a:cubicBezTo>
                    <a:pt x="2413" y="34163"/>
                    <a:pt x="0" y="31750"/>
                    <a:pt x="0" y="29083"/>
                  </a:cubicBezTo>
                  <a:lnTo>
                    <a:pt x="0" y="5080"/>
                  </a:lnTo>
                  <a:cubicBezTo>
                    <a:pt x="0" y="2286"/>
                    <a:pt x="2413" y="0"/>
                    <a:pt x="5080" y="0"/>
                  </a:cubicBezTo>
                  <a:lnTo>
                    <a:pt x="28447" y="0"/>
                  </a:lnTo>
                  <a:cubicBezTo>
                    <a:pt x="31115" y="0"/>
                    <a:pt x="33527" y="2413"/>
                    <a:pt x="33527" y="5080"/>
                  </a:cubicBezTo>
                </a:path>
              </a:pathLst>
            </a:custGeom>
            <a:solidFill>
              <a:srgbClr val="DC2B1C"/>
            </a:solidFill>
          </p:spPr>
          <p:txBody>
            <a:bodyPr/>
            <a:lstStyle/>
            <a:p>
              <a:endParaRPr lang="en-GB" sz="900"/>
            </a:p>
          </p:txBody>
        </p:sp>
        <p:sp>
          <p:nvSpPr>
            <p:cNvPr id="31" name="Freeform 31"/>
            <p:cNvSpPr/>
            <p:nvPr/>
          </p:nvSpPr>
          <p:spPr>
            <a:xfrm>
              <a:off x="1162049" y="131573"/>
              <a:ext cx="55880" cy="57785"/>
            </a:xfrm>
            <a:custGeom>
              <a:avLst/>
              <a:gdLst/>
              <a:ahLst/>
              <a:cxnLst/>
              <a:rect l="l" t="t" r="r" b="b"/>
              <a:pathLst>
                <a:path w="55880" h="57785">
                  <a:moveTo>
                    <a:pt x="55880" y="8890"/>
                  </a:moveTo>
                  <a:lnTo>
                    <a:pt x="55880" y="48895"/>
                  </a:lnTo>
                  <a:cubicBezTo>
                    <a:pt x="55880" y="53721"/>
                    <a:pt x="52197" y="57405"/>
                    <a:pt x="47371" y="57785"/>
                  </a:cubicBezTo>
                  <a:lnTo>
                    <a:pt x="8509" y="57785"/>
                  </a:lnTo>
                  <a:cubicBezTo>
                    <a:pt x="3810" y="57785"/>
                    <a:pt x="0" y="53721"/>
                    <a:pt x="0" y="48895"/>
                  </a:cubicBezTo>
                  <a:lnTo>
                    <a:pt x="0" y="8890"/>
                  </a:lnTo>
                  <a:cubicBezTo>
                    <a:pt x="0" y="4064"/>
                    <a:pt x="3683" y="381"/>
                    <a:pt x="8509" y="0"/>
                  </a:cubicBezTo>
                  <a:lnTo>
                    <a:pt x="47370" y="0"/>
                  </a:lnTo>
                  <a:cubicBezTo>
                    <a:pt x="52070" y="381"/>
                    <a:pt x="55880" y="4064"/>
                    <a:pt x="55880" y="8890"/>
                  </a:cubicBezTo>
                </a:path>
              </a:pathLst>
            </a:custGeom>
            <a:solidFill>
              <a:srgbClr val="DC2B1C"/>
            </a:solidFill>
          </p:spPr>
          <p:txBody>
            <a:bodyPr/>
            <a:lstStyle/>
            <a:p>
              <a:endParaRPr lang="en-GB" sz="900"/>
            </a:p>
          </p:txBody>
        </p:sp>
        <p:sp>
          <p:nvSpPr>
            <p:cNvPr id="32" name="Freeform 32"/>
            <p:cNvSpPr/>
            <p:nvPr/>
          </p:nvSpPr>
          <p:spPr>
            <a:xfrm>
              <a:off x="1254505" y="63501"/>
              <a:ext cx="24384" cy="25019"/>
            </a:xfrm>
            <a:custGeom>
              <a:avLst/>
              <a:gdLst/>
              <a:ahLst/>
              <a:cxnLst/>
              <a:rect l="l" t="t" r="r" b="b"/>
              <a:pathLst>
                <a:path w="24384" h="25019">
                  <a:moveTo>
                    <a:pt x="24383" y="3810"/>
                  </a:moveTo>
                  <a:lnTo>
                    <a:pt x="24383" y="21209"/>
                  </a:lnTo>
                  <a:cubicBezTo>
                    <a:pt x="24383" y="23241"/>
                    <a:pt x="22732" y="25019"/>
                    <a:pt x="20700" y="25019"/>
                  </a:cubicBezTo>
                  <a:lnTo>
                    <a:pt x="3683" y="25019"/>
                  </a:lnTo>
                  <a:cubicBezTo>
                    <a:pt x="1650" y="25019"/>
                    <a:pt x="0" y="23368"/>
                    <a:pt x="0" y="21209"/>
                  </a:cubicBezTo>
                  <a:lnTo>
                    <a:pt x="0" y="3810"/>
                  </a:lnTo>
                  <a:cubicBezTo>
                    <a:pt x="0" y="1778"/>
                    <a:pt x="1650" y="0"/>
                    <a:pt x="3683" y="0"/>
                  </a:cubicBezTo>
                  <a:lnTo>
                    <a:pt x="20573" y="0"/>
                  </a:lnTo>
                  <a:cubicBezTo>
                    <a:pt x="22605" y="0"/>
                    <a:pt x="24256" y="1651"/>
                    <a:pt x="24256" y="3810"/>
                  </a:cubicBezTo>
                </a:path>
              </a:pathLst>
            </a:custGeom>
            <a:solidFill>
              <a:srgbClr val="DC2B1C"/>
            </a:solidFill>
          </p:spPr>
          <p:txBody>
            <a:bodyPr/>
            <a:lstStyle/>
            <a:p>
              <a:endParaRPr lang="en-GB" sz="900"/>
            </a:p>
          </p:txBody>
        </p:sp>
        <p:sp>
          <p:nvSpPr>
            <p:cNvPr id="33" name="Freeform 33"/>
            <p:cNvSpPr/>
            <p:nvPr/>
          </p:nvSpPr>
          <p:spPr>
            <a:xfrm>
              <a:off x="1236217" y="116587"/>
              <a:ext cx="47371" cy="48895"/>
            </a:xfrm>
            <a:custGeom>
              <a:avLst/>
              <a:gdLst/>
              <a:ahLst/>
              <a:cxnLst/>
              <a:rect l="l" t="t" r="r" b="b"/>
              <a:pathLst>
                <a:path w="47371" h="48895">
                  <a:moveTo>
                    <a:pt x="47370" y="7493"/>
                  </a:moveTo>
                  <a:lnTo>
                    <a:pt x="47370" y="41402"/>
                  </a:lnTo>
                  <a:cubicBezTo>
                    <a:pt x="47370" y="45466"/>
                    <a:pt x="44322" y="48641"/>
                    <a:pt x="40258" y="48895"/>
                  </a:cubicBezTo>
                  <a:lnTo>
                    <a:pt x="7112" y="48895"/>
                  </a:lnTo>
                  <a:cubicBezTo>
                    <a:pt x="3048" y="48895"/>
                    <a:pt x="0" y="45466"/>
                    <a:pt x="0" y="41402"/>
                  </a:cubicBezTo>
                  <a:lnTo>
                    <a:pt x="0" y="7493"/>
                  </a:lnTo>
                  <a:cubicBezTo>
                    <a:pt x="0" y="3429"/>
                    <a:pt x="3048" y="254"/>
                    <a:pt x="7112" y="0"/>
                  </a:cubicBezTo>
                  <a:lnTo>
                    <a:pt x="40258" y="0"/>
                  </a:lnTo>
                  <a:cubicBezTo>
                    <a:pt x="44322" y="381"/>
                    <a:pt x="47370" y="3429"/>
                    <a:pt x="47370" y="7493"/>
                  </a:cubicBezTo>
                </a:path>
              </a:pathLst>
            </a:custGeom>
            <a:solidFill>
              <a:srgbClr val="F17E00"/>
            </a:solidFill>
          </p:spPr>
          <p:txBody>
            <a:bodyPr/>
            <a:lstStyle/>
            <a:p>
              <a:endParaRPr lang="en-GB" sz="900"/>
            </a:p>
          </p:txBody>
        </p:sp>
      </p:grpSp>
      <p:grpSp>
        <p:nvGrpSpPr>
          <p:cNvPr id="34" name="Group 34"/>
          <p:cNvGrpSpPr/>
          <p:nvPr/>
        </p:nvGrpSpPr>
        <p:grpSpPr>
          <a:xfrm>
            <a:off x="3649685" y="1694431"/>
            <a:ext cx="566738" cy="109538"/>
            <a:chOff x="0" y="0"/>
            <a:chExt cx="1511300" cy="292100"/>
          </a:xfrm>
        </p:grpSpPr>
        <p:sp>
          <p:nvSpPr>
            <p:cNvPr id="35" name="Freeform 35"/>
            <p:cNvSpPr/>
            <p:nvPr/>
          </p:nvSpPr>
          <p:spPr>
            <a:xfrm>
              <a:off x="0" y="0"/>
              <a:ext cx="1511300" cy="292100"/>
            </a:xfrm>
            <a:custGeom>
              <a:avLst/>
              <a:gdLst/>
              <a:ahLst/>
              <a:cxnLst/>
              <a:rect l="l" t="t" r="r" b="b"/>
              <a:pathLst>
                <a:path w="1511300" h="292100">
                  <a:moveTo>
                    <a:pt x="0" y="0"/>
                  </a:moveTo>
                  <a:lnTo>
                    <a:pt x="1511300" y="0"/>
                  </a:lnTo>
                  <a:lnTo>
                    <a:pt x="1511300" y="292100"/>
                  </a:lnTo>
                  <a:lnTo>
                    <a:pt x="0" y="292100"/>
                  </a:lnTo>
                  <a:lnTo>
                    <a:pt x="0" y="0"/>
                  </a:lnTo>
                  <a:close/>
                </a:path>
              </a:pathLst>
            </a:custGeom>
            <a:blipFill>
              <a:blip r:embed="rId6"/>
              <a:stretch>
                <a:fillRect t="-215743" b="-201647"/>
              </a:stretch>
            </a:blipFill>
          </p:spPr>
          <p:txBody>
            <a:bodyPr/>
            <a:lstStyle/>
            <a:p>
              <a:endParaRPr lang="en-GB" sz="900"/>
            </a:p>
          </p:txBody>
        </p:sp>
      </p:grpSp>
      <p:grpSp>
        <p:nvGrpSpPr>
          <p:cNvPr id="36" name="Group 36"/>
          <p:cNvGrpSpPr/>
          <p:nvPr/>
        </p:nvGrpSpPr>
        <p:grpSpPr>
          <a:xfrm>
            <a:off x="2938763" y="1644720"/>
            <a:ext cx="638175" cy="161925"/>
            <a:chOff x="0" y="0"/>
            <a:chExt cx="1701800" cy="431800"/>
          </a:xfrm>
        </p:grpSpPr>
        <p:sp>
          <p:nvSpPr>
            <p:cNvPr id="37" name="Freeform 37"/>
            <p:cNvSpPr/>
            <p:nvPr/>
          </p:nvSpPr>
          <p:spPr>
            <a:xfrm>
              <a:off x="0" y="0"/>
              <a:ext cx="1701800" cy="431800"/>
            </a:xfrm>
            <a:custGeom>
              <a:avLst/>
              <a:gdLst/>
              <a:ahLst/>
              <a:cxnLst/>
              <a:rect l="l" t="t" r="r" b="b"/>
              <a:pathLst>
                <a:path w="1701800" h="431800">
                  <a:moveTo>
                    <a:pt x="0" y="0"/>
                  </a:moveTo>
                  <a:lnTo>
                    <a:pt x="1701800" y="0"/>
                  </a:lnTo>
                  <a:lnTo>
                    <a:pt x="1701800" y="431800"/>
                  </a:lnTo>
                  <a:lnTo>
                    <a:pt x="0" y="431800"/>
                  </a:lnTo>
                  <a:lnTo>
                    <a:pt x="0" y="0"/>
                  </a:lnTo>
                  <a:close/>
                </a:path>
              </a:pathLst>
            </a:custGeom>
            <a:blipFill>
              <a:blip r:embed="rId7"/>
              <a:stretch>
                <a:fillRect/>
              </a:stretch>
            </a:blipFill>
          </p:spPr>
          <p:txBody>
            <a:bodyPr/>
            <a:lstStyle/>
            <a:p>
              <a:endParaRPr lang="en-GB" sz="900"/>
            </a:p>
          </p:txBody>
        </p:sp>
      </p:grpSp>
      <p:grpSp>
        <p:nvGrpSpPr>
          <p:cNvPr id="38" name="Group 38"/>
          <p:cNvGrpSpPr/>
          <p:nvPr/>
        </p:nvGrpSpPr>
        <p:grpSpPr>
          <a:xfrm>
            <a:off x="3656014" y="1893265"/>
            <a:ext cx="671513" cy="161925"/>
            <a:chOff x="0" y="0"/>
            <a:chExt cx="1790700" cy="431800"/>
          </a:xfrm>
        </p:grpSpPr>
        <p:sp>
          <p:nvSpPr>
            <p:cNvPr id="39" name="Freeform 39"/>
            <p:cNvSpPr/>
            <p:nvPr/>
          </p:nvSpPr>
          <p:spPr>
            <a:xfrm>
              <a:off x="0" y="0"/>
              <a:ext cx="1790700" cy="431800"/>
            </a:xfrm>
            <a:custGeom>
              <a:avLst/>
              <a:gdLst/>
              <a:ahLst/>
              <a:cxnLst/>
              <a:rect l="l" t="t" r="r" b="b"/>
              <a:pathLst>
                <a:path w="1790700" h="431800">
                  <a:moveTo>
                    <a:pt x="0" y="0"/>
                  </a:moveTo>
                  <a:lnTo>
                    <a:pt x="1790700" y="0"/>
                  </a:lnTo>
                  <a:lnTo>
                    <a:pt x="1790700" y="431800"/>
                  </a:lnTo>
                  <a:lnTo>
                    <a:pt x="0" y="431800"/>
                  </a:lnTo>
                  <a:lnTo>
                    <a:pt x="0" y="0"/>
                  </a:lnTo>
                  <a:close/>
                </a:path>
              </a:pathLst>
            </a:custGeom>
            <a:blipFill>
              <a:blip r:embed="rId8"/>
              <a:stretch>
                <a:fillRect l="-24072" t="-144276" r="-22026" b="-158664"/>
              </a:stretch>
            </a:blipFill>
          </p:spPr>
          <p:txBody>
            <a:bodyPr/>
            <a:lstStyle/>
            <a:p>
              <a:endParaRPr lang="en-GB" sz="900"/>
            </a:p>
          </p:txBody>
        </p:sp>
      </p:grpSp>
      <p:grpSp>
        <p:nvGrpSpPr>
          <p:cNvPr id="40" name="Group 40"/>
          <p:cNvGrpSpPr/>
          <p:nvPr/>
        </p:nvGrpSpPr>
        <p:grpSpPr>
          <a:xfrm>
            <a:off x="257294" y="2523854"/>
            <a:ext cx="738188" cy="166688"/>
            <a:chOff x="0" y="0"/>
            <a:chExt cx="1968500" cy="444500"/>
          </a:xfrm>
        </p:grpSpPr>
        <p:sp>
          <p:nvSpPr>
            <p:cNvPr id="41" name="Freeform 41"/>
            <p:cNvSpPr/>
            <p:nvPr/>
          </p:nvSpPr>
          <p:spPr>
            <a:xfrm>
              <a:off x="0" y="0"/>
              <a:ext cx="1968500" cy="444500"/>
            </a:xfrm>
            <a:custGeom>
              <a:avLst/>
              <a:gdLst/>
              <a:ahLst/>
              <a:cxnLst/>
              <a:rect l="l" t="t" r="r" b="b"/>
              <a:pathLst>
                <a:path w="1968500" h="444500">
                  <a:moveTo>
                    <a:pt x="0" y="0"/>
                  </a:moveTo>
                  <a:lnTo>
                    <a:pt x="1968500" y="0"/>
                  </a:lnTo>
                  <a:lnTo>
                    <a:pt x="1968500" y="444500"/>
                  </a:lnTo>
                  <a:lnTo>
                    <a:pt x="0" y="444500"/>
                  </a:lnTo>
                  <a:lnTo>
                    <a:pt x="0" y="0"/>
                  </a:lnTo>
                  <a:close/>
                </a:path>
              </a:pathLst>
            </a:custGeom>
            <a:blipFill>
              <a:blip r:embed="rId9"/>
              <a:stretch>
                <a:fillRect l="-10431" t="-22122" r="-7632" b="-26448"/>
              </a:stretch>
            </a:blipFill>
          </p:spPr>
          <p:txBody>
            <a:bodyPr/>
            <a:lstStyle/>
            <a:p>
              <a:endParaRPr lang="en-GB" sz="900"/>
            </a:p>
          </p:txBody>
        </p:sp>
      </p:grpSp>
      <p:grpSp>
        <p:nvGrpSpPr>
          <p:cNvPr id="42" name="Group 42"/>
          <p:cNvGrpSpPr/>
          <p:nvPr/>
        </p:nvGrpSpPr>
        <p:grpSpPr>
          <a:xfrm>
            <a:off x="1077835" y="1349369"/>
            <a:ext cx="1147763" cy="166688"/>
            <a:chOff x="0" y="0"/>
            <a:chExt cx="3060700" cy="444500"/>
          </a:xfrm>
        </p:grpSpPr>
        <p:sp>
          <p:nvSpPr>
            <p:cNvPr id="43" name="Freeform 43"/>
            <p:cNvSpPr/>
            <p:nvPr/>
          </p:nvSpPr>
          <p:spPr>
            <a:xfrm>
              <a:off x="0" y="0"/>
              <a:ext cx="3060700" cy="444500"/>
            </a:xfrm>
            <a:custGeom>
              <a:avLst/>
              <a:gdLst/>
              <a:ahLst/>
              <a:cxnLst/>
              <a:rect l="l" t="t" r="r" b="b"/>
              <a:pathLst>
                <a:path w="3060700" h="444500">
                  <a:moveTo>
                    <a:pt x="0" y="0"/>
                  </a:moveTo>
                  <a:lnTo>
                    <a:pt x="3060700" y="0"/>
                  </a:lnTo>
                  <a:lnTo>
                    <a:pt x="3060700" y="444500"/>
                  </a:lnTo>
                  <a:lnTo>
                    <a:pt x="0" y="444500"/>
                  </a:lnTo>
                  <a:lnTo>
                    <a:pt x="0" y="0"/>
                  </a:lnTo>
                  <a:close/>
                </a:path>
              </a:pathLst>
            </a:custGeom>
            <a:blipFill>
              <a:blip r:embed="rId10"/>
              <a:stretch>
                <a:fillRect l="-5512" t="-141182" r="-4446" b="-135960"/>
              </a:stretch>
            </a:blipFill>
          </p:spPr>
          <p:txBody>
            <a:bodyPr/>
            <a:lstStyle/>
            <a:p>
              <a:endParaRPr lang="en-GB" sz="900"/>
            </a:p>
          </p:txBody>
        </p:sp>
      </p:grpSp>
      <p:grpSp>
        <p:nvGrpSpPr>
          <p:cNvPr id="44" name="Group 44"/>
          <p:cNvGrpSpPr/>
          <p:nvPr/>
        </p:nvGrpSpPr>
        <p:grpSpPr>
          <a:xfrm>
            <a:off x="319135" y="1336420"/>
            <a:ext cx="614363" cy="195263"/>
            <a:chOff x="0" y="0"/>
            <a:chExt cx="1638300" cy="520700"/>
          </a:xfrm>
        </p:grpSpPr>
        <p:sp>
          <p:nvSpPr>
            <p:cNvPr id="45" name="Freeform 45"/>
            <p:cNvSpPr/>
            <p:nvPr/>
          </p:nvSpPr>
          <p:spPr>
            <a:xfrm>
              <a:off x="0" y="0"/>
              <a:ext cx="1638300" cy="520700"/>
            </a:xfrm>
            <a:custGeom>
              <a:avLst/>
              <a:gdLst/>
              <a:ahLst/>
              <a:cxnLst/>
              <a:rect l="l" t="t" r="r" b="b"/>
              <a:pathLst>
                <a:path w="1638300" h="520700">
                  <a:moveTo>
                    <a:pt x="0" y="0"/>
                  </a:moveTo>
                  <a:lnTo>
                    <a:pt x="1638300" y="0"/>
                  </a:lnTo>
                  <a:lnTo>
                    <a:pt x="1638300" y="520700"/>
                  </a:lnTo>
                  <a:lnTo>
                    <a:pt x="0" y="520700"/>
                  </a:lnTo>
                  <a:lnTo>
                    <a:pt x="0" y="0"/>
                  </a:lnTo>
                  <a:close/>
                </a:path>
              </a:pathLst>
            </a:custGeom>
            <a:blipFill>
              <a:blip r:embed="rId11"/>
              <a:stretch>
                <a:fillRect t="-1058" b="-1380"/>
              </a:stretch>
            </a:blipFill>
          </p:spPr>
          <p:txBody>
            <a:bodyPr/>
            <a:lstStyle/>
            <a:p>
              <a:endParaRPr lang="en-GB" sz="900"/>
            </a:p>
          </p:txBody>
        </p:sp>
      </p:grpSp>
      <p:grpSp>
        <p:nvGrpSpPr>
          <p:cNvPr id="46" name="Group 46"/>
          <p:cNvGrpSpPr/>
          <p:nvPr/>
        </p:nvGrpSpPr>
        <p:grpSpPr>
          <a:xfrm>
            <a:off x="248060" y="2151641"/>
            <a:ext cx="757238" cy="166688"/>
            <a:chOff x="0" y="0"/>
            <a:chExt cx="2019300" cy="444500"/>
          </a:xfrm>
        </p:grpSpPr>
        <p:sp>
          <p:nvSpPr>
            <p:cNvPr id="47" name="Freeform 47"/>
            <p:cNvSpPr/>
            <p:nvPr/>
          </p:nvSpPr>
          <p:spPr>
            <a:xfrm>
              <a:off x="0" y="0"/>
              <a:ext cx="2019300" cy="444500"/>
            </a:xfrm>
            <a:custGeom>
              <a:avLst/>
              <a:gdLst/>
              <a:ahLst/>
              <a:cxnLst/>
              <a:rect l="l" t="t" r="r" b="b"/>
              <a:pathLst>
                <a:path w="2019300" h="444500">
                  <a:moveTo>
                    <a:pt x="0" y="0"/>
                  </a:moveTo>
                  <a:lnTo>
                    <a:pt x="2019300" y="0"/>
                  </a:lnTo>
                  <a:lnTo>
                    <a:pt x="2019300" y="444500"/>
                  </a:lnTo>
                  <a:lnTo>
                    <a:pt x="0" y="444500"/>
                  </a:lnTo>
                  <a:lnTo>
                    <a:pt x="0" y="0"/>
                  </a:lnTo>
                  <a:close/>
                </a:path>
              </a:pathLst>
            </a:custGeom>
            <a:blipFill>
              <a:blip r:embed="rId12"/>
              <a:stretch>
                <a:fillRect/>
              </a:stretch>
            </a:blipFill>
          </p:spPr>
          <p:txBody>
            <a:bodyPr/>
            <a:lstStyle/>
            <a:p>
              <a:endParaRPr lang="en-GB" sz="900"/>
            </a:p>
          </p:txBody>
        </p:sp>
      </p:grpSp>
      <p:grpSp>
        <p:nvGrpSpPr>
          <p:cNvPr id="48" name="Group 48"/>
          <p:cNvGrpSpPr/>
          <p:nvPr/>
        </p:nvGrpSpPr>
        <p:grpSpPr>
          <a:xfrm>
            <a:off x="1467884" y="2151641"/>
            <a:ext cx="366713" cy="166688"/>
            <a:chOff x="0" y="0"/>
            <a:chExt cx="977900" cy="444500"/>
          </a:xfrm>
        </p:grpSpPr>
        <p:sp>
          <p:nvSpPr>
            <p:cNvPr id="49" name="Freeform 49"/>
            <p:cNvSpPr/>
            <p:nvPr/>
          </p:nvSpPr>
          <p:spPr>
            <a:xfrm>
              <a:off x="0" y="0"/>
              <a:ext cx="977900" cy="444500"/>
            </a:xfrm>
            <a:custGeom>
              <a:avLst/>
              <a:gdLst/>
              <a:ahLst/>
              <a:cxnLst/>
              <a:rect l="l" t="t" r="r" b="b"/>
              <a:pathLst>
                <a:path w="977900" h="444500">
                  <a:moveTo>
                    <a:pt x="0" y="0"/>
                  </a:moveTo>
                  <a:lnTo>
                    <a:pt x="977900" y="0"/>
                  </a:lnTo>
                  <a:lnTo>
                    <a:pt x="977900" y="444500"/>
                  </a:lnTo>
                  <a:lnTo>
                    <a:pt x="0" y="444500"/>
                  </a:lnTo>
                  <a:lnTo>
                    <a:pt x="0" y="0"/>
                  </a:lnTo>
                  <a:close/>
                </a:path>
              </a:pathLst>
            </a:custGeom>
            <a:blipFill>
              <a:blip r:embed="rId13"/>
              <a:stretch>
                <a:fillRect r="-2597" b="-2857"/>
              </a:stretch>
            </a:blipFill>
          </p:spPr>
          <p:txBody>
            <a:bodyPr/>
            <a:lstStyle/>
            <a:p>
              <a:endParaRPr lang="en-GB" sz="900"/>
            </a:p>
          </p:txBody>
        </p:sp>
      </p:grpSp>
      <p:grpSp>
        <p:nvGrpSpPr>
          <p:cNvPr id="50" name="Group 50"/>
          <p:cNvGrpSpPr/>
          <p:nvPr/>
        </p:nvGrpSpPr>
        <p:grpSpPr>
          <a:xfrm>
            <a:off x="309267" y="3268275"/>
            <a:ext cx="633413" cy="166688"/>
            <a:chOff x="0" y="0"/>
            <a:chExt cx="1689100" cy="444500"/>
          </a:xfrm>
        </p:grpSpPr>
        <p:sp>
          <p:nvSpPr>
            <p:cNvPr id="51" name="Freeform 51"/>
            <p:cNvSpPr/>
            <p:nvPr/>
          </p:nvSpPr>
          <p:spPr>
            <a:xfrm>
              <a:off x="0" y="0"/>
              <a:ext cx="1689100" cy="444500"/>
            </a:xfrm>
            <a:custGeom>
              <a:avLst/>
              <a:gdLst/>
              <a:ahLst/>
              <a:cxnLst/>
              <a:rect l="l" t="t" r="r" b="b"/>
              <a:pathLst>
                <a:path w="1689100" h="444500">
                  <a:moveTo>
                    <a:pt x="0" y="0"/>
                  </a:moveTo>
                  <a:lnTo>
                    <a:pt x="1689100" y="0"/>
                  </a:lnTo>
                  <a:lnTo>
                    <a:pt x="1689100" y="444500"/>
                  </a:lnTo>
                  <a:lnTo>
                    <a:pt x="0" y="444500"/>
                  </a:lnTo>
                  <a:lnTo>
                    <a:pt x="0" y="0"/>
                  </a:lnTo>
                  <a:close/>
                </a:path>
              </a:pathLst>
            </a:custGeom>
            <a:blipFill>
              <a:blip r:embed="rId14"/>
              <a:stretch>
                <a:fillRect/>
              </a:stretch>
            </a:blipFill>
          </p:spPr>
          <p:txBody>
            <a:bodyPr/>
            <a:lstStyle/>
            <a:p>
              <a:endParaRPr lang="en-GB" sz="900"/>
            </a:p>
          </p:txBody>
        </p:sp>
      </p:grpSp>
      <p:grpSp>
        <p:nvGrpSpPr>
          <p:cNvPr id="52" name="Group 52"/>
          <p:cNvGrpSpPr/>
          <p:nvPr/>
        </p:nvGrpSpPr>
        <p:grpSpPr>
          <a:xfrm>
            <a:off x="285469" y="4032614"/>
            <a:ext cx="681038" cy="166688"/>
            <a:chOff x="0" y="0"/>
            <a:chExt cx="1816100" cy="444500"/>
          </a:xfrm>
        </p:grpSpPr>
        <p:sp>
          <p:nvSpPr>
            <p:cNvPr id="53" name="Freeform 53"/>
            <p:cNvSpPr/>
            <p:nvPr/>
          </p:nvSpPr>
          <p:spPr>
            <a:xfrm>
              <a:off x="0" y="0"/>
              <a:ext cx="1816100" cy="444500"/>
            </a:xfrm>
            <a:custGeom>
              <a:avLst/>
              <a:gdLst/>
              <a:ahLst/>
              <a:cxnLst/>
              <a:rect l="l" t="t" r="r" b="b"/>
              <a:pathLst>
                <a:path w="1816100" h="444500">
                  <a:moveTo>
                    <a:pt x="0" y="0"/>
                  </a:moveTo>
                  <a:lnTo>
                    <a:pt x="1816100" y="0"/>
                  </a:lnTo>
                  <a:lnTo>
                    <a:pt x="1816100" y="444500"/>
                  </a:lnTo>
                  <a:lnTo>
                    <a:pt x="0" y="444500"/>
                  </a:lnTo>
                  <a:lnTo>
                    <a:pt x="0" y="0"/>
                  </a:lnTo>
                  <a:close/>
                </a:path>
              </a:pathLst>
            </a:custGeom>
            <a:blipFill>
              <a:blip r:embed="rId15"/>
              <a:stretch>
                <a:fillRect t="-153625" b="-154945"/>
              </a:stretch>
            </a:blipFill>
          </p:spPr>
          <p:txBody>
            <a:bodyPr/>
            <a:lstStyle/>
            <a:p>
              <a:endParaRPr lang="en-GB" sz="900"/>
            </a:p>
          </p:txBody>
        </p:sp>
      </p:grpSp>
      <p:grpSp>
        <p:nvGrpSpPr>
          <p:cNvPr id="54" name="Group 54"/>
          <p:cNvGrpSpPr/>
          <p:nvPr/>
        </p:nvGrpSpPr>
        <p:grpSpPr>
          <a:xfrm>
            <a:off x="1289847" y="3268275"/>
            <a:ext cx="723900" cy="166688"/>
            <a:chOff x="0" y="0"/>
            <a:chExt cx="1930400" cy="444500"/>
          </a:xfrm>
        </p:grpSpPr>
        <p:sp>
          <p:nvSpPr>
            <p:cNvPr id="55" name="Freeform 55"/>
            <p:cNvSpPr/>
            <p:nvPr/>
          </p:nvSpPr>
          <p:spPr>
            <a:xfrm>
              <a:off x="0" y="0"/>
              <a:ext cx="1930400" cy="444500"/>
            </a:xfrm>
            <a:custGeom>
              <a:avLst/>
              <a:gdLst/>
              <a:ahLst/>
              <a:cxnLst/>
              <a:rect l="l" t="t" r="r" b="b"/>
              <a:pathLst>
                <a:path w="1930400" h="444500">
                  <a:moveTo>
                    <a:pt x="0" y="0"/>
                  </a:moveTo>
                  <a:lnTo>
                    <a:pt x="1930400" y="0"/>
                  </a:lnTo>
                  <a:lnTo>
                    <a:pt x="1930400" y="444500"/>
                  </a:lnTo>
                  <a:lnTo>
                    <a:pt x="0" y="444500"/>
                  </a:lnTo>
                  <a:lnTo>
                    <a:pt x="0" y="0"/>
                  </a:lnTo>
                  <a:close/>
                </a:path>
              </a:pathLst>
            </a:custGeom>
            <a:blipFill>
              <a:blip r:embed="rId16"/>
              <a:stretch>
                <a:fillRect/>
              </a:stretch>
            </a:blipFill>
          </p:spPr>
          <p:txBody>
            <a:bodyPr/>
            <a:lstStyle/>
            <a:p>
              <a:endParaRPr lang="en-GB" sz="900"/>
            </a:p>
          </p:txBody>
        </p:sp>
      </p:grpSp>
      <p:grpSp>
        <p:nvGrpSpPr>
          <p:cNvPr id="56" name="Group 56"/>
          <p:cNvGrpSpPr/>
          <p:nvPr/>
        </p:nvGrpSpPr>
        <p:grpSpPr>
          <a:xfrm>
            <a:off x="1309073" y="4032614"/>
            <a:ext cx="685800" cy="166688"/>
            <a:chOff x="0" y="0"/>
            <a:chExt cx="1828800" cy="444500"/>
          </a:xfrm>
        </p:grpSpPr>
        <p:sp>
          <p:nvSpPr>
            <p:cNvPr id="57" name="Freeform 57"/>
            <p:cNvSpPr/>
            <p:nvPr/>
          </p:nvSpPr>
          <p:spPr>
            <a:xfrm>
              <a:off x="0" y="0"/>
              <a:ext cx="1828800" cy="444500"/>
            </a:xfrm>
            <a:custGeom>
              <a:avLst/>
              <a:gdLst/>
              <a:ahLst/>
              <a:cxnLst/>
              <a:rect l="l" t="t" r="r" b="b"/>
              <a:pathLst>
                <a:path w="1828800" h="444500">
                  <a:moveTo>
                    <a:pt x="0" y="0"/>
                  </a:moveTo>
                  <a:lnTo>
                    <a:pt x="1828800" y="0"/>
                  </a:lnTo>
                  <a:lnTo>
                    <a:pt x="1828800" y="444500"/>
                  </a:lnTo>
                  <a:lnTo>
                    <a:pt x="0" y="444500"/>
                  </a:lnTo>
                  <a:lnTo>
                    <a:pt x="0" y="0"/>
                  </a:lnTo>
                  <a:close/>
                </a:path>
              </a:pathLst>
            </a:custGeom>
            <a:blipFill>
              <a:blip r:embed="rId17"/>
              <a:stretch>
                <a:fillRect l="-10102" t="-10400" r="-10036" b="-3885"/>
              </a:stretch>
            </a:blipFill>
          </p:spPr>
          <p:txBody>
            <a:bodyPr/>
            <a:lstStyle/>
            <a:p>
              <a:endParaRPr lang="en-GB" sz="900"/>
            </a:p>
          </p:txBody>
        </p:sp>
      </p:grpSp>
      <p:grpSp>
        <p:nvGrpSpPr>
          <p:cNvPr id="58" name="Group 58"/>
          <p:cNvGrpSpPr/>
          <p:nvPr/>
        </p:nvGrpSpPr>
        <p:grpSpPr>
          <a:xfrm>
            <a:off x="1403457" y="2523854"/>
            <a:ext cx="495300" cy="166688"/>
            <a:chOff x="0" y="0"/>
            <a:chExt cx="1320800" cy="444500"/>
          </a:xfrm>
        </p:grpSpPr>
        <p:sp>
          <p:nvSpPr>
            <p:cNvPr id="59" name="Freeform 59"/>
            <p:cNvSpPr/>
            <p:nvPr/>
          </p:nvSpPr>
          <p:spPr>
            <a:xfrm>
              <a:off x="0" y="0"/>
              <a:ext cx="1320800" cy="444500"/>
            </a:xfrm>
            <a:custGeom>
              <a:avLst/>
              <a:gdLst/>
              <a:ahLst/>
              <a:cxnLst/>
              <a:rect l="l" t="t" r="r" b="b"/>
              <a:pathLst>
                <a:path w="1320800" h="444500">
                  <a:moveTo>
                    <a:pt x="0" y="0"/>
                  </a:moveTo>
                  <a:lnTo>
                    <a:pt x="1320800" y="0"/>
                  </a:lnTo>
                  <a:lnTo>
                    <a:pt x="1320800" y="444500"/>
                  </a:lnTo>
                  <a:lnTo>
                    <a:pt x="0" y="444500"/>
                  </a:lnTo>
                  <a:lnTo>
                    <a:pt x="0" y="0"/>
                  </a:lnTo>
                  <a:close/>
                </a:path>
              </a:pathLst>
            </a:custGeom>
            <a:blipFill>
              <a:blip r:embed="rId18"/>
              <a:stretch>
                <a:fillRect t="-100342" r="-1923" b="-102514"/>
              </a:stretch>
            </a:blipFill>
          </p:spPr>
          <p:txBody>
            <a:bodyPr/>
            <a:lstStyle/>
            <a:p>
              <a:endParaRPr lang="en-GB" sz="900"/>
            </a:p>
          </p:txBody>
        </p:sp>
      </p:grpSp>
      <p:grpSp>
        <p:nvGrpSpPr>
          <p:cNvPr id="60" name="Group 60"/>
          <p:cNvGrpSpPr/>
          <p:nvPr/>
        </p:nvGrpSpPr>
        <p:grpSpPr>
          <a:xfrm>
            <a:off x="1139557" y="3640489"/>
            <a:ext cx="1023938" cy="190500"/>
            <a:chOff x="0" y="0"/>
            <a:chExt cx="2730500" cy="508000"/>
          </a:xfrm>
        </p:grpSpPr>
        <p:sp>
          <p:nvSpPr>
            <p:cNvPr id="61" name="Freeform 61"/>
            <p:cNvSpPr/>
            <p:nvPr/>
          </p:nvSpPr>
          <p:spPr>
            <a:xfrm>
              <a:off x="0" y="0"/>
              <a:ext cx="2730500" cy="508000"/>
            </a:xfrm>
            <a:custGeom>
              <a:avLst/>
              <a:gdLst/>
              <a:ahLst/>
              <a:cxnLst/>
              <a:rect l="l" t="t" r="r" b="b"/>
              <a:pathLst>
                <a:path w="2730500" h="508000">
                  <a:moveTo>
                    <a:pt x="0" y="0"/>
                  </a:moveTo>
                  <a:lnTo>
                    <a:pt x="2730500" y="0"/>
                  </a:lnTo>
                  <a:lnTo>
                    <a:pt x="2730500" y="508000"/>
                  </a:lnTo>
                  <a:lnTo>
                    <a:pt x="0" y="508000"/>
                  </a:lnTo>
                  <a:lnTo>
                    <a:pt x="0" y="0"/>
                  </a:lnTo>
                  <a:close/>
                </a:path>
              </a:pathLst>
            </a:custGeom>
            <a:blipFill>
              <a:blip r:embed="rId19"/>
              <a:stretch>
                <a:fillRect/>
              </a:stretch>
            </a:blipFill>
          </p:spPr>
          <p:txBody>
            <a:bodyPr/>
            <a:lstStyle/>
            <a:p>
              <a:endParaRPr lang="en-GB" sz="900"/>
            </a:p>
          </p:txBody>
        </p:sp>
      </p:grpSp>
      <p:grpSp>
        <p:nvGrpSpPr>
          <p:cNvPr id="62" name="Group 62"/>
          <p:cNvGrpSpPr/>
          <p:nvPr/>
        </p:nvGrpSpPr>
        <p:grpSpPr>
          <a:xfrm>
            <a:off x="336571" y="1734531"/>
            <a:ext cx="580944" cy="214313"/>
            <a:chOff x="0" y="0"/>
            <a:chExt cx="1549184" cy="571500"/>
          </a:xfrm>
        </p:grpSpPr>
        <p:sp>
          <p:nvSpPr>
            <p:cNvPr id="63" name="Freeform 63"/>
            <p:cNvSpPr/>
            <p:nvPr/>
          </p:nvSpPr>
          <p:spPr>
            <a:xfrm>
              <a:off x="0" y="0"/>
              <a:ext cx="1549146" cy="571500"/>
            </a:xfrm>
            <a:custGeom>
              <a:avLst/>
              <a:gdLst/>
              <a:ahLst/>
              <a:cxnLst/>
              <a:rect l="l" t="t" r="r" b="b"/>
              <a:pathLst>
                <a:path w="1549146" h="571500">
                  <a:moveTo>
                    <a:pt x="0" y="0"/>
                  </a:moveTo>
                  <a:lnTo>
                    <a:pt x="1549146" y="0"/>
                  </a:lnTo>
                  <a:lnTo>
                    <a:pt x="1549146" y="571500"/>
                  </a:lnTo>
                  <a:lnTo>
                    <a:pt x="0" y="571500"/>
                  </a:lnTo>
                  <a:lnTo>
                    <a:pt x="0" y="0"/>
                  </a:lnTo>
                  <a:close/>
                </a:path>
              </a:pathLst>
            </a:custGeom>
            <a:blipFill>
              <a:blip r:embed="rId20"/>
              <a:stretch>
                <a:fillRect l="-3293" t="-18864" r="-2" b="-18913"/>
              </a:stretch>
            </a:blipFill>
          </p:spPr>
          <p:txBody>
            <a:bodyPr/>
            <a:lstStyle/>
            <a:p>
              <a:endParaRPr lang="en-GB" sz="900"/>
            </a:p>
          </p:txBody>
        </p:sp>
      </p:grpSp>
      <p:grpSp>
        <p:nvGrpSpPr>
          <p:cNvPr id="64" name="Group 64"/>
          <p:cNvGrpSpPr/>
          <p:nvPr/>
        </p:nvGrpSpPr>
        <p:grpSpPr>
          <a:xfrm>
            <a:off x="241983" y="4412242"/>
            <a:ext cx="766763" cy="147638"/>
            <a:chOff x="0" y="0"/>
            <a:chExt cx="2044700" cy="393700"/>
          </a:xfrm>
        </p:grpSpPr>
        <p:sp>
          <p:nvSpPr>
            <p:cNvPr id="65" name="Freeform 65"/>
            <p:cNvSpPr/>
            <p:nvPr/>
          </p:nvSpPr>
          <p:spPr>
            <a:xfrm>
              <a:off x="0" y="0"/>
              <a:ext cx="2044700" cy="393700"/>
            </a:xfrm>
            <a:custGeom>
              <a:avLst/>
              <a:gdLst/>
              <a:ahLst/>
              <a:cxnLst/>
              <a:rect l="l" t="t" r="r" b="b"/>
              <a:pathLst>
                <a:path w="2044700" h="393700">
                  <a:moveTo>
                    <a:pt x="0" y="0"/>
                  </a:moveTo>
                  <a:lnTo>
                    <a:pt x="2044700" y="0"/>
                  </a:lnTo>
                  <a:lnTo>
                    <a:pt x="2044700" y="393700"/>
                  </a:lnTo>
                  <a:lnTo>
                    <a:pt x="0" y="393700"/>
                  </a:lnTo>
                  <a:lnTo>
                    <a:pt x="0" y="0"/>
                  </a:lnTo>
                  <a:close/>
                </a:path>
              </a:pathLst>
            </a:custGeom>
            <a:blipFill>
              <a:blip r:embed="rId21"/>
              <a:stretch>
                <a:fillRect l="-15532" t="-90845" r="-15523" b="-96251"/>
              </a:stretch>
            </a:blipFill>
          </p:spPr>
          <p:txBody>
            <a:bodyPr/>
            <a:lstStyle/>
            <a:p>
              <a:endParaRPr lang="en-GB" sz="900"/>
            </a:p>
          </p:txBody>
        </p:sp>
      </p:grpSp>
      <p:grpSp>
        <p:nvGrpSpPr>
          <p:cNvPr id="66" name="Group 66"/>
          <p:cNvGrpSpPr/>
          <p:nvPr/>
        </p:nvGrpSpPr>
        <p:grpSpPr>
          <a:xfrm>
            <a:off x="1429193" y="1736732"/>
            <a:ext cx="442913" cy="209550"/>
            <a:chOff x="0" y="0"/>
            <a:chExt cx="1181100" cy="558800"/>
          </a:xfrm>
        </p:grpSpPr>
        <p:sp>
          <p:nvSpPr>
            <p:cNvPr id="67" name="Freeform 67"/>
            <p:cNvSpPr/>
            <p:nvPr/>
          </p:nvSpPr>
          <p:spPr>
            <a:xfrm>
              <a:off x="0" y="0"/>
              <a:ext cx="1181100" cy="558800"/>
            </a:xfrm>
            <a:custGeom>
              <a:avLst/>
              <a:gdLst/>
              <a:ahLst/>
              <a:cxnLst/>
              <a:rect l="l" t="t" r="r" b="b"/>
              <a:pathLst>
                <a:path w="1181100" h="558800">
                  <a:moveTo>
                    <a:pt x="0" y="0"/>
                  </a:moveTo>
                  <a:lnTo>
                    <a:pt x="1181100" y="0"/>
                  </a:lnTo>
                  <a:lnTo>
                    <a:pt x="1181100" y="558800"/>
                  </a:lnTo>
                  <a:lnTo>
                    <a:pt x="0" y="558800"/>
                  </a:lnTo>
                  <a:lnTo>
                    <a:pt x="0" y="0"/>
                  </a:lnTo>
                  <a:close/>
                </a:path>
              </a:pathLst>
            </a:custGeom>
            <a:blipFill>
              <a:blip r:embed="rId22"/>
              <a:stretch>
                <a:fillRect l="-31239" t="-33511" r="-35426" b="-41488"/>
              </a:stretch>
            </a:blipFill>
          </p:spPr>
          <p:txBody>
            <a:bodyPr/>
            <a:lstStyle/>
            <a:p>
              <a:endParaRPr lang="en-GB" sz="900"/>
            </a:p>
          </p:txBody>
        </p:sp>
      </p:grpSp>
      <p:grpSp>
        <p:nvGrpSpPr>
          <p:cNvPr id="68" name="Group 68"/>
          <p:cNvGrpSpPr/>
          <p:nvPr/>
        </p:nvGrpSpPr>
        <p:grpSpPr>
          <a:xfrm>
            <a:off x="242169" y="2933453"/>
            <a:ext cx="766763" cy="95250"/>
            <a:chOff x="0" y="0"/>
            <a:chExt cx="2044700" cy="254000"/>
          </a:xfrm>
        </p:grpSpPr>
        <p:sp>
          <p:nvSpPr>
            <p:cNvPr id="69" name="Freeform 69"/>
            <p:cNvSpPr/>
            <p:nvPr/>
          </p:nvSpPr>
          <p:spPr>
            <a:xfrm>
              <a:off x="0" y="0"/>
              <a:ext cx="2044700" cy="254000"/>
            </a:xfrm>
            <a:custGeom>
              <a:avLst/>
              <a:gdLst/>
              <a:ahLst/>
              <a:cxnLst/>
              <a:rect l="l" t="t" r="r" b="b"/>
              <a:pathLst>
                <a:path w="2044700" h="254000">
                  <a:moveTo>
                    <a:pt x="0" y="0"/>
                  </a:moveTo>
                  <a:lnTo>
                    <a:pt x="2044700" y="0"/>
                  </a:lnTo>
                  <a:lnTo>
                    <a:pt x="2044700" y="254000"/>
                  </a:lnTo>
                  <a:lnTo>
                    <a:pt x="0" y="254000"/>
                  </a:lnTo>
                  <a:lnTo>
                    <a:pt x="0" y="0"/>
                  </a:lnTo>
                  <a:close/>
                </a:path>
              </a:pathLst>
            </a:custGeom>
            <a:blipFill>
              <a:blip r:embed="rId23"/>
              <a:stretch>
                <a:fillRect l="-4877" t="-39110" r="-5681" b="-30890"/>
              </a:stretch>
            </a:blipFill>
          </p:spPr>
          <p:txBody>
            <a:bodyPr/>
            <a:lstStyle/>
            <a:p>
              <a:endParaRPr lang="en-GB" sz="900"/>
            </a:p>
          </p:txBody>
        </p:sp>
      </p:grpSp>
      <p:grpSp>
        <p:nvGrpSpPr>
          <p:cNvPr id="70" name="Group 70"/>
          <p:cNvGrpSpPr/>
          <p:nvPr/>
        </p:nvGrpSpPr>
        <p:grpSpPr>
          <a:xfrm>
            <a:off x="1432060" y="2940696"/>
            <a:ext cx="681609" cy="69809"/>
            <a:chOff x="0" y="0"/>
            <a:chExt cx="1817624" cy="186157"/>
          </a:xfrm>
        </p:grpSpPr>
        <p:sp>
          <p:nvSpPr>
            <p:cNvPr id="71" name="Freeform 71"/>
            <p:cNvSpPr/>
            <p:nvPr/>
          </p:nvSpPr>
          <p:spPr>
            <a:xfrm>
              <a:off x="0" y="0"/>
              <a:ext cx="1817624" cy="186182"/>
            </a:xfrm>
            <a:custGeom>
              <a:avLst/>
              <a:gdLst/>
              <a:ahLst/>
              <a:cxnLst/>
              <a:rect l="l" t="t" r="r" b="b"/>
              <a:pathLst>
                <a:path w="1817624" h="186182">
                  <a:moveTo>
                    <a:pt x="0" y="0"/>
                  </a:moveTo>
                  <a:lnTo>
                    <a:pt x="1817624" y="0"/>
                  </a:lnTo>
                  <a:lnTo>
                    <a:pt x="1817624" y="186182"/>
                  </a:lnTo>
                  <a:lnTo>
                    <a:pt x="0" y="186182"/>
                  </a:lnTo>
                  <a:lnTo>
                    <a:pt x="0" y="0"/>
                  </a:lnTo>
                  <a:close/>
                </a:path>
              </a:pathLst>
            </a:custGeom>
            <a:blipFill>
              <a:blip r:embed="rId24"/>
              <a:stretch>
                <a:fillRect t="-533417" b="6"/>
              </a:stretch>
            </a:blipFill>
          </p:spPr>
          <p:txBody>
            <a:bodyPr/>
            <a:lstStyle/>
            <a:p>
              <a:endParaRPr lang="en-GB" sz="900"/>
            </a:p>
          </p:txBody>
        </p:sp>
      </p:grpSp>
      <p:grpSp>
        <p:nvGrpSpPr>
          <p:cNvPr id="72" name="Group 72"/>
          <p:cNvGrpSpPr/>
          <p:nvPr/>
        </p:nvGrpSpPr>
        <p:grpSpPr>
          <a:xfrm>
            <a:off x="1189292" y="2896067"/>
            <a:ext cx="194744" cy="166345"/>
            <a:chOff x="0" y="0"/>
            <a:chExt cx="519316" cy="443586"/>
          </a:xfrm>
        </p:grpSpPr>
        <p:sp>
          <p:nvSpPr>
            <p:cNvPr id="73" name="Freeform 73"/>
            <p:cNvSpPr/>
            <p:nvPr/>
          </p:nvSpPr>
          <p:spPr>
            <a:xfrm>
              <a:off x="0" y="0"/>
              <a:ext cx="519303" cy="443611"/>
            </a:xfrm>
            <a:custGeom>
              <a:avLst/>
              <a:gdLst/>
              <a:ahLst/>
              <a:cxnLst/>
              <a:rect l="l" t="t" r="r" b="b"/>
              <a:pathLst>
                <a:path w="519303" h="443611">
                  <a:moveTo>
                    <a:pt x="0" y="0"/>
                  </a:moveTo>
                  <a:lnTo>
                    <a:pt x="519303" y="0"/>
                  </a:lnTo>
                  <a:lnTo>
                    <a:pt x="519303" y="443611"/>
                  </a:lnTo>
                  <a:lnTo>
                    <a:pt x="0" y="443611"/>
                  </a:lnTo>
                  <a:lnTo>
                    <a:pt x="0" y="0"/>
                  </a:lnTo>
                  <a:close/>
                </a:path>
              </a:pathLst>
            </a:custGeom>
            <a:blipFill>
              <a:blip r:embed="rId24"/>
              <a:stretch>
                <a:fillRect l="-51826" t="-2562" r="-50264" b="-51087"/>
              </a:stretch>
            </a:blipFill>
          </p:spPr>
          <p:txBody>
            <a:bodyPr/>
            <a:lstStyle/>
            <a:p>
              <a:endParaRPr lang="en-GB" sz="900"/>
            </a:p>
          </p:txBody>
        </p:sp>
      </p:grpSp>
      <p:grpSp>
        <p:nvGrpSpPr>
          <p:cNvPr id="74" name="Group 74"/>
          <p:cNvGrpSpPr/>
          <p:nvPr/>
        </p:nvGrpSpPr>
        <p:grpSpPr>
          <a:xfrm>
            <a:off x="347629" y="3650447"/>
            <a:ext cx="557213" cy="166688"/>
            <a:chOff x="0" y="0"/>
            <a:chExt cx="1485900" cy="444500"/>
          </a:xfrm>
        </p:grpSpPr>
        <p:sp>
          <p:nvSpPr>
            <p:cNvPr id="75" name="Freeform 75"/>
            <p:cNvSpPr/>
            <p:nvPr/>
          </p:nvSpPr>
          <p:spPr>
            <a:xfrm>
              <a:off x="0" y="0"/>
              <a:ext cx="1485900" cy="444500"/>
            </a:xfrm>
            <a:custGeom>
              <a:avLst/>
              <a:gdLst/>
              <a:ahLst/>
              <a:cxnLst/>
              <a:rect l="l" t="t" r="r" b="b"/>
              <a:pathLst>
                <a:path w="1485900" h="444500">
                  <a:moveTo>
                    <a:pt x="0" y="0"/>
                  </a:moveTo>
                  <a:lnTo>
                    <a:pt x="1485900" y="0"/>
                  </a:lnTo>
                  <a:lnTo>
                    <a:pt x="1485900" y="444500"/>
                  </a:lnTo>
                  <a:lnTo>
                    <a:pt x="0" y="444500"/>
                  </a:lnTo>
                  <a:lnTo>
                    <a:pt x="0" y="0"/>
                  </a:lnTo>
                  <a:close/>
                </a:path>
              </a:pathLst>
            </a:custGeom>
            <a:blipFill>
              <a:blip r:embed="rId25"/>
              <a:stretch>
                <a:fillRect l="-18542" t="-67882" r="-18209" b="-72117"/>
              </a:stretch>
            </a:blipFill>
          </p:spPr>
          <p:txBody>
            <a:bodyPr/>
            <a:lstStyle/>
            <a:p>
              <a:endParaRPr lang="en-GB" sz="900"/>
            </a:p>
          </p:txBody>
        </p:sp>
      </p:grpSp>
      <p:grpSp>
        <p:nvGrpSpPr>
          <p:cNvPr id="76" name="Group 76"/>
          <p:cNvGrpSpPr/>
          <p:nvPr/>
        </p:nvGrpSpPr>
        <p:grpSpPr>
          <a:xfrm>
            <a:off x="1208456" y="4404827"/>
            <a:ext cx="885825" cy="161925"/>
            <a:chOff x="0" y="0"/>
            <a:chExt cx="2362200" cy="431800"/>
          </a:xfrm>
        </p:grpSpPr>
        <p:sp>
          <p:nvSpPr>
            <p:cNvPr id="77" name="Freeform 77"/>
            <p:cNvSpPr/>
            <p:nvPr/>
          </p:nvSpPr>
          <p:spPr>
            <a:xfrm>
              <a:off x="0" y="0"/>
              <a:ext cx="2362200" cy="431800"/>
            </a:xfrm>
            <a:custGeom>
              <a:avLst/>
              <a:gdLst/>
              <a:ahLst/>
              <a:cxnLst/>
              <a:rect l="l" t="t" r="r" b="b"/>
              <a:pathLst>
                <a:path w="2362200" h="431800">
                  <a:moveTo>
                    <a:pt x="0" y="0"/>
                  </a:moveTo>
                  <a:lnTo>
                    <a:pt x="2362200" y="0"/>
                  </a:lnTo>
                  <a:lnTo>
                    <a:pt x="2362200" y="431800"/>
                  </a:lnTo>
                  <a:lnTo>
                    <a:pt x="0" y="431800"/>
                  </a:lnTo>
                  <a:lnTo>
                    <a:pt x="0" y="0"/>
                  </a:lnTo>
                  <a:close/>
                </a:path>
              </a:pathLst>
            </a:custGeom>
            <a:blipFill>
              <a:blip r:embed="rId26"/>
              <a:stretch>
                <a:fillRect l="-8076" t="-126288" r="-8052" b="-132535"/>
              </a:stretch>
            </a:blipFill>
          </p:spPr>
          <p:txBody>
            <a:bodyPr/>
            <a:lstStyle/>
            <a:p>
              <a:endParaRPr lang="en-GB" sz="900"/>
            </a:p>
          </p:txBody>
        </p:sp>
      </p:grpSp>
      <p:grpSp>
        <p:nvGrpSpPr>
          <p:cNvPr id="78" name="Group 78"/>
          <p:cNvGrpSpPr/>
          <p:nvPr/>
        </p:nvGrpSpPr>
        <p:grpSpPr>
          <a:xfrm>
            <a:off x="3398916" y="1301834"/>
            <a:ext cx="259990" cy="261738"/>
            <a:chOff x="0" y="0"/>
            <a:chExt cx="519976" cy="523469"/>
          </a:xfrm>
        </p:grpSpPr>
        <p:sp>
          <p:nvSpPr>
            <p:cNvPr id="79" name="Freeform 79"/>
            <p:cNvSpPr/>
            <p:nvPr/>
          </p:nvSpPr>
          <p:spPr>
            <a:xfrm>
              <a:off x="0" y="0"/>
              <a:ext cx="519932" cy="523491"/>
            </a:xfrm>
            <a:custGeom>
              <a:avLst/>
              <a:gdLst/>
              <a:ahLst/>
              <a:cxnLst/>
              <a:rect l="l" t="t" r="r" b="b"/>
              <a:pathLst>
                <a:path w="519932" h="523491">
                  <a:moveTo>
                    <a:pt x="0" y="523491"/>
                  </a:moveTo>
                  <a:lnTo>
                    <a:pt x="519932" y="523491"/>
                  </a:lnTo>
                  <a:lnTo>
                    <a:pt x="519932" y="0"/>
                  </a:lnTo>
                  <a:lnTo>
                    <a:pt x="0" y="0"/>
                  </a:lnTo>
                  <a:close/>
                </a:path>
              </a:pathLst>
            </a:custGeom>
            <a:solidFill>
              <a:srgbClr val="000000">
                <a:alpha val="0"/>
              </a:srgbClr>
            </a:solidFill>
          </p:spPr>
          <p:txBody>
            <a:bodyPr/>
            <a:lstStyle/>
            <a:p>
              <a:endParaRPr lang="en-GB" sz="900"/>
            </a:p>
          </p:txBody>
        </p:sp>
      </p:grpSp>
      <p:grpSp>
        <p:nvGrpSpPr>
          <p:cNvPr id="80" name="Group 80"/>
          <p:cNvGrpSpPr/>
          <p:nvPr/>
        </p:nvGrpSpPr>
        <p:grpSpPr>
          <a:xfrm>
            <a:off x="4431054" y="1343473"/>
            <a:ext cx="629850" cy="178456"/>
            <a:chOff x="0" y="0"/>
            <a:chExt cx="1259700" cy="356921"/>
          </a:xfrm>
        </p:grpSpPr>
        <p:sp>
          <p:nvSpPr>
            <p:cNvPr id="81" name="Freeform 81"/>
            <p:cNvSpPr/>
            <p:nvPr/>
          </p:nvSpPr>
          <p:spPr>
            <a:xfrm>
              <a:off x="0" y="0"/>
              <a:ext cx="1259713" cy="356875"/>
            </a:xfrm>
            <a:custGeom>
              <a:avLst/>
              <a:gdLst/>
              <a:ahLst/>
              <a:cxnLst/>
              <a:rect l="l" t="t" r="r" b="b"/>
              <a:pathLst>
                <a:path w="1259713" h="356875">
                  <a:moveTo>
                    <a:pt x="0" y="356875"/>
                  </a:moveTo>
                  <a:lnTo>
                    <a:pt x="1259713" y="356875"/>
                  </a:lnTo>
                  <a:lnTo>
                    <a:pt x="1259713" y="0"/>
                  </a:lnTo>
                  <a:lnTo>
                    <a:pt x="0" y="0"/>
                  </a:lnTo>
                  <a:close/>
                </a:path>
              </a:pathLst>
            </a:custGeom>
            <a:solidFill>
              <a:srgbClr val="000000">
                <a:alpha val="0"/>
              </a:srgbClr>
            </a:solidFill>
          </p:spPr>
          <p:txBody>
            <a:bodyPr/>
            <a:lstStyle/>
            <a:p>
              <a:endParaRPr lang="en-GB" sz="900"/>
            </a:p>
          </p:txBody>
        </p:sp>
      </p:grpSp>
      <p:grpSp>
        <p:nvGrpSpPr>
          <p:cNvPr id="82" name="Group 82"/>
          <p:cNvGrpSpPr/>
          <p:nvPr/>
        </p:nvGrpSpPr>
        <p:grpSpPr>
          <a:xfrm>
            <a:off x="4434274" y="1887584"/>
            <a:ext cx="626631" cy="169193"/>
            <a:chOff x="0" y="0"/>
            <a:chExt cx="1253261" cy="338379"/>
          </a:xfrm>
        </p:grpSpPr>
        <p:sp>
          <p:nvSpPr>
            <p:cNvPr id="83" name="Freeform 83"/>
            <p:cNvSpPr/>
            <p:nvPr/>
          </p:nvSpPr>
          <p:spPr>
            <a:xfrm>
              <a:off x="0" y="0"/>
              <a:ext cx="1253237" cy="338326"/>
            </a:xfrm>
            <a:custGeom>
              <a:avLst/>
              <a:gdLst/>
              <a:ahLst/>
              <a:cxnLst/>
              <a:rect l="l" t="t" r="r" b="b"/>
              <a:pathLst>
                <a:path w="1253237" h="338326">
                  <a:moveTo>
                    <a:pt x="0" y="338326"/>
                  </a:moveTo>
                  <a:lnTo>
                    <a:pt x="1253237" y="338326"/>
                  </a:lnTo>
                  <a:lnTo>
                    <a:pt x="1253237" y="0"/>
                  </a:lnTo>
                  <a:lnTo>
                    <a:pt x="0" y="0"/>
                  </a:lnTo>
                  <a:close/>
                </a:path>
              </a:pathLst>
            </a:custGeom>
            <a:solidFill>
              <a:srgbClr val="000000">
                <a:alpha val="0"/>
              </a:srgbClr>
            </a:solidFill>
          </p:spPr>
          <p:txBody>
            <a:bodyPr/>
            <a:lstStyle/>
            <a:p>
              <a:endParaRPr lang="en-GB" sz="900"/>
            </a:p>
          </p:txBody>
        </p:sp>
      </p:grpSp>
      <p:sp>
        <p:nvSpPr>
          <p:cNvPr id="88" name="Freeform 88"/>
          <p:cNvSpPr/>
          <p:nvPr/>
        </p:nvSpPr>
        <p:spPr>
          <a:xfrm>
            <a:off x="5681615" y="3249254"/>
            <a:ext cx="3121576" cy="1466969"/>
          </a:xfrm>
          <a:custGeom>
            <a:avLst/>
            <a:gdLst/>
            <a:ahLst/>
            <a:cxnLst/>
            <a:rect l="l" t="t" r="r" b="b"/>
            <a:pathLst>
              <a:path w="6243152" h="2933938">
                <a:moveTo>
                  <a:pt x="0" y="0"/>
                </a:moveTo>
                <a:lnTo>
                  <a:pt x="6243151" y="0"/>
                </a:lnTo>
                <a:lnTo>
                  <a:pt x="6243151" y="2933939"/>
                </a:lnTo>
                <a:lnTo>
                  <a:pt x="0" y="2933939"/>
                </a:lnTo>
                <a:lnTo>
                  <a:pt x="0" y="0"/>
                </a:lnTo>
                <a:close/>
              </a:path>
            </a:pathLst>
          </a:custGeom>
          <a:blipFill>
            <a:blip>
              <a:extLst>
                <a:ext uri="{96DAC541-7B7A-43D3-8B79-37D633B846F1}">
                  <asvg:svgBlip xmlns:asvg="http://schemas.microsoft.com/office/drawing/2016/SVG/main" r:embed="rId27"/>
                </a:ext>
              </a:extLst>
            </a:blip>
            <a:stretch>
              <a:fillRect/>
            </a:stretch>
          </a:blipFill>
        </p:spPr>
        <p:txBody>
          <a:bodyPr/>
          <a:lstStyle/>
          <a:p>
            <a:endParaRPr lang="en-GB" sz="900"/>
          </a:p>
        </p:txBody>
      </p:sp>
      <p:sp>
        <p:nvSpPr>
          <p:cNvPr id="89" name="Freeform 89"/>
          <p:cNvSpPr/>
          <p:nvPr/>
        </p:nvSpPr>
        <p:spPr>
          <a:xfrm>
            <a:off x="5681615" y="1304668"/>
            <a:ext cx="3121576" cy="1483705"/>
          </a:xfrm>
          <a:custGeom>
            <a:avLst/>
            <a:gdLst/>
            <a:ahLst/>
            <a:cxnLst/>
            <a:rect l="l" t="t" r="r" b="b"/>
            <a:pathLst>
              <a:path w="6243152" h="2967409">
                <a:moveTo>
                  <a:pt x="0" y="0"/>
                </a:moveTo>
                <a:lnTo>
                  <a:pt x="6243151" y="0"/>
                </a:lnTo>
                <a:lnTo>
                  <a:pt x="6243151" y="2967409"/>
                </a:lnTo>
                <a:lnTo>
                  <a:pt x="0" y="2967409"/>
                </a:lnTo>
                <a:lnTo>
                  <a:pt x="0" y="0"/>
                </a:lnTo>
                <a:close/>
              </a:path>
            </a:pathLst>
          </a:custGeom>
          <a:blipFill>
            <a:blip>
              <a:extLst>
                <a:ext uri="{96DAC541-7B7A-43D3-8B79-37D633B846F1}">
                  <asvg:svgBlip xmlns:asvg="http://schemas.microsoft.com/office/drawing/2016/SVG/main" r:embed="rId28"/>
                </a:ext>
              </a:extLst>
            </a:blip>
            <a:stretch>
              <a:fillRect/>
            </a:stretch>
          </a:blipFill>
        </p:spPr>
        <p:txBody>
          <a:bodyPr/>
          <a:lstStyle/>
          <a:p>
            <a:endParaRPr lang="en-GB" sz="900"/>
          </a:p>
        </p:txBody>
      </p:sp>
      <p:sp>
        <p:nvSpPr>
          <p:cNvPr id="90" name="TextBox 90"/>
          <p:cNvSpPr txBox="1"/>
          <p:nvPr/>
        </p:nvSpPr>
        <p:spPr>
          <a:xfrm>
            <a:off x="241983" y="960758"/>
            <a:ext cx="1355632" cy="192810"/>
          </a:xfrm>
          <a:prstGeom prst="rect">
            <a:avLst/>
          </a:prstGeom>
        </p:spPr>
        <p:txBody>
          <a:bodyPr lIns="0" tIns="0" rIns="0" bIns="0" rtlCol="0" anchor="t">
            <a:spAutoFit/>
          </a:bodyPr>
          <a:lstStyle/>
          <a:p>
            <a:pPr>
              <a:lnSpc>
                <a:spcPts val="1610"/>
              </a:lnSpc>
            </a:pPr>
            <a:r>
              <a:rPr lang="en-US" sz="1150" b="1">
                <a:solidFill>
                  <a:srgbClr val="F2359D"/>
                </a:solidFill>
                <a:latin typeface="Gill Sans MT Pro Bold"/>
                <a:ea typeface="Gill Sans MT Pro Bold"/>
                <a:cs typeface="Gill Sans MT Pro Bold"/>
                <a:sym typeface="Gill Sans MT Pro Bold"/>
              </a:rPr>
              <a:t>Portfolio Highlights</a:t>
            </a:r>
          </a:p>
        </p:txBody>
      </p:sp>
      <p:sp>
        <p:nvSpPr>
          <p:cNvPr id="91" name="TextBox 91"/>
          <p:cNvSpPr txBox="1"/>
          <p:nvPr/>
        </p:nvSpPr>
        <p:spPr>
          <a:xfrm>
            <a:off x="3036165" y="3670654"/>
            <a:ext cx="80615" cy="192810"/>
          </a:xfrm>
          <a:prstGeom prst="rect">
            <a:avLst/>
          </a:prstGeom>
        </p:spPr>
        <p:txBody>
          <a:bodyPr lIns="0" tIns="0" rIns="0" bIns="0" rtlCol="0" anchor="t">
            <a:spAutoFit/>
          </a:bodyPr>
          <a:lstStyle/>
          <a:p>
            <a:pPr>
              <a:lnSpc>
                <a:spcPts val="1610"/>
              </a:lnSpc>
            </a:pPr>
            <a:r>
              <a:rPr lang="en-US" sz="1150" b="1">
                <a:solidFill>
                  <a:srgbClr val="0F398C"/>
                </a:solidFill>
                <a:latin typeface="Gill Sans MT Pro Bold"/>
                <a:ea typeface="Gill Sans MT Pro Bold"/>
                <a:cs typeface="Gill Sans MT Pro Bold"/>
                <a:sym typeface="Gill Sans MT Pro Bold"/>
              </a:rPr>
              <a:t>4</a:t>
            </a:r>
          </a:p>
        </p:txBody>
      </p:sp>
      <p:sp>
        <p:nvSpPr>
          <p:cNvPr id="92" name="TextBox 92"/>
          <p:cNvSpPr txBox="1"/>
          <p:nvPr/>
        </p:nvSpPr>
        <p:spPr>
          <a:xfrm>
            <a:off x="3036165" y="4223771"/>
            <a:ext cx="271496" cy="192810"/>
          </a:xfrm>
          <a:prstGeom prst="rect">
            <a:avLst/>
          </a:prstGeom>
        </p:spPr>
        <p:txBody>
          <a:bodyPr lIns="0" tIns="0" rIns="0" bIns="0" rtlCol="0" anchor="t">
            <a:spAutoFit/>
          </a:bodyPr>
          <a:lstStyle/>
          <a:p>
            <a:pPr>
              <a:lnSpc>
                <a:spcPts val="1610"/>
              </a:lnSpc>
            </a:pPr>
            <a:r>
              <a:rPr lang="en-US" sz="1150" b="1">
                <a:solidFill>
                  <a:srgbClr val="0F398C"/>
                </a:solidFill>
                <a:latin typeface="Gill Sans MT Pro Bold"/>
                <a:ea typeface="Gill Sans MT Pro Bold"/>
                <a:cs typeface="Gill Sans MT Pro Bold"/>
                <a:sym typeface="Gill Sans MT Pro Bold"/>
              </a:rPr>
              <a:t>85%</a:t>
            </a:r>
          </a:p>
        </p:txBody>
      </p:sp>
      <p:sp>
        <p:nvSpPr>
          <p:cNvPr id="93" name="TextBox 93"/>
          <p:cNvSpPr txBox="1"/>
          <p:nvPr/>
        </p:nvSpPr>
        <p:spPr>
          <a:xfrm>
            <a:off x="3036165" y="3117538"/>
            <a:ext cx="370528" cy="192810"/>
          </a:xfrm>
          <a:prstGeom prst="rect">
            <a:avLst/>
          </a:prstGeom>
        </p:spPr>
        <p:txBody>
          <a:bodyPr lIns="0" tIns="0" rIns="0" bIns="0" rtlCol="0" anchor="t">
            <a:spAutoFit/>
          </a:bodyPr>
          <a:lstStyle/>
          <a:p>
            <a:pPr>
              <a:lnSpc>
                <a:spcPts val="1610"/>
              </a:lnSpc>
            </a:pPr>
            <a:r>
              <a:rPr lang="en-US" sz="1150" b="1">
                <a:solidFill>
                  <a:srgbClr val="0F398C"/>
                </a:solidFill>
                <a:latin typeface="Gill Sans MT Pro Bold"/>
                <a:ea typeface="Gill Sans MT Pro Bold"/>
                <a:cs typeface="Gill Sans MT Pro Bold"/>
                <a:sym typeface="Gill Sans MT Pro Bold"/>
              </a:rPr>
              <a:t>1.20x</a:t>
            </a:r>
          </a:p>
        </p:txBody>
      </p:sp>
      <p:sp>
        <p:nvSpPr>
          <p:cNvPr id="94" name="TextBox 94"/>
          <p:cNvSpPr txBox="1"/>
          <p:nvPr/>
        </p:nvSpPr>
        <p:spPr>
          <a:xfrm>
            <a:off x="3036165" y="2564421"/>
            <a:ext cx="419081" cy="192810"/>
          </a:xfrm>
          <a:prstGeom prst="rect">
            <a:avLst/>
          </a:prstGeom>
        </p:spPr>
        <p:txBody>
          <a:bodyPr lIns="0" tIns="0" rIns="0" bIns="0" rtlCol="0" anchor="t">
            <a:spAutoFit/>
          </a:bodyPr>
          <a:lstStyle/>
          <a:p>
            <a:pPr>
              <a:lnSpc>
                <a:spcPts val="1610"/>
              </a:lnSpc>
            </a:pPr>
            <a:r>
              <a:rPr lang="en-US" sz="1150" b="1">
                <a:solidFill>
                  <a:srgbClr val="0F398C"/>
                </a:solidFill>
                <a:latin typeface="Gill Sans MT Pro Bold"/>
                <a:ea typeface="Gill Sans MT Pro Bold"/>
                <a:cs typeface="Gill Sans MT Pro Bold"/>
                <a:sym typeface="Gill Sans MT Pro Bold"/>
              </a:rPr>
              <a:t>48.3M</a:t>
            </a:r>
          </a:p>
        </p:txBody>
      </p:sp>
      <p:sp>
        <p:nvSpPr>
          <p:cNvPr id="95" name="TextBox 95"/>
          <p:cNvSpPr txBox="1"/>
          <p:nvPr/>
        </p:nvSpPr>
        <p:spPr>
          <a:xfrm>
            <a:off x="2958465" y="972169"/>
            <a:ext cx="1990778" cy="192810"/>
          </a:xfrm>
          <a:prstGeom prst="rect">
            <a:avLst/>
          </a:prstGeom>
        </p:spPr>
        <p:txBody>
          <a:bodyPr lIns="0" tIns="0" rIns="0" bIns="0" rtlCol="0" anchor="t">
            <a:spAutoFit/>
          </a:bodyPr>
          <a:lstStyle/>
          <a:p>
            <a:pPr>
              <a:lnSpc>
                <a:spcPts val="1610"/>
              </a:lnSpc>
            </a:pPr>
            <a:r>
              <a:rPr lang="en-US" sz="1150" b="1">
                <a:solidFill>
                  <a:srgbClr val="F2359D"/>
                </a:solidFill>
                <a:latin typeface="Gill Sans MT Pro Bold"/>
                <a:ea typeface="Gill Sans MT Pro Bold"/>
                <a:cs typeface="Gill Sans MT Pro Bold"/>
                <a:sym typeface="Gill Sans MT Pro Bold"/>
              </a:rPr>
              <a:t>Selected Follow-on Investors</a:t>
            </a:r>
          </a:p>
        </p:txBody>
      </p:sp>
      <p:sp>
        <p:nvSpPr>
          <p:cNvPr id="96" name="TextBox 96"/>
          <p:cNvSpPr txBox="1"/>
          <p:nvPr/>
        </p:nvSpPr>
        <p:spPr>
          <a:xfrm>
            <a:off x="5755243" y="966431"/>
            <a:ext cx="1203432" cy="192810"/>
          </a:xfrm>
          <a:prstGeom prst="rect">
            <a:avLst/>
          </a:prstGeom>
        </p:spPr>
        <p:txBody>
          <a:bodyPr lIns="0" tIns="0" rIns="0" bIns="0" rtlCol="0" anchor="t">
            <a:spAutoFit/>
          </a:bodyPr>
          <a:lstStyle/>
          <a:p>
            <a:pPr>
              <a:lnSpc>
                <a:spcPts val="1610"/>
              </a:lnSpc>
            </a:pPr>
            <a:r>
              <a:rPr lang="en-US" sz="1150" b="1">
                <a:solidFill>
                  <a:srgbClr val="F2359D"/>
                </a:solidFill>
                <a:latin typeface="Gill Sans MT Pro Bold"/>
                <a:ea typeface="Gill Sans MT Pro Bold"/>
                <a:cs typeface="Gill Sans MT Pro Bold"/>
                <a:sym typeface="Gill Sans MT Pro Bold"/>
              </a:rPr>
              <a:t>Invested Verticals</a:t>
            </a:r>
          </a:p>
        </p:txBody>
      </p:sp>
      <p:sp>
        <p:nvSpPr>
          <p:cNvPr id="97" name="TextBox 97"/>
          <p:cNvSpPr txBox="1"/>
          <p:nvPr/>
        </p:nvSpPr>
        <p:spPr>
          <a:xfrm>
            <a:off x="5726549" y="2908888"/>
            <a:ext cx="2117493" cy="413318"/>
          </a:xfrm>
          <a:prstGeom prst="rect">
            <a:avLst/>
          </a:prstGeom>
        </p:spPr>
        <p:txBody>
          <a:bodyPr lIns="0" tIns="0" rIns="0" bIns="0" rtlCol="0" anchor="t">
            <a:spAutoFit/>
          </a:bodyPr>
          <a:lstStyle/>
          <a:p>
            <a:pPr>
              <a:lnSpc>
                <a:spcPts val="1610"/>
              </a:lnSpc>
            </a:pPr>
            <a:r>
              <a:rPr lang="en-US" sz="1150" b="1" dirty="0" err="1">
                <a:solidFill>
                  <a:srgbClr val="F238B1"/>
                </a:solidFill>
                <a:latin typeface="Gill Sans MT Pro Bold"/>
                <a:ea typeface="Gill Sans MT Pro Bold"/>
                <a:cs typeface="Gill Sans MT Pro Bold"/>
                <a:sym typeface="Gill Sans MT Pro Bold"/>
              </a:rPr>
              <a:t>Dealflow</a:t>
            </a:r>
            <a:r>
              <a:rPr lang="en-US" sz="1150" b="1" dirty="0">
                <a:solidFill>
                  <a:srgbClr val="F238B1"/>
                </a:solidFill>
                <a:latin typeface="Gill Sans MT Pro Bold"/>
                <a:ea typeface="Gill Sans MT Pro Bold"/>
                <a:cs typeface="Gill Sans MT Pro Bold"/>
                <a:sym typeface="Gill Sans MT Pro Bold"/>
              </a:rPr>
              <a:t> Generated Each Year</a:t>
            </a:r>
          </a:p>
          <a:p>
            <a:pPr>
              <a:lnSpc>
                <a:spcPts val="1874"/>
              </a:lnSpc>
            </a:pPr>
            <a:r>
              <a:rPr lang="en-US" sz="750" b="1" dirty="0">
                <a:solidFill>
                  <a:srgbClr val="0F398C"/>
                </a:solidFill>
                <a:latin typeface="Gill Sans MT Pro Medium"/>
                <a:ea typeface="Gill Sans MT Pro Medium"/>
                <a:cs typeface="Gill Sans MT Pro Medium"/>
                <a:sym typeface="Gill Sans MT Pro Medium"/>
              </a:rPr>
              <a:t>500</a:t>
            </a:r>
          </a:p>
        </p:txBody>
      </p:sp>
      <p:sp>
        <p:nvSpPr>
          <p:cNvPr id="98" name="TextBox 98"/>
          <p:cNvSpPr txBox="1"/>
          <p:nvPr/>
        </p:nvSpPr>
        <p:spPr>
          <a:xfrm>
            <a:off x="3731729" y="2597663"/>
            <a:ext cx="818769" cy="282129"/>
          </a:xfrm>
          <a:prstGeom prst="rect">
            <a:avLst/>
          </a:prstGeom>
        </p:spPr>
        <p:txBody>
          <a:bodyPr lIns="0" tIns="0" rIns="0" bIns="0" rtlCol="0" anchor="t">
            <a:spAutoFit/>
          </a:bodyPr>
          <a:lstStyle/>
          <a:p>
            <a:pPr>
              <a:lnSpc>
                <a:spcPts val="1088"/>
              </a:lnSpc>
            </a:pPr>
            <a:r>
              <a:rPr lang="en-US" sz="999" b="1">
                <a:solidFill>
                  <a:srgbClr val="0F398C"/>
                </a:solidFill>
                <a:latin typeface="Gill Sans MT Pro Medium"/>
                <a:ea typeface="Gill Sans MT Pro Medium"/>
                <a:cs typeface="Gill Sans MT Pro Medium"/>
                <a:sym typeface="Gill Sans MT Pro Medium"/>
              </a:rPr>
              <a:t>Total follow-on investments</a:t>
            </a:r>
          </a:p>
        </p:txBody>
      </p:sp>
      <p:sp>
        <p:nvSpPr>
          <p:cNvPr id="99" name="TextBox 99"/>
          <p:cNvSpPr txBox="1"/>
          <p:nvPr/>
        </p:nvSpPr>
        <p:spPr>
          <a:xfrm>
            <a:off x="3731729" y="3150780"/>
            <a:ext cx="861370" cy="282129"/>
          </a:xfrm>
          <a:prstGeom prst="rect">
            <a:avLst/>
          </a:prstGeom>
        </p:spPr>
        <p:txBody>
          <a:bodyPr lIns="0" tIns="0" rIns="0" bIns="0" rtlCol="0" anchor="t">
            <a:spAutoFit/>
          </a:bodyPr>
          <a:lstStyle/>
          <a:p>
            <a:pPr>
              <a:lnSpc>
                <a:spcPts val="1088"/>
              </a:lnSpc>
            </a:pPr>
            <a:r>
              <a:rPr lang="en-US" sz="999" b="1">
                <a:solidFill>
                  <a:srgbClr val="0F398C"/>
                </a:solidFill>
                <a:latin typeface="Gill Sans MT Pro Medium"/>
                <a:ea typeface="Gill Sans MT Pro Medium"/>
                <a:cs typeface="Gill Sans MT Pro Medium"/>
                <a:sym typeface="Gill Sans MT Pro Medium"/>
              </a:rPr>
              <a:t>MOIC on equity investment</a:t>
            </a:r>
          </a:p>
        </p:txBody>
      </p:sp>
      <p:sp>
        <p:nvSpPr>
          <p:cNvPr id="100" name="TextBox 100"/>
          <p:cNvSpPr txBox="1"/>
          <p:nvPr/>
        </p:nvSpPr>
        <p:spPr>
          <a:xfrm>
            <a:off x="3731729" y="4257013"/>
            <a:ext cx="928183" cy="282129"/>
          </a:xfrm>
          <a:prstGeom prst="rect">
            <a:avLst/>
          </a:prstGeom>
        </p:spPr>
        <p:txBody>
          <a:bodyPr lIns="0" tIns="0" rIns="0" bIns="0" rtlCol="0" anchor="t">
            <a:spAutoFit/>
          </a:bodyPr>
          <a:lstStyle/>
          <a:p>
            <a:pPr>
              <a:lnSpc>
                <a:spcPts val="1088"/>
              </a:lnSpc>
            </a:pPr>
            <a:r>
              <a:rPr lang="en-US" sz="999" b="1">
                <a:solidFill>
                  <a:srgbClr val="0F398C"/>
                </a:solidFill>
                <a:latin typeface="Gill Sans MT Pro Medium"/>
                <a:ea typeface="Gill Sans MT Pro Medium"/>
                <a:cs typeface="Gill Sans MT Pro Medium"/>
                <a:sym typeface="Gill Sans MT Pro Medium"/>
              </a:rPr>
              <a:t>Receive follow on investments</a:t>
            </a:r>
          </a:p>
        </p:txBody>
      </p:sp>
      <p:sp>
        <p:nvSpPr>
          <p:cNvPr id="101" name="TextBox 101"/>
          <p:cNvSpPr txBox="1"/>
          <p:nvPr/>
        </p:nvSpPr>
        <p:spPr>
          <a:xfrm>
            <a:off x="3731729" y="3703897"/>
            <a:ext cx="989953" cy="282129"/>
          </a:xfrm>
          <a:prstGeom prst="rect">
            <a:avLst/>
          </a:prstGeom>
        </p:spPr>
        <p:txBody>
          <a:bodyPr lIns="0" tIns="0" rIns="0" bIns="0" rtlCol="0" anchor="t">
            <a:spAutoFit/>
          </a:bodyPr>
          <a:lstStyle/>
          <a:p>
            <a:pPr>
              <a:lnSpc>
                <a:spcPts val="1088"/>
              </a:lnSpc>
            </a:pPr>
            <a:r>
              <a:rPr lang="en-US" sz="999" b="1">
                <a:solidFill>
                  <a:srgbClr val="0F398C"/>
                </a:solidFill>
                <a:latin typeface="Gill Sans MT Pro Medium"/>
                <a:ea typeface="Gill Sans MT Pro Medium"/>
                <a:cs typeface="Gill Sans MT Pro Medium"/>
                <a:sym typeface="Gill Sans MT Pro Medium"/>
              </a:rPr>
              <a:t>Startups backed by Ycombinator</a:t>
            </a:r>
          </a:p>
        </p:txBody>
      </p:sp>
      <p:sp>
        <p:nvSpPr>
          <p:cNvPr id="102" name="TextBox 102"/>
          <p:cNvSpPr txBox="1"/>
          <p:nvPr/>
        </p:nvSpPr>
        <p:spPr>
          <a:xfrm>
            <a:off x="241330" y="308582"/>
            <a:ext cx="7425104" cy="439095"/>
          </a:xfrm>
          <a:prstGeom prst="rect">
            <a:avLst/>
          </a:prstGeom>
        </p:spPr>
        <p:txBody>
          <a:bodyPr lIns="0" tIns="0" rIns="0" bIns="0" rtlCol="0" anchor="t">
            <a:spAutoFit/>
          </a:bodyPr>
          <a:lstStyle/>
          <a:p>
            <a:pPr>
              <a:lnSpc>
                <a:spcPts val="1688"/>
              </a:lnSpc>
            </a:pPr>
            <a:r>
              <a:rPr lang="en-US" sz="1700" b="1">
                <a:solidFill>
                  <a:srgbClr val="0F398C"/>
                </a:solidFill>
                <a:latin typeface="Inter Bold"/>
                <a:ea typeface="Inter Bold"/>
                <a:cs typeface="Inter Bold"/>
                <a:sym typeface="Inter Bold"/>
              </a:rPr>
              <a:t>In the past </a:t>
            </a:r>
            <a:r>
              <a:rPr lang="en-US" sz="1700" b="1">
                <a:solidFill>
                  <a:srgbClr val="F238B1"/>
                </a:solidFill>
                <a:latin typeface="Inter Bold"/>
                <a:ea typeface="Inter Bold"/>
                <a:cs typeface="Inter Bold"/>
                <a:sym typeface="Inter Bold"/>
              </a:rPr>
              <a:t>5 years</a:t>
            </a:r>
            <a:r>
              <a:rPr lang="en-US" sz="1700" b="1">
                <a:solidFill>
                  <a:srgbClr val="0F398C"/>
                </a:solidFill>
                <a:latin typeface="Inter Bold"/>
                <a:ea typeface="Inter Bold"/>
                <a:cs typeface="Inter Bold"/>
                <a:sym typeface="Inter Bold"/>
              </a:rPr>
              <a:t>, we have invested in more than 38 Swiss startups, supporting visionary founders and being </a:t>
            </a:r>
            <a:r>
              <a:rPr lang="en-US" sz="1700" b="1">
                <a:solidFill>
                  <a:srgbClr val="F238B1"/>
                </a:solidFill>
                <a:latin typeface="Inter Bold"/>
                <a:ea typeface="Inter Bold"/>
                <a:cs typeface="Inter Bold"/>
                <a:sym typeface="Inter Bold"/>
              </a:rPr>
              <a:t>their first believers</a:t>
            </a:r>
            <a:r>
              <a:rPr lang="en-US" sz="1700" b="1">
                <a:solidFill>
                  <a:srgbClr val="0A2B6D"/>
                </a:solidFill>
                <a:latin typeface="Inter Bold"/>
                <a:ea typeface="Inter Bold"/>
                <a:cs typeface="Inter Bold"/>
                <a:sym typeface="Inter Bold"/>
              </a:rPr>
              <a:t>.</a:t>
            </a:r>
          </a:p>
        </p:txBody>
      </p:sp>
      <p:sp>
        <p:nvSpPr>
          <p:cNvPr id="104" name="TextBox 104"/>
          <p:cNvSpPr txBox="1"/>
          <p:nvPr/>
        </p:nvSpPr>
        <p:spPr>
          <a:xfrm>
            <a:off x="5910701" y="1285904"/>
            <a:ext cx="686838" cy="406906"/>
          </a:xfrm>
          <a:prstGeom prst="rect">
            <a:avLst/>
          </a:prstGeom>
        </p:spPr>
        <p:txBody>
          <a:bodyPr lIns="0" tIns="0" rIns="0" bIns="0" rtlCol="0" anchor="t">
            <a:spAutoFit/>
          </a:bodyPr>
          <a:lstStyle/>
          <a:p>
            <a:pPr>
              <a:lnSpc>
                <a:spcPts val="1734"/>
              </a:lnSpc>
            </a:pPr>
            <a:r>
              <a:rPr lang="en-US" sz="750" b="1">
                <a:solidFill>
                  <a:srgbClr val="0A2B6D"/>
                </a:solidFill>
                <a:latin typeface="Gill Sans MT Pro Medium"/>
                <a:ea typeface="Gill Sans MT Pro Medium"/>
                <a:cs typeface="Gill Sans MT Pro Medium"/>
                <a:sym typeface="Gill Sans MT Pro Medium"/>
              </a:rPr>
              <a:t>Enterprise &amp; Saas</a:t>
            </a:r>
          </a:p>
        </p:txBody>
      </p:sp>
      <p:sp>
        <p:nvSpPr>
          <p:cNvPr id="105" name="TextBox 105"/>
          <p:cNvSpPr txBox="1"/>
          <p:nvPr/>
        </p:nvSpPr>
        <p:spPr>
          <a:xfrm>
            <a:off x="6167814" y="1506131"/>
            <a:ext cx="426577" cy="188898"/>
          </a:xfrm>
          <a:prstGeom prst="rect">
            <a:avLst/>
          </a:prstGeom>
        </p:spPr>
        <p:txBody>
          <a:bodyPr lIns="0" tIns="0" rIns="0" bIns="0" rtlCol="0" anchor="t">
            <a:spAutoFit/>
          </a:bodyPr>
          <a:lstStyle/>
          <a:p>
            <a:pPr>
              <a:lnSpc>
                <a:spcPts val="1734"/>
              </a:lnSpc>
            </a:pPr>
            <a:r>
              <a:rPr lang="en-US" sz="750" b="1">
                <a:solidFill>
                  <a:srgbClr val="0A2B6D"/>
                </a:solidFill>
                <a:latin typeface="Gill Sans MT Pro Medium"/>
                <a:ea typeface="Gill Sans MT Pro Medium"/>
                <a:cs typeface="Gill Sans MT Pro Medium"/>
                <a:sym typeface="Gill Sans MT Pro Medium"/>
              </a:rPr>
              <a:t>Deep Tech</a:t>
            </a:r>
          </a:p>
        </p:txBody>
      </p:sp>
      <p:sp>
        <p:nvSpPr>
          <p:cNvPr id="106" name="TextBox 106"/>
          <p:cNvSpPr txBox="1"/>
          <p:nvPr/>
        </p:nvSpPr>
        <p:spPr>
          <a:xfrm>
            <a:off x="5719381" y="1726364"/>
            <a:ext cx="1015189" cy="188898"/>
          </a:xfrm>
          <a:prstGeom prst="rect">
            <a:avLst/>
          </a:prstGeom>
        </p:spPr>
        <p:txBody>
          <a:bodyPr wrap="square" lIns="0" tIns="0" rIns="0" bIns="0" rtlCol="0" anchor="t">
            <a:spAutoFit/>
          </a:bodyPr>
          <a:lstStyle/>
          <a:p>
            <a:pPr>
              <a:lnSpc>
                <a:spcPts val="1734"/>
              </a:lnSpc>
            </a:pPr>
            <a:r>
              <a:rPr lang="en-US" sz="750" b="1" dirty="0">
                <a:solidFill>
                  <a:srgbClr val="0A2B6D"/>
                </a:solidFill>
                <a:latin typeface="Gill Sans MT Pro Medium"/>
                <a:ea typeface="Gill Sans MT Pro Medium"/>
                <a:cs typeface="Gill Sans MT Pro Medium"/>
                <a:sym typeface="Gill Sans MT Pro Medium"/>
              </a:rPr>
              <a:t>Health and life science</a:t>
            </a:r>
          </a:p>
        </p:txBody>
      </p:sp>
      <p:sp>
        <p:nvSpPr>
          <p:cNvPr id="107" name="TextBox 107"/>
          <p:cNvSpPr txBox="1"/>
          <p:nvPr/>
        </p:nvSpPr>
        <p:spPr>
          <a:xfrm>
            <a:off x="5787185" y="1946591"/>
            <a:ext cx="814488" cy="188898"/>
          </a:xfrm>
          <a:prstGeom prst="rect">
            <a:avLst/>
          </a:prstGeom>
        </p:spPr>
        <p:txBody>
          <a:bodyPr lIns="0" tIns="0" rIns="0" bIns="0" rtlCol="0" anchor="t">
            <a:spAutoFit/>
          </a:bodyPr>
          <a:lstStyle/>
          <a:p>
            <a:pPr>
              <a:lnSpc>
                <a:spcPts val="1734"/>
              </a:lnSpc>
            </a:pPr>
            <a:r>
              <a:rPr lang="en-US" sz="750" b="1" dirty="0">
                <a:solidFill>
                  <a:srgbClr val="0A2B6D"/>
                </a:solidFill>
                <a:latin typeface="Gill Sans MT Pro Medium"/>
                <a:ea typeface="Gill Sans MT Pro Medium"/>
                <a:cs typeface="Gill Sans MT Pro Medium"/>
                <a:sym typeface="Gill Sans MT Pro Medium"/>
              </a:rPr>
              <a:t>Agriculture and food</a:t>
            </a:r>
          </a:p>
        </p:txBody>
      </p:sp>
      <p:sp>
        <p:nvSpPr>
          <p:cNvPr id="108" name="TextBox 108"/>
          <p:cNvSpPr txBox="1"/>
          <p:nvPr/>
        </p:nvSpPr>
        <p:spPr>
          <a:xfrm>
            <a:off x="5945615" y="2166823"/>
            <a:ext cx="647105" cy="188898"/>
          </a:xfrm>
          <a:prstGeom prst="rect">
            <a:avLst/>
          </a:prstGeom>
        </p:spPr>
        <p:txBody>
          <a:bodyPr lIns="0" tIns="0" rIns="0" bIns="0" rtlCol="0" anchor="t">
            <a:spAutoFit/>
          </a:bodyPr>
          <a:lstStyle/>
          <a:p>
            <a:pPr>
              <a:lnSpc>
                <a:spcPts val="1734"/>
              </a:lnSpc>
            </a:pPr>
            <a:r>
              <a:rPr lang="en-US" sz="750" b="1">
                <a:solidFill>
                  <a:srgbClr val="0A2B6D"/>
                </a:solidFill>
                <a:latin typeface="Gill Sans MT Pro Medium"/>
                <a:ea typeface="Gill Sans MT Pro Medium"/>
                <a:cs typeface="Gill Sans MT Pro Medium"/>
                <a:sym typeface="Gill Sans MT Pro Medium"/>
              </a:rPr>
              <a:t>Digital Economy</a:t>
            </a:r>
          </a:p>
        </p:txBody>
      </p:sp>
      <p:sp>
        <p:nvSpPr>
          <p:cNvPr id="109" name="TextBox 109"/>
          <p:cNvSpPr txBox="1"/>
          <p:nvPr/>
        </p:nvSpPr>
        <p:spPr>
          <a:xfrm>
            <a:off x="6331773" y="2387051"/>
            <a:ext cx="257347" cy="188898"/>
          </a:xfrm>
          <a:prstGeom prst="rect">
            <a:avLst/>
          </a:prstGeom>
        </p:spPr>
        <p:txBody>
          <a:bodyPr lIns="0" tIns="0" rIns="0" bIns="0" rtlCol="0" anchor="t">
            <a:spAutoFit/>
          </a:bodyPr>
          <a:lstStyle/>
          <a:p>
            <a:pPr>
              <a:lnSpc>
                <a:spcPts val="1734"/>
              </a:lnSpc>
            </a:pPr>
            <a:r>
              <a:rPr lang="en-US" sz="750" b="1">
                <a:solidFill>
                  <a:srgbClr val="0A2B6D"/>
                </a:solidFill>
                <a:latin typeface="Gill Sans MT Pro Medium"/>
                <a:ea typeface="Gill Sans MT Pro Medium"/>
                <a:cs typeface="Gill Sans MT Pro Medium"/>
                <a:sym typeface="Gill Sans MT Pro Medium"/>
              </a:rPr>
              <a:t>others</a:t>
            </a:r>
          </a:p>
        </p:txBody>
      </p:sp>
      <p:sp>
        <p:nvSpPr>
          <p:cNvPr id="110" name="TextBox 110"/>
          <p:cNvSpPr txBox="1"/>
          <p:nvPr/>
        </p:nvSpPr>
        <p:spPr>
          <a:xfrm>
            <a:off x="6631134" y="2624190"/>
            <a:ext cx="48573" cy="131190"/>
          </a:xfrm>
          <a:prstGeom prst="rect">
            <a:avLst/>
          </a:prstGeom>
        </p:spPr>
        <p:txBody>
          <a:bodyPr lIns="0" tIns="0" rIns="0" bIns="0" rtlCol="0" anchor="t">
            <a:spAutoFit/>
          </a:bodyPr>
          <a:lstStyle/>
          <a:p>
            <a:pPr>
              <a:lnSpc>
                <a:spcPts val="1100"/>
              </a:lnSpc>
            </a:pPr>
            <a:r>
              <a:rPr lang="en-US" sz="750" b="1">
                <a:solidFill>
                  <a:srgbClr val="0A2B6D"/>
                </a:solidFill>
                <a:latin typeface="Gill Sans MT Pro Medium"/>
                <a:ea typeface="Gill Sans MT Pro Medium"/>
                <a:cs typeface="Gill Sans MT Pro Medium"/>
                <a:sym typeface="Gill Sans MT Pro Medium"/>
              </a:rPr>
              <a:t>0</a:t>
            </a:r>
          </a:p>
        </p:txBody>
      </p:sp>
      <p:sp>
        <p:nvSpPr>
          <p:cNvPr id="111" name="TextBox 111"/>
          <p:cNvSpPr txBox="1"/>
          <p:nvPr/>
        </p:nvSpPr>
        <p:spPr>
          <a:xfrm>
            <a:off x="6927056" y="2436057"/>
            <a:ext cx="48573" cy="150426"/>
          </a:xfrm>
          <a:prstGeom prst="rect">
            <a:avLst/>
          </a:prstGeom>
        </p:spPr>
        <p:txBody>
          <a:bodyPr lIns="0" tIns="0" rIns="0" bIns="0" rtlCol="0" anchor="t">
            <a:spAutoFit/>
          </a:bodyPr>
          <a:lstStyle/>
          <a:p>
            <a:pPr>
              <a:lnSpc>
                <a:spcPts val="1331"/>
              </a:lnSpc>
            </a:pPr>
            <a:r>
              <a:rPr lang="en-US" sz="750" b="1">
                <a:solidFill>
                  <a:srgbClr val="FFFFFF"/>
                </a:solidFill>
                <a:latin typeface="Gill Sans MT Pro Medium"/>
                <a:ea typeface="Gill Sans MT Pro Medium"/>
                <a:cs typeface="Gill Sans MT Pro Medium"/>
                <a:sym typeface="Gill Sans MT Pro Medium"/>
              </a:rPr>
              <a:t>2</a:t>
            </a:r>
          </a:p>
        </p:txBody>
      </p:sp>
      <p:sp>
        <p:nvSpPr>
          <p:cNvPr id="112" name="TextBox 112"/>
          <p:cNvSpPr txBox="1"/>
          <p:nvPr/>
        </p:nvSpPr>
        <p:spPr>
          <a:xfrm>
            <a:off x="6975448" y="2605140"/>
            <a:ext cx="48573" cy="150426"/>
          </a:xfrm>
          <a:prstGeom prst="rect">
            <a:avLst/>
          </a:prstGeom>
        </p:spPr>
        <p:txBody>
          <a:bodyPr lIns="0" tIns="0" rIns="0" bIns="0" rtlCol="0" anchor="t">
            <a:spAutoFit/>
          </a:bodyPr>
          <a:lstStyle/>
          <a:p>
            <a:pPr>
              <a:lnSpc>
                <a:spcPts val="1331"/>
              </a:lnSpc>
            </a:pPr>
            <a:r>
              <a:rPr lang="en-US" sz="750" b="1">
                <a:solidFill>
                  <a:srgbClr val="0A2B6D"/>
                </a:solidFill>
                <a:latin typeface="Gill Sans MT Pro Medium"/>
                <a:ea typeface="Gill Sans MT Pro Medium"/>
                <a:cs typeface="Gill Sans MT Pro Medium"/>
                <a:sym typeface="Gill Sans MT Pro Medium"/>
              </a:rPr>
              <a:t>2</a:t>
            </a:r>
          </a:p>
        </p:txBody>
      </p:sp>
      <p:sp>
        <p:nvSpPr>
          <p:cNvPr id="113" name="TextBox 113"/>
          <p:cNvSpPr txBox="1"/>
          <p:nvPr/>
        </p:nvSpPr>
        <p:spPr>
          <a:xfrm>
            <a:off x="7103069" y="2243747"/>
            <a:ext cx="48573" cy="131190"/>
          </a:xfrm>
          <a:prstGeom prst="rect">
            <a:avLst/>
          </a:prstGeom>
        </p:spPr>
        <p:txBody>
          <a:bodyPr lIns="0" tIns="0" rIns="0" bIns="0" rtlCol="0" anchor="t">
            <a:spAutoFit/>
          </a:bodyPr>
          <a:lstStyle/>
          <a:p>
            <a:pPr>
              <a:lnSpc>
                <a:spcPts val="1050"/>
              </a:lnSpc>
            </a:pPr>
            <a:r>
              <a:rPr lang="en-US" sz="750" b="1">
                <a:solidFill>
                  <a:srgbClr val="FFFFFF"/>
                </a:solidFill>
                <a:latin typeface="Gill Sans MT Pro Medium"/>
                <a:ea typeface="Gill Sans MT Pro Medium"/>
                <a:cs typeface="Gill Sans MT Pro Medium"/>
                <a:sym typeface="Gill Sans MT Pro Medium"/>
              </a:rPr>
              <a:t>3</a:t>
            </a:r>
          </a:p>
        </p:txBody>
      </p:sp>
      <p:sp>
        <p:nvSpPr>
          <p:cNvPr id="114" name="TextBox 114"/>
          <p:cNvSpPr txBox="1"/>
          <p:nvPr/>
        </p:nvSpPr>
        <p:spPr>
          <a:xfrm>
            <a:off x="7271376" y="2024168"/>
            <a:ext cx="48573" cy="131190"/>
          </a:xfrm>
          <a:prstGeom prst="rect">
            <a:avLst/>
          </a:prstGeom>
        </p:spPr>
        <p:txBody>
          <a:bodyPr lIns="0" tIns="0" rIns="0" bIns="0" rtlCol="0" anchor="t">
            <a:spAutoFit/>
          </a:bodyPr>
          <a:lstStyle/>
          <a:p>
            <a:pPr>
              <a:lnSpc>
                <a:spcPts val="1050"/>
              </a:lnSpc>
            </a:pPr>
            <a:r>
              <a:rPr lang="en-US" sz="750" b="1">
                <a:solidFill>
                  <a:srgbClr val="FFFFFF"/>
                </a:solidFill>
                <a:latin typeface="Gill Sans MT Pro Medium"/>
                <a:ea typeface="Gill Sans MT Pro Medium"/>
                <a:cs typeface="Gill Sans MT Pro Medium"/>
                <a:sym typeface="Gill Sans MT Pro Medium"/>
              </a:rPr>
              <a:t>4</a:t>
            </a:r>
          </a:p>
        </p:txBody>
      </p:sp>
      <p:sp>
        <p:nvSpPr>
          <p:cNvPr id="115" name="TextBox 115"/>
          <p:cNvSpPr txBox="1"/>
          <p:nvPr/>
        </p:nvSpPr>
        <p:spPr>
          <a:xfrm>
            <a:off x="7321053" y="2633715"/>
            <a:ext cx="48573" cy="131190"/>
          </a:xfrm>
          <a:prstGeom prst="rect">
            <a:avLst/>
          </a:prstGeom>
        </p:spPr>
        <p:txBody>
          <a:bodyPr lIns="0" tIns="0" rIns="0" bIns="0" rtlCol="0" anchor="t">
            <a:spAutoFit/>
          </a:bodyPr>
          <a:lstStyle/>
          <a:p>
            <a:pPr>
              <a:lnSpc>
                <a:spcPts val="1050"/>
              </a:lnSpc>
            </a:pPr>
            <a:r>
              <a:rPr lang="en-US" sz="750" b="1">
                <a:solidFill>
                  <a:srgbClr val="0A2B6D"/>
                </a:solidFill>
                <a:latin typeface="Gill Sans MT Pro Medium"/>
                <a:ea typeface="Gill Sans MT Pro Medium"/>
                <a:cs typeface="Gill Sans MT Pro Medium"/>
                <a:sym typeface="Gill Sans MT Pro Medium"/>
              </a:rPr>
              <a:t>4</a:t>
            </a:r>
          </a:p>
        </p:txBody>
      </p:sp>
      <p:sp>
        <p:nvSpPr>
          <p:cNvPr id="116" name="TextBox 116"/>
          <p:cNvSpPr txBox="1"/>
          <p:nvPr/>
        </p:nvSpPr>
        <p:spPr>
          <a:xfrm>
            <a:off x="7615695" y="1803302"/>
            <a:ext cx="48573" cy="131190"/>
          </a:xfrm>
          <a:prstGeom prst="rect">
            <a:avLst/>
          </a:prstGeom>
        </p:spPr>
        <p:txBody>
          <a:bodyPr lIns="0" tIns="0" rIns="0" bIns="0" rtlCol="0" anchor="t">
            <a:spAutoFit/>
          </a:bodyPr>
          <a:lstStyle/>
          <a:p>
            <a:pPr>
              <a:lnSpc>
                <a:spcPts val="1050"/>
              </a:lnSpc>
            </a:pPr>
            <a:r>
              <a:rPr lang="en-US" sz="750" b="1">
                <a:solidFill>
                  <a:srgbClr val="FFFFFF"/>
                </a:solidFill>
                <a:latin typeface="Gill Sans MT Pro Medium"/>
                <a:ea typeface="Gill Sans MT Pro Medium"/>
                <a:cs typeface="Gill Sans MT Pro Medium"/>
                <a:sym typeface="Gill Sans MT Pro Medium"/>
              </a:rPr>
              <a:t>6</a:t>
            </a:r>
          </a:p>
        </p:txBody>
      </p:sp>
      <p:sp>
        <p:nvSpPr>
          <p:cNvPr id="117" name="TextBox 117"/>
          <p:cNvSpPr txBox="1"/>
          <p:nvPr/>
        </p:nvSpPr>
        <p:spPr>
          <a:xfrm>
            <a:off x="7663444" y="2633715"/>
            <a:ext cx="48573" cy="131190"/>
          </a:xfrm>
          <a:prstGeom prst="rect">
            <a:avLst/>
          </a:prstGeom>
        </p:spPr>
        <p:txBody>
          <a:bodyPr lIns="0" tIns="0" rIns="0" bIns="0" rtlCol="0" anchor="t">
            <a:spAutoFit/>
          </a:bodyPr>
          <a:lstStyle/>
          <a:p>
            <a:pPr>
              <a:lnSpc>
                <a:spcPts val="1050"/>
              </a:lnSpc>
            </a:pPr>
            <a:r>
              <a:rPr lang="en-US" sz="750" b="1">
                <a:solidFill>
                  <a:srgbClr val="0A2B6D"/>
                </a:solidFill>
                <a:latin typeface="Gill Sans MT Pro Medium"/>
                <a:ea typeface="Gill Sans MT Pro Medium"/>
                <a:cs typeface="Gill Sans MT Pro Medium"/>
                <a:sym typeface="Gill Sans MT Pro Medium"/>
              </a:rPr>
              <a:t>6</a:t>
            </a:r>
          </a:p>
        </p:txBody>
      </p:sp>
      <p:sp>
        <p:nvSpPr>
          <p:cNvPr id="118" name="TextBox 118"/>
          <p:cNvSpPr txBox="1"/>
          <p:nvPr/>
        </p:nvSpPr>
        <p:spPr>
          <a:xfrm>
            <a:off x="8008401" y="2633715"/>
            <a:ext cx="48573" cy="131190"/>
          </a:xfrm>
          <a:prstGeom prst="rect">
            <a:avLst/>
          </a:prstGeom>
        </p:spPr>
        <p:txBody>
          <a:bodyPr lIns="0" tIns="0" rIns="0" bIns="0" rtlCol="0" anchor="t">
            <a:spAutoFit/>
          </a:bodyPr>
          <a:lstStyle/>
          <a:p>
            <a:pPr>
              <a:lnSpc>
                <a:spcPts val="1050"/>
              </a:lnSpc>
            </a:pPr>
            <a:r>
              <a:rPr lang="en-US" sz="750" b="1">
                <a:solidFill>
                  <a:srgbClr val="0A2B6D"/>
                </a:solidFill>
                <a:latin typeface="Gill Sans MT Pro Medium"/>
                <a:ea typeface="Gill Sans MT Pro Medium"/>
                <a:cs typeface="Gill Sans MT Pro Medium"/>
                <a:sym typeface="Gill Sans MT Pro Medium"/>
              </a:rPr>
              <a:t>8</a:t>
            </a:r>
          </a:p>
        </p:txBody>
      </p:sp>
      <p:sp>
        <p:nvSpPr>
          <p:cNvPr id="119" name="TextBox 119"/>
          <p:cNvSpPr txBox="1"/>
          <p:nvPr/>
        </p:nvSpPr>
        <p:spPr>
          <a:xfrm>
            <a:off x="8256689" y="1583060"/>
            <a:ext cx="97150" cy="131190"/>
          </a:xfrm>
          <a:prstGeom prst="rect">
            <a:avLst/>
          </a:prstGeom>
        </p:spPr>
        <p:txBody>
          <a:bodyPr lIns="0" tIns="0" rIns="0" bIns="0" rtlCol="0" anchor="t">
            <a:spAutoFit/>
          </a:bodyPr>
          <a:lstStyle/>
          <a:p>
            <a:pPr>
              <a:lnSpc>
                <a:spcPts val="1050"/>
              </a:lnSpc>
            </a:pPr>
            <a:r>
              <a:rPr lang="en-US" sz="750" b="1">
                <a:solidFill>
                  <a:srgbClr val="FFFFFF"/>
                </a:solidFill>
                <a:latin typeface="Gill Sans MT Pro Medium"/>
                <a:ea typeface="Gill Sans MT Pro Medium"/>
                <a:cs typeface="Gill Sans MT Pro Medium"/>
                <a:sym typeface="Gill Sans MT Pro Medium"/>
              </a:rPr>
              <a:t>10</a:t>
            </a:r>
          </a:p>
        </p:txBody>
      </p:sp>
      <p:sp>
        <p:nvSpPr>
          <p:cNvPr id="120" name="TextBox 120"/>
          <p:cNvSpPr txBox="1"/>
          <p:nvPr/>
        </p:nvSpPr>
        <p:spPr>
          <a:xfrm>
            <a:off x="8320559" y="2633715"/>
            <a:ext cx="97150" cy="131190"/>
          </a:xfrm>
          <a:prstGeom prst="rect">
            <a:avLst/>
          </a:prstGeom>
        </p:spPr>
        <p:txBody>
          <a:bodyPr lIns="0" tIns="0" rIns="0" bIns="0" rtlCol="0" anchor="t">
            <a:spAutoFit/>
          </a:bodyPr>
          <a:lstStyle/>
          <a:p>
            <a:pPr>
              <a:lnSpc>
                <a:spcPts val="1050"/>
              </a:lnSpc>
            </a:pPr>
            <a:r>
              <a:rPr lang="en-US" sz="750" b="1">
                <a:solidFill>
                  <a:srgbClr val="0A2B6D"/>
                </a:solidFill>
                <a:latin typeface="Gill Sans MT Pro Medium"/>
                <a:ea typeface="Gill Sans MT Pro Medium"/>
                <a:cs typeface="Gill Sans MT Pro Medium"/>
                <a:sym typeface="Gill Sans MT Pro Medium"/>
              </a:rPr>
              <a:t>10</a:t>
            </a:r>
          </a:p>
        </p:txBody>
      </p:sp>
      <p:sp>
        <p:nvSpPr>
          <p:cNvPr id="121" name="TextBox 121"/>
          <p:cNvSpPr txBox="1"/>
          <p:nvPr/>
        </p:nvSpPr>
        <p:spPr>
          <a:xfrm>
            <a:off x="8601009" y="1363480"/>
            <a:ext cx="97150" cy="131190"/>
          </a:xfrm>
          <a:prstGeom prst="rect">
            <a:avLst/>
          </a:prstGeom>
        </p:spPr>
        <p:txBody>
          <a:bodyPr lIns="0" tIns="0" rIns="0" bIns="0" rtlCol="0" anchor="t">
            <a:spAutoFit/>
          </a:bodyPr>
          <a:lstStyle/>
          <a:p>
            <a:pPr>
              <a:lnSpc>
                <a:spcPts val="1050"/>
              </a:lnSpc>
            </a:pPr>
            <a:r>
              <a:rPr lang="en-US" sz="750" b="1">
                <a:solidFill>
                  <a:srgbClr val="FFFFFF"/>
                </a:solidFill>
                <a:latin typeface="Gill Sans MT Pro Medium"/>
                <a:ea typeface="Gill Sans MT Pro Medium"/>
                <a:cs typeface="Gill Sans MT Pro Medium"/>
                <a:sym typeface="Gill Sans MT Pro Medium"/>
              </a:rPr>
              <a:t>12</a:t>
            </a:r>
          </a:p>
        </p:txBody>
      </p:sp>
      <p:sp>
        <p:nvSpPr>
          <p:cNvPr id="122" name="TextBox 122"/>
          <p:cNvSpPr txBox="1"/>
          <p:nvPr/>
        </p:nvSpPr>
        <p:spPr>
          <a:xfrm>
            <a:off x="8664874" y="2633715"/>
            <a:ext cx="97150" cy="131190"/>
          </a:xfrm>
          <a:prstGeom prst="rect">
            <a:avLst/>
          </a:prstGeom>
        </p:spPr>
        <p:txBody>
          <a:bodyPr lIns="0" tIns="0" rIns="0" bIns="0" rtlCol="0" anchor="t">
            <a:spAutoFit/>
          </a:bodyPr>
          <a:lstStyle/>
          <a:p>
            <a:pPr>
              <a:lnSpc>
                <a:spcPts val="1050"/>
              </a:lnSpc>
            </a:pPr>
            <a:r>
              <a:rPr lang="en-US" sz="750" b="1">
                <a:solidFill>
                  <a:srgbClr val="0A2B6D"/>
                </a:solidFill>
                <a:latin typeface="Gill Sans MT Pro Medium"/>
                <a:ea typeface="Gill Sans MT Pro Medium"/>
                <a:cs typeface="Gill Sans MT Pro Medium"/>
                <a:sym typeface="Gill Sans MT Pro Medium"/>
              </a:rPr>
              <a:t>12</a:t>
            </a:r>
          </a:p>
        </p:txBody>
      </p:sp>
      <p:sp>
        <p:nvSpPr>
          <p:cNvPr id="123" name="TextBox 123"/>
          <p:cNvSpPr txBox="1"/>
          <p:nvPr/>
        </p:nvSpPr>
        <p:spPr>
          <a:xfrm>
            <a:off x="5726549" y="3418070"/>
            <a:ext cx="145666" cy="208134"/>
          </a:xfrm>
          <a:prstGeom prst="rect">
            <a:avLst/>
          </a:prstGeom>
        </p:spPr>
        <p:txBody>
          <a:bodyPr lIns="0" tIns="0" rIns="0" bIns="0" rtlCol="0" anchor="t">
            <a:spAutoFit/>
          </a:bodyPr>
          <a:lstStyle/>
          <a:p>
            <a:pPr>
              <a:lnSpc>
                <a:spcPts val="1874"/>
              </a:lnSpc>
            </a:pPr>
            <a:r>
              <a:rPr lang="en-US" sz="750" b="1">
                <a:solidFill>
                  <a:srgbClr val="0F398C"/>
                </a:solidFill>
                <a:latin typeface="Gill Sans MT Pro Medium"/>
                <a:ea typeface="Gill Sans MT Pro Medium"/>
                <a:cs typeface="Gill Sans MT Pro Medium"/>
                <a:sym typeface="Gill Sans MT Pro Medium"/>
              </a:rPr>
              <a:t>400</a:t>
            </a:r>
          </a:p>
        </p:txBody>
      </p:sp>
      <p:sp>
        <p:nvSpPr>
          <p:cNvPr id="124" name="TextBox 124"/>
          <p:cNvSpPr txBox="1"/>
          <p:nvPr/>
        </p:nvSpPr>
        <p:spPr>
          <a:xfrm>
            <a:off x="5726549" y="3663534"/>
            <a:ext cx="145666" cy="208134"/>
          </a:xfrm>
          <a:prstGeom prst="rect">
            <a:avLst/>
          </a:prstGeom>
        </p:spPr>
        <p:txBody>
          <a:bodyPr lIns="0" tIns="0" rIns="0" bIns="0" rtlCol="0" anchor="t">
            <a:spAutoFit/>
          </a:bodyPr>
          <a:lstStyle/>
          <a:p>
            <a:pPr>
              <a:lnSpc>
                <a:spcPts val="1874"/>
              </a:lnSpc>
            </a:pPr>
            <a:r>
              <a:rPr lang="en-US" sz="750" b="1">
                <a:solidFill>
                  <a:srgbClr val="0F398C"/>
                </a:solidFill>
                <a:latin typeface="Gill Sans MT Pro Medium"/>
                <a:ea typeface="Gill Sans MT Pro Medium"/>
                <a:cs typeface="Gill Sans MT Pro Medium"/>
                <a:sym typeface="Gill Sans MT Pro Medium"/>
              </a:rPr>
              <a:t>300</a:t>
            </a:r>
          </a:p>
        </p:txBody>
      </p:sp>
      <p:sp>
        <p:nvSpPr>
          <p:cNvPr id="125" name="TextBox 125"/>
          <p:cNvSpPr txBox="1"/>
          <p:nvPr/>
        </p:nvSpPr>
        <p:spPr>
          <a:xfrm>
            <a:off x="5726549" y="3908994"/>
            <a:ext cx="145666" cy="208134"/>
          </a:xfrm>
          <a:prstGeom prst="rect">
            <a:avLst/>
          </a:prstGeom>
        </p:spPr>
        <p:txBody>
          <a:bodyPr lIns="0" tIns="0" rIns="0" bIns="0" rtlCol="0" anchor="t">
            <a:spAutoFit/>
          </a:bodyPr>
          <a:lstStyle/>
          <a:p>
            <a:pPr>
              <a:lnSpc>
                <a:spcPts val="1874"/>
              </a:lnSpc>
            </a:pPr>
            <a:r>
              <a:rPr lang="en-US" sz="750" b="1">
                <a:solidFill>
                  <a:srgbClr val="0F398C"/>
                </a:solidFill>
                <a:latin typeface="Gill Sans MT Pro Medium"/>
                <a:ea typeface="Gill Sans MT Pro Medium"/>
                <a:cs typeface="Gill Sans MT Pro Medium"/>
                <a:sym typeface="Gill Sans MT Pro Medium"/>
              </a:rPr>
              <a:t>200</a:t>
            </a:r>
          </a:p>
        </p:txBody>
      </p:sp>
      <p:sp>
        <p:nvSpPr>
          <p:cNvPr id="126" name="TextBox 126"/>
          <p:cNvSpPr txBox="1"/>
          <p:nvPr/>
        </p:nvSpPr>
        <p:spPr>
          <a:xfrm>
            <a:off x="5726549" y="4154453"/>
            <a:ext cx="145666" cy="208134"/>
          </a:xfrm>
          <a:prstGeom prst="rect">
            <a:avLst/>
          </a:prstGeom>
        </p:spPr>
        <p:txBody>
          <a:bodyPr lIns="0" tIns="0" rIns="0" bIns="0" rtlCol="0" anchor="t">
            <a:spAutoFit/>
          </a:bodyPr>
          <a:lstStyle/>
          <a:p>
            <a:pPr>
              <a:lnSpc>
                <a:spcPts val="1874"/>
              </a:lnSpc>
            </a:pPr>
            <a:r>
              <a:rPr lang="en-US" sz="750" b="1">
                <a:solidFill>
                  <a:srgbClr val="0F398C"/>
                </a:solidFill>
                <a:latin typeface="Gill Sans MT Pro Medium"/>
                <a:ea typeface="Gill Sans MT Pro Medium"/>
                <a:cs typeface="Gill Sans MT Pro Medium"/>
                <a:sym typeface="Gill Sans MT Pro Medium"/>
              </a:rPr>
              <a:t>100</a:t>
            </a:r>
          </a:p>
        </p:txBody>
      </p:sp>
      <p:sp>
        <p:nvSpPr>
          <p:cNvPr id="127" name="TextBox 127"/>
          <p:cNvSpPr txBox="1"/>
          <p:nvPr/>
        </p:nvSpPr>
        <p:spPr>
          <a:xfrm>
            <a:off x="5821756" y="4399917"/>
            <a:ext cx="48554" cy="208134"/>
          </a:xfrm>
          <a:prstGeom prst="rect">
            <a:avLst/>
          </a:prstGeom>
        </p:spPr>
        <p:txBody>
          <a:bodyPr lIns="0" tIns="0" rIns="0" bIns="0" rtlCol="0" anchor="t">
            <a:spAutoFit/>
          </a:bodyPr>
          <a:lstStyle/>
          <a:p>
            <a:pPr>
              <a:lnSpc>
                <a:spcPts val="1874"/>
              </a:lnSpc>
            </a:pPr>
            <a:r>
              <a:rPr lang="en-US" sz="750" b="1">
                <a:solidFill>
                  <a:srgbClr val="0F398C"/>
                </a:solidFill>
                <a:latin typeface="Gill Sans MT Pro Medium"/>
                <a:ea typeface="Gill Sans MT Pro Medium"/>
                <a:cs typeface="Gill Sans MT Pro Medium"/>
                <a:sym typeface="Gill Sans MT Pro Medium"/>
              </a:rPr>
              <a:t>0</a:t>
            </a:r>
          </a:p>
        </p:txBody>
      </p:sp>
      <p:sp>
        <p:nvSpPr>
          <p:cNvPr id="128" name="TextBox 128"/>
          <p:cNvSpPr txBox="1"/>
          <p:nvPr/>
        </p:nvSpPr>
        <p:spPr>
          <a:xfrm>
            <a:off x="6150802" y="4256489"/>
            <a:ext cx="97112" cy="198516"/>
          </a:xfrm>
          <a:prstGeom prst="rect">
            <a:avLst/>
          </a:prstGeom>
        </p:spPr>
        <p:txBody>
          <a:bodyPr lIns="0" tIns="0" rIns="0" bIns="0" rtlCol="0" anchor="t">
            <a:spAutoFit/>
          </a:bodyPr>
          <a:lstStyle/>
          <a:p>
            <a:pPr>
              <a:lnSpc>
                <a:spcPts val="1807"/>
              </a:lnSpc>
            </a:pPr>
            <a:r>
              <a:rPr lang="en-US" sz="750" b="1">
                <a:solidFill>
                  <a:srgbClr val="0F398C"/>
                </a:solidFill>
                <a:latin typeface="Gill Sans MT Pro Medium"/>
                <a:ea typeface="Gill Sans MT Pro Medium"/>
                <a:cs typeface="Gill Sans MT Pro Medium"/>
                <a:sym typeface="Gill Sans MT Pro Medium"/>
              </a:rPr>
              <a:t>35</a:t>
            </a:r>
          </a:p>
        </p:txBody>
      </p:sp>
      <p:sp>
        <p:nvSpPr>
          <p:cNvPr id="129" name="TextBox 129"/>
          <p:cNvSpPr txBox="1"/>
          <p:nvPr/>
        </p:nvSpPr>
        <p:spPr>
          <a:xfrm>
            <a:off x="6112226" y="4485904"/>
            <a:ext cx="194220" cy="198516"/>
          </a:xfrm>
          <a:prstGeom prst="rect">
            <a:avLst/>
          </a:prstGeom>
        </p:spPr>
        <p:txBody>
          <a:bodyPr lIns="0" tIns="0" rIns="0" bIns="0" rtlCol="0" anchor="t">
            <a:spAutoFit/>
          </a:bodyPr>
          <a:lstStyle/>
          <a:p>
            <a:pPr>
              <a:lnSpc>
                <a:spcPts val="1807"/>
              </a:lnSpc>
            </a:pPr>
            <a:r>
              <a:rPr lang="en-US" sz="750" b="1">
                <a:solidFill>
                  <a:srgbClr val="0F398C"/>
                </a:solidFill>
                <a:latin typeface="Gill Sans MT Pro Medium"/>
                <a:ea typeface="Gill Sans MT Pro Medium"/>
                <a:cs typeface="Gill Sans MT Pro Medium"/>
                <a:sym typeface="Gill Sans MT Pro Medium"/>
              </a:rPr>
              <a:t>2021</a:t>
            </a:r>
          </a:p>
        </p:txBody>
      </p:sp>
      <p:sp>
        <p:nvSpPr>
          <p:cNvPr id="130" name="TextBox 130"/>
          <p:cNvSpPr txBox="1"/>
          <p:nvPr/>
        </p:nvSpPr>
        <p:spPr>
          <a:xfrm>
            <a:off x="6734571" y="4374052"/>
            <a:ext cx="97112" cy="150426"/>
          </a:xfrm>
          <a:prstGeom prst="rect">
            <a:avLst/>
          </a:prstGeom>
        </p:spPr>
        <p:txBody>
          <a:bodyPr lIns="0" tIns="0" rIns="0" bIns="0" rtlCol="0" anchor="t">
            <a:spAutoFit/>
          </a:bodyPr>
          <a:lstStyle/>
          <a:p>
            <a:pPr>
              <a:lnSpc>
                <a:spcPts val="1293"/>
              </a:lnSpc>
            </a:pPr>
            <a:r>
              <a:rPr lang="en-US" sz="750" b="1">
                <a:solidFill>
                  <a:srgbClr val="FFFFFF"/>
                </a:solidFill>
                <a:latin typeface="Gill Sans MT Pro Medium"/>
                <a:ea typeface="Gill Sans MT Pro Medium"/>
                <a:cs typeface="Gill Sans MT Pro Medium"/>
                <a:sym typeface="Gill Sans MT Pro Medium"/>
              </a:rPr>
              <a:t>61</a:t>
            </a:r>
          </a:p>
        </p:txBody>
      </p:sp>
      <p:sp>
        <p:nvSpPr>
          <p:cNvPr id="131" name="TextBox 131"/>
          <p:cNvSpPr txBox="1"/>
          <p:nvPr/>
        </p:nvSpPr>
        <p:spPr>
          <a:xfrm>
            <a:off x="6680302" y="4538291"/>
            <a:ext cx="194220" cy="150426"/>
          </a:xfrm>
          <a:prstGeom prst="rect">
            <a:avLst/>
          </a:prstGeom>
        </p:spPr>
        <p:txBody>
          <a:bodyPr lIns="0" tIns="0" rIns="0" bIns="0" rtlCol="0" anchor="t">
            <a:spAutoFit/>
          </a:bodyPr>
          <a:lstStyle/>
          <a:p>
            <a:pPr>
              <a:lnSpc>
                <a:spcPts val="1293"/>
              </a:lnSpc>
            </a:pPr>
            <a:r>
              <a:rPr lang="en-US" sz="750" b="1">
                <a:solidFill>
                  <a:srgbClr val="0F398C"/>
                </a:solidFill>
                <a:latin typeface="Gill Sans MT Pro Medium"/>
                <a:ea typeface="Gill Sans MT Pro Medium"/>
                <a:cs typeface="Gill Sans MT Pro Medium"/>
                <a:sym typeface="Gill Sans MT Pro Medium"/>
              </a:rPr>
              <a:t>2022</a:t>
            </a:r>
          </a:p>
        </p:txBody>
      </p:sp>
      <p:sp>
        <p:nvSpPr>
          <p:cNvPr id="132" name="TextBox 132"/>
          <p:cNvSpPr txBox="1"/>
          <p:nvPr/>
        </p:nvSpPr>
        <p:spPr>
          <a:xfrm>
            <a:off x="7276614" y="3659039"/>
            <a:ext cx="145666" cy="131190"/>
          </a:xfrm>
          <a:prstGeom prst="rect">
            <a:avLst/>
          </a:prstGeom>
        </p:spPr>
        <p:txBody>
          <a:bodyPr lIns="0" tIns="0" rIns="0" bIns="0" rtlCol="0" anchor="t">
            <a:spAutoFit/>
          </a:bodyPr>
          <a:lstStyle/>
          <a:p>
            <a:pPr>
              <a:lnSpc>
                <a:spcPts val="1050"/>
              </a:lnSpc>
            </a:pPr>
            <a:r>
              <a:rPr lang="en-US" sz="750" b="1">
                <a:solidFill>
                  <a:srgbClr val="FFFFFF"/>
                </a:solidFill>
                <a:latin typeface="Gill Sans MT Pro Medium"/>
                <a:ea typeface="Gill Sans MT Pro Medium"/>
                <a:cs typeface="Gill Sans MT Pro Medium"/>
                <a:sym typeface="Gill Sans MT Pro Medium"/>
              </a:rPr>
              <a:t>362</a:t>
            </a:r>
          </a:p>
        </p:txBody>
      </p:sp>
      <p:sp>
        <p:nvSpPr>
          <p:cNvPr id="133" name="TextBox 133"/>
          <p:cNvSpPr txBox="1"/>
          <p:nvPr/>
        </p:nvSpPr>
        <p:spPr>
          <a:xfrm>
            <a:off x="7255098" y="4562104"/>
            <a:ext cx="194220" cy="131190"/>
          </a:xfrm>
          <a:prstGeom prst="rect">
            <a:avLst/>
          </a:prstGeom>
        </p:spPr>
        <p:txBody>
          <a:bodyPr lIns="0" tIns="0" rIns="0" bIns="0" rtlCol="0" anchor="t">
            <a:spAutoFit/>
          </a:bodyPr>
          <a:lstStyle/>
          <a:p>
            <a:pPr>
              <a:lnSpc>
                <a:spcPts val="1050"/>
              </a:lnSpc>
            </a:pPr>
            <a:r>
              <a:rPr lang="en-US" sz="750" b="1">
                <a:solidFill>
                  <a:srgbClr val="0F398C"/>
                </a:solidFill>
                <a:latin typeface="Gill Sans MT Pro Medium"/>
                <a:ea typeface="Gill Sans MT Pro Medium"/>
                <a:cs typeface="Gill Sans MT Pro Medium"/>
                <a:sym typeface="Gill Sans MT Pro Medium"/>
              </a:rPr>
              <a:t>2023</a:t>
            </a:r>
          </a:p>
        </p:txBody>
      </p:sp>
      <p:sp>
        <p:nvSpPr>
          <p:cNvPr id="134" name="TextBox 134"/>
          <p:cNvSpPr txBox="1"/>
          <p:nvPr/>
        </p:nvSpPr>
        <p:spPr>
          <a:xfrm>
            <a:off x="7853658" y="3418923"/>
            <a:ext cx="145666" cy="131190"/>
          </a:xfrm>
          <a:prstGeom prst="rect">
            <a:avLst/>
          </a:prstGeom>
        </p:spPr>
        <p:txBody>
          <a:bodyPr lIns="0" tIns="0" rIns="0" bIns="0" rtlCol="0" anchor="t">
            <a:spAutoFit/>
          </a:bodyPr>
          <a:lstStyle/>
          <a:p>
            <a:pPr>
              <a:lnSpc>
                <a:spcPts val="1050"/>
              </a:lnSpc>
            </a:pPr>
            <a:r>
              <a:rPr lang="en-US" sz="750" b="1">
                <a:solidFill>
                  <a:srgbClr val="FFFFFF"/>
                </a:solidFill>
                <a:latin typeface="Gill Sans MT Pro Medium"/>
                <a:ea typeface="Gill Sans MT Pro Medium"/>
                <a:cs typeface="Gill Sans MT Pro Medium"/>
                <a:sym typeface="Gill Sans MT Pro Medium"/>
              </a:rPr>
              <a:t>458</a:t>
            </a:r>
          </a:p>
        </p:txBody>
      </p:sp>
      <p:sp>
        <p:nvSpPr>
          <p:cNvPr id="135" name="TextBox 135"/>
          <p:cNvSpPr txBox="1"/>
          <p:nvPr/>
        </p:nvSpPr>
        <p:spPr>
          <a:xfrm>
            <a:off x="7827650" y="4562104"/>
            <a:ext cx="194220" cy="131190"/>
          </a:xfrm>
          <a:prstGeom prst="rect">
            <a:avLst/>
          </a:prstGeom>
        </p:spPr>
        <p:txBody>
          <a:bodyPr lIns="0" tIns="0" rIns="0" bIns="0" rtlCol="0" anchor="t">
            <a:spAutoFit/>
          </a:bodyPr>
          <a:lstStyle/>
          <a:p>
            <a:pPr>
              <a:lnSpc>
                <a:spcPts val="1050"/>
              </a:lnSpc>
            </a:pPr>
            <a:r>
              <a:rPr lang="en-US" sz="750" b="1">
                <a:solidFill>
                  <a:srgbClr val="0F398C"/>
                </a:solidFill>
                <a:latin typeface="Gill Sans MT Pro Medium"/>
                <a:ea typeface="Gill Sans MT Pro Medium"/>
                <a:cs typeface="Gill Sans MT Pro Medium"/>
                <a:sym typeface="Gill Sans MT Pro Medium"/>
              </a:rPr>
              <a:t>2024</a:t>
            </a:r>
          </a:p>
        </p:txBody>
      </p:sp>
      <p:sp>
        <p:nvSpPr>
          <p:cNvPr id="136" name="TextBox 136"/>
          <p:cNvSpPr txBox="1"/>
          <p:nvPr/>
        </p:nvSpPr>
        <p:spPr>
          <a:xfrm>
            <a:off x="8428463" y="3512168"/>
            <a:ext cx="145666" cy="131190"/>
          </a:xfrm>
          <a:prstGeom prst="rect">
            <a:avLst/>
          </a:prstGeom>
        </p:spPr>
        <p:txBody>
          <a:bodyPr lIns="0" tIns="0" rIns="0" bIns="0" rtlCol="0" anchor="t">
            <a:spAutoFit/>
          </a:bodyPr>
          <a:lstStyle/>
          <a:p>
            <a:pPr>
              <a:lnSpc>
                <a:spcPts val="1050"/>
              </a:lnSpc>
            </a:pPr>
            <a:r>
              <a:rPr lang="en-US" sz="750" b="1">
                <a:solidFill>
                  <a:srgbClr val="FFFFFF"/>
                </a:solidFill>
                <a:latin typeface="Gill Sans MT Pro Medium"/>
                <a:ea typeface="Gill Sans MT Pro Medium"/>
                <a:cs typeface="Gill Sans MT Pro Medium"/>
                <a:sym typeface="Gill Sans MT Pro Medium"/>
              </a:rPr>
              <a:t>420</a:t>
            </a:r>
          </a:p>
        </p:txBody>
      </p:sp>
      <p:sp>
        <p:nvSpPr>
          <p:cNvPr id="137" name="TextBox 137"/>
          <p:cNvSpPr txBox="1"/>
          <p:nvPr/>
        </p:nvSpPr>
        <p:spPr>
          <a:xfrm>
            <a:off x="8404689" y="4562104"/>
            <a:ext cx="194220" cy="131190"/>
          </a:xfrm>
          <a:prstGeom prst="rect">
            <a:avLst/>
          </a:prstGeom>
        </p:spPr>
        <p:txBody>
          <a:bodyPr lIns="0" tIns="0" rIns="0" bIns="0" rtlCol="0" anchor="t">
            <a:spAutoFit/>
          </a:bodyPr>
          <a:lstStyle/>
          <a:p>
            <a:pPr>
              <a:lnSpc>
                <a:spcPts val="1050"/>
              </a:lnSpc>
            </a:pPr>
            <a:r>
              <a:rPr lang="en-US" sz="750" b="1">
                <a:solidFill>
                  <a:srgbClr val="0F398C"/>
                </a:solidFill>
                <a:latin typeface="Gill Sans MT Pro Medium"/>
                <a:ea typeface="Gill Sans MT Pro Medium"/>
                <a:cs typeface="Gill Sans MT Pro Medium"/>
                <a:sym typeface="Gill Sans MT Pro Medium"/>
              </a:rPr>
              <a:t>2025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365760"/>
          </a:xfrm>
          <a:prstGeom prst="rect">
            <a:avLst/>
          </a:prstGeom>
          <a:noFill/>
          <a:ln/>
        </p:spPr>
        <p:txBody>
          <a:bodyPr wrap="square" lIns="0" tIns="0" rIns="0" bIns="0" rtlCol="0" anchor="ctr"/>
          <a:lstStyle/>
          <a:p>
            <a:pPr marL="0" indent="0">
              <a:buNone/>
            </a:pPr>
            <a:r>
              <a:rPr lang="en-US" sz="1100" b="1" kern="0" spc="500" dirty="0">
                <a:solidFill>
                  <a:srgbClr val="3D63F0"/>
                </a:solidFill>
                <a:latin typeface="Calibri" pitchFamily="34" charset="0"/>
                <a:ea typeface="Calibri" pitchFamily="34" charset="-122"/>
                <a:cs typeface="Calibri" pitchFamily="34" charset="-120"/>
              </a:rPr>
              <a:t>THE OPPORTUNITY SPACE</a:t>
            </a:r>
            <a:endParaRPr lang="en-US" sz="1100" dirty="0"/>
          </a:p>
        </p:txBody>
      </p:sp>
      <p:sp>
        <p:nvSpPr>
          <p:cNvPr id="3" name="Text 1"/>
          <p:cNvSpPr/>
          <p:nvPr/>
        </p:nvSpPr>
        <p:spPr>
          <a:xfrm>
            <a:off x="457200" y="594360"/>
            <a:ext cx="8229600" cy="640080"/>
          </a:xfrm>
          <a:prstGeom prst="rect">
            <a:avLst/>
          </a:prstGeom>
          <a:noFill/>
          <a:ln/>
        </p:spPr>
        <p:txBody>
          <a:bodyPr wrap="square" lIns="0" tIns="0" rIns="0" bIns="0" rtlCol="0" anchor="ctr"/>
          <a:lstStyle/>
          <a:p>
            <a:pPr marL="0" indent="0">
              <a:buNone/>
            </a:pPr>
            <a:r>
              <a:rPr lang="en-US" sz="3600" b="1" dirty="0">
                <a:solidFill>
                  <a:srgbClr val="0F172A"/>
                </a:solidFill>
                <a:latin typeface="Arial Black" pitchFamily="34" charset="0"/>
                <a:ea typeface="Arial Black" pitchFamily="34" charset="-122"/>
                <a:cs typeface="Arial Black" pitchFamily="34" charset="-120"/>
              </a:rPr>
              <a:t>AI x Sustainability</a:t>
            </a:r>
            <a:endParaRPr lang="en-US" sz="3600" dirty="0"/>
          </a:p>
        </p:txBody>
      </p:sp>
      <p:sp>
        <p:nvSpPr>
          <p:cNvPr id="4" name="Shape 2"/>
          <p:cNvSpPr/>
          <p:nvPr/>
        </p:nvSpPr>
        <p:spPr>
          <a:xfrm>
            <a:off x="320040" y="1444752"/>
            <a:ext cx="2743200" cy="1536192"/>
          </a:xfrm>
          <a:prstGeom prst="rect">
            <a:avLst/>
          </a:prstGeom>
          <a:solidFill>
            <a:srgbClr val="EEF2FF"/>
          </a:solidFill>
          <a:ln w="12700">
            <a:solidFill>
              <a:srgbClr val="16A34A"/>
            </a:solidFill>
            <a:prstDash val="solid"/>
          </a:ln>
        </p:spPr>
        <p:txBody>
          <a:bodyPr/>
          <a:lstStyle/>
          <a:p>
            <a:endParaRPr lang="fr-FR"/>
          </a:p>
        </p:txBody>
      </p:sp>
      <p:pic>
        <p:nvPicPr>
          <p:cNvPr id="5" name="Image 0" descr="preencoded.png"/>
          <p:cNvPicPr>
            <a:picLocks noChangeAspect="1"/>
          </p:cNvPicPr>
          <p:nvPr/>
        </p:nvPicPr>
        <p:blipFill>
          <a:blip r:embed="rId3"/>
          <a:stretch>
            <a:fillRect/>
          </a:stretch>
        </p:blipFill>
        <p:spPr>
          <a:xfrm>
            <a:off x="484632" y="1691640"/>
            <a:ext cx="320040" cy="320040"/>
          </a:xfrm>
          <a:prstGeom prst="rect">
            <a:avLst/>
          </a:prstGeom>
        </p:spPr>
      </p:pic>
      <p:sp>
        <p:nvSpPr>
          <p:cNvPr id="6" name="Text 3"/>
          <p:cNvSpPr/>
          <p:nvPr/>
        </p:nvSpPr>
        <p:spPr>
          <a:xfrm>
            <a:off x="914400" y="1627632"/>
            <a:ext cx="2011680" cy="347472"/>
          </a:xfrm>
          <a:prstGeom prst="rect">
            <a:avLst/>
          </a:prstGeom>
          <a:noFill/>
          <a:ln/>
        </p:spPr>
        <p:txBody>
          <a:bodyPr wrap="square" lIns="0" tIns="0" rIns="0" bIns="0" rtlCol="0" anchor="ctr"/>
          <a:lstStyle/>
          <a:p>
            <a:pPr marL="0" indent="0">
              <a:buNone/>
            </a:pPr>
            <a:r>
              <a:rPr lang="en-US" sz="1300" b="1" dirty="0">
                <a:solidFill>
                  <a:srgbClr val="0F172A"/>
                </a:solidFill>
                <a:latin typeface="Arial Black" pitchFamily="34" charset="0"/>
                <a:ea typeface="Arial Black" pitchFamily="34" charset="-122"/>
                <a:cs typeface="Arial Black" pitchFamily="34" charset="-120"/>
              </a:rPr>
              <a:t>Climate &amp; Energy</a:t>
            </a:r>
            <a:endParaRPr lang="en-US" sz="1300" dirty="0"/>
          </a:p>
        </p:txBody>
      </p:sp>
      <p:sp>
        <p:nvSpPr>
          <p:cNvPr id="7" name="Text 4"/>
          <p:cNvSpPr/>
          <p:nvPr/>
        </p:nvSpPr>
        <p:spPr>
          <a:xfrm>
            <a:off x="484632" y="2103120"/>
            <a:ext cx="2423160" cy="731520"/>
          </a:xfrm>
          <a:prstGeom prst="rect">
            <a:avLst/>
          </a:prstGeom>
          <a:noFill/>
          <a:ln/>
        </p:spPr>
        <p:txBody>
          <a:bodyPr wrap="square" rtlCol="0" anchor="ctr"/>
          <a:lstStyle/>
          <a:p>
            <a:pPr marL="0" indent="0">
              <a:lnSpc>
                <a:spcPct val="130000"/>
              </a:lnSpc>
              <a:buNone/>
            </a:pPr>
            <a:r>
              <a:rPr lang="en-US" sz="1200" dirty="0">
                <a:solidFill>
                  <a:srgbClr val="334155"/>
                </a:solidFill>
                <a:latin typeface="Calibri" pitchFamily="34" charset="0"/>
                <a:ea typeface="Calibri" pitchFamily="34" charset="-122"/>
                <a:cs typeface="Calibri" pitchFamily="34" charset="-120"/>
              </a:rPr>
              <a:t>Grid optimization, carbon tracking, renewable forecasting</a:t>
            </a:r>
            <a:endParaRPr lang="en-US" sz="1200" dirty="0"/>
          </a:p>
        </p:txBody>
      </p:sp>
      <p:sp>
        <p:nvSpPr>
          <p:cNvPr id="8" name="Shape 5"/>
          <p:cNvSpPr/>
          <p:nvPr/>
        </p:nvSpPr>
        <p:spPr>
          <a:xfrm>
            <a:off x="3246120" y="1444752"/>
            <a:ext cx="2743200" cy="1536192"/>
          </a:xfrm>
          <a:prstGeom prst="rect">
            <a:avLst/>
          </a:prstGeom>
          <a:solidFill>
            <a:srgbClr val="EEF2FF"/>
          </a:solidFill>
          <a:ln w="12700">
            <a:solidFill>
              <a:srgbClr val="65A30D"/>
            </a:solidFill>
            <a:prstDash val="solid"/>
          </a:ln>
        </p:spPr>
        <p:txBody>
          <a:bodyPr/>
          <a:lstStyle/>
          <a:p>
            <a:endParaRPr lang="fr-FR"/>
          </a:p>
        </p:txBody>
      </p:sp>
      <p:pic>
        <p:nvPicPr>
          <p:cNvPr id="9" name="Image 1" descr="preencoded.png"/>
          <p:cNvPicPr>
            <a:picLocks noChangeAspect="1"/>
          </p:cNvPicPr>
          <p:nvPr/>
        </p:nvPicPr>
        <p:blipFill>
          <a:blip r:embed="rId4"/>
          <a:stretch>
            <a:fillRect/>
          </a:stretch>
        </p:blipFill>
        <p:spPr>
          <a:xfrm>
            <a:off x="3410712" y="1691640"/>
            <a:ext cx="320040" cy="320040"/>
          </a:xfrm>
          <a:prstGeom prst="rect">
            <a:avLst/>
          </a:prstGeom>
        </p:spPr>
      </p:pic>
      <p:sp>
        <p:nvSpPr>
          <p:cNvPr id="10" name="Text 6"/>
          <p:cNvSpPr/>
          <p:nvPr/>
        </p:nvSpPr>
        <p:spPr>
          <a:xfrm>
            <a:off x="3840480" y="1627632"/>
            <a:ext cx="2011680" cy="347472"/>
          </a:xfrm>
          <a:prstGeom prst="rect">
            <a:avLst/>
          </a:prstGeom>
          <a:noFill/>
          <a:ln/>
        </p:spPr>
        <p:txBody>
          <a:bodyPr wrap="square" lIns="0" tIns="0" rIns="0" bIns="0" rtlCol="0" anchor="ctr"/>
          <a:lstStyle/>
          <a:p>
            <a:pPr marL="0" indent="0">
              <a:buNone/>
            </a:pPr>
            <a:r>
              <a:rPr lang="en-US" sz="1300" b="1" dirty="0">
                <a:solidFill>
                  <a:srgbClr val="0F172A"/>
                </a:solidFill>
                <a:latin typeface="Arial Black" pitchFamily="34" charset="0"/>
                <a:ea typeface="Arial Black" pitchFamily="34" charset="-122"/>
                <a:cs typeface="Arial Black" pitchFamily="34" charset="-120"/>
              </a:rPr>
              <a:t>Food &amp; Water</a:t>
            </a:r>
            <a:endParaRPr lang="en-US" sz="1300" dirty="0"/>
          </a:p>
        </p:txBody>
      </p:sp>
      <p:sp>
        <p:nvSpPr>
          <p:cNvPr id="11" name="Text 7"/>
          <p:cNvSpPr/>
          <p:nvPr/>
        </p:nvSpPr>
        <p:spPr>
          <a:xfrm>
            <a:off x="3410712" y="2103120"/>
            <a:ext cx="2423160" cy="731520"/>
          </a:xfrm>
          <a:prstGeom prst="rect">
            <a:avLst/>
          </a:prstGeom>
          <a:noFill/>
          <a:ln/>
        </p:spPr>
        <p:txBody>
          <a:bodyPr wrap="square" rtlCol="0" anchor="ctr"/>
          <a:lstStyle/>
          <a:p>
            <a:pPr marL="0" indent="0">
              <a:lnSpc>
                <a:spcPct val="130000"/>
              </a:lnSpc>
              <a:buNone/>
            </a:pPr>
            <a:r>
              <a:rPr lang="en-US" sz="1200" dirty="0">
                <a:solidFill>
                  <a:srgbClr val="334155"/>
                </a:solidFill>
                <a:latin typeface="Calibri" pitchFamily="34" charset="0"/>
                <a:ea typeface="Calibri" pitchFamily="34" charset="-122"/>
                <a:cs typeface="Calibri" pitchFamily="34" charset="-120"/>
              </a:rPr>
              <a:t>Precision agriculture, supply chain waste, water quality</a:t>
            </a:r>
            <a:endParaRPr lang="en-US" sz="1200" dirty="0"/>
          </a:p>
        </p:txBody>
      </p:sp>
      <p:sp>
        <p:nvSpPr>
          <p:cNvPr id="12" name="Shape 8"/>
          <p:cNvSpPr/>
          <p:nvPr/>
        </p:nvSpPr>
        <p:spPr>
          <a:xfrm>
            <a:off x="6172200" y="1444752"/>
            <a:ext cx="2743200" cy="1536192"/>
          </a:xfrm>
          <a:prstGeom prst="rect">
            <a:avLst/>
          </a:prstGeom>
          <a:solidFill>
            <a:srgbClr val="EEF2FF"/>
          </a:solidFill>
          <a:ln w="12700">
            <a:solidFill>
              <a:srgbClr val="DB2777"/>
            </a:solidFill>
            <a:prstDash val="solid"/>
          </a:ln>
        </p:spPr>
        <p:txBody>
          <a:bodyPr/>
          <a:lstStyle/>
          <a:p>
            <a:endParaRPr lang="fr-FR"/>
          </a:p>
        </p:txBody>
      </p:sp>
      <p:pic>
        <p:nvPicPr>
          <p:cNvPr id="13" name="Image 2" descr="preencoded.png"/>
          <p:cNvPicPr>
            <a:picLocks noChangeAspect="1"/>
          </p:cNvPicPr>
          <p:nvPr/>
        </p:nvPicPr>
        <p:blipFill>
          <a:blip r:embed="rId5"/>
          <a:stretch>
            <a:fillRect/>
          </a:stretch>
        </p:blipFill>
        <p:spPr>
          <a:xfrm>
            <a:off x="6336792" y="1691640"/>
            <a:ext cx="320040" cy="320040"/>
          </a:xfrm>
          <a:prstGeom prst="rect">
            <a:avLst/>
          </a:prstGeom>
        </p:spPr>
      </p:pic>
      <p:sp>
        <p:nvSpPr>
          <p:cNvPr id="14" name="Text 9"/>
          <p:cNvSpPr/>
          <p:nvPr/>
        </p:nvSpPr>
        <p:spPr>
          <a:xfrm>
            <a:off x="6766560" y="1627632"/>
            <a:ext cx="2011680" cy="347472"/>
          </a:xfrm>
          <a:prstGeom prst="rect">
            <a:avLst/>
          </a:prstGeom>
          <a:noFill/>
          <a:ln/>
        </p:spPr>
        <p:txBody>
          <a:bodyPr wrap="square" lIns="0" tIns="0" rIns="0" bIns="0" rtlCol="0" anchor="ctr"/>
          <a:lstStyle/>
          <a:p>
            <a:pPr marL="0" indent="0">
              <a:buNone/>
            </a:pPr>
            <a:r>
              <a:rPr lang="en-US" sz="1300" b="1" dirty="0">
                <a:solidFill>
                  <a:srgbClr val="0F172A"/>
                </a:solidFill>
                <a:latin typeface="Arial Black" pitchFamily="34" charset="0"/>
                <a:ea typeface="Arial Black" pitchFamily="34" charset="-122"/>
                <a:cs typeface="Arial Black" pitchFamily="34" charset="-120"/>
              </a:rPr>
              <a:t>Health Access</a:t>
            </a:r>
            <a:endParaRPr lang="en-US" sz="1300" dirty="0"/>
          </a:p>
        </p:txBody>
      </p:sp>
      <p:sp>
        <p:nvSpPr>
          <p:cNvPr id="15" name="Text 10"/>
          <p:cNvSpPr/>
          <p:nvPr/>
        </p:nvSpPr>
        <p:spPr>
          <a:xfrm>
            <a:off x="6336792" y="2103120"/>
            <a:ext cx="2423160" cy="731520"/>
          </a:xfrm>
          <a:prstGeom prst="rect">
            <a:avLst/>
          </a:prstGeom>
          <a:noFill/>
          <a:ln/>
        </p:spPr>
        <p:txBody>
          <a:bodyPr wrap="square" rtlCol="0" anchor="ctr"/>
          <a:lstStyle/>
          <a:p>
            <a:pPr marL="0" indent="0">
              <a:lnSpc>
                <a:spcPct val="130000"/>
              </a:lnSpc>
              <a:buNone/>
            </a:pPr>
            <a:r>
              <a:rPr lang="en-US" sz="1200" dirty="0">
                <a:solidFill>
                  <a:srgbClr val="334155"/>
                </a:solidFill>
                <a:latin typeface="Calibri" pitchFamily="34" charset="0"/>
                <a:ea typeface="Calibri" pitchFamily="34" charset="-122"/>
                <a:cs typeface="Calibri" pitchFamily="34" charset="-120"/>
              </a:rPr>
              <a:t>Diagnostics in underserved regions, disease prediction</a:t>
            </a:r>
            <a:endParaRPr lang="en-US" sz="1200" dirty="0"/>
          </a:p>
        </p:txBody>
      </p:sp>
      <p:sp>
        <p:nvSpPr>
          <p:cNvPr id="16" name="Shape 11"/>
          <p:cNvSpPr/>
          <p:nvPr/>
        </p:nvSpPr>
        <p:spPr>
          <a:xfrm>
            <a:off x="320040" y="3136392"/>
            <a:ext cx="2743200" cy="1536192"/>
          </a:xfrm>
          <a:prstGeom prst="rect">
            <a:avLst/>
          </a:prstGeom>
          <a:solidFill>
            <a:srgbClr val="EEF2FF"/>
          </a:solidFill>
          <a:ln w="12700">
            <a:solidFill>
              <a:srgbClr val="D97706"/>
            </a:solidFill>
            <a:prstDash val="solid"/>
          </a:ln>
        </p:spPr>
        <p:txBody>
          <a:bodyPr/>
          <a:lstStyle/>
          <a:p>
            <a:endParaRPr lang="fr-FR"/>
          </a:p>
        </p:txBody>
      </p:sp>
      <p:pic>
        <p:nvPicPr>
          <p:cNvPr id="17" name="Image 3" descr="preencoded.png"/>
          <p:cNvPicPr>
            <a:picLocks noChangeAspect="1"/>
          </p:cNvPicPr>
          <p:nvPr/>
        </p:nvPicPr>
        <p:blipFill>
          <a:blip r:embed="rId6"/>
          <a:stretch>
            <a:fillRect/>
          </a:stretch>
        </p:blipFill>
        <p:spPr>
          <a:xfrm>
            <a:off x="484632" y="3383280"/>
            <a:ext cx="320040" cy="320040"/>
          </a:xfrm>
          <a:prstGeom prst="rect">
            <a:avLst/>
          </a:prstGeom>
        </p:spPr>
      </p:pic>
      <p:sp>
        <p:nvSpPr>
          <p:cNvPr id="18" name="Text 12"/>
          <p:cNvSpPr/>
          <p:nvPr/>
        </p:nvSpPr>
        <p:spPr>
          <a:xfrm>
            <a:off x="914400" y="3319272"/>
            <a:ext cx="2011680" cy="347472"/>
          </a:xfrm>
          <a:prstGeom prst="rect">
            <a:avLst/>
          </a:prstGeom>
          <a:noFill/>
          <a:ln/>
        </p:spPr>
        <p:txBody>
          <a:bodyPr wrap="square" lIns="0" tIns="0" rIns="0" bIns="0" rtlCol="0" anchor="ctr"/>
          <a:lstStyle/>
          <a:p>
            <a:pPr marL="0" indent="0">
              <a:buNone/>
            </a:pPr>
            <a:r>
              <a:rPr lang="en-US" sz="1300" b="1" dirty="0">
                <a:solidFill>
                  <a:srgbClr val="0F172A"/>
                </a:solidFill>
                <a:latin typeface="Arial Black" pitchFamily="34" charset="0"/>
                <a:ea typeface="Arial Black" pitchFamily="34" charset="-122"/>
                <a:cs typeface="Arial Black" pitchFamily="34" charset="-120"/>
              </a:rPr>
              <a:t>Education Equity</a:t>
            </a:r>
            <a:endParaRPr lang="en-US" sz="1300" dirty="0"/>
          </a:p>
        </p:txBody>
      </p:sp>
      <p:sp>
        <p:nvSpPr>
          <p:cNvPr id="19" name="Text 13"/>
          <p:cNvSpPr/>
          <p:nvPr/>
        </p:nvSpPr>
        <p:spPr>
          <a:xfrm>
            <a:off x="484632" y="3794760"/>
            <a:ext cx="2423160" cy="731520"/>
          </a:xfrm>
          <a:prstGeom prst="rect">
            <a:avLst/>
          </a:prstGeom>
          <a:noFill/>
          <a:ln/>
        </p:spPr>
        <p:txBody>
          <a:bodyPr wrap="square" rtlCol="0" anchor="ctr"/>
          <a:lstStyle/>
          <a:p>
            <a:pPr marL="0" indent="0">
              <a:lnSpc>
                <a:spcPct val="130000"/>
              </a:lnSpc>
              <a:buNone/>
            </a:pPr>
            <a:r>
              <a:rPr lang="en-US" sz="1200" dirty="0">
                <a:solidFill>
                  <a:srgbClr val="334155"/>
                </a:solidFill>
                <a:latin typeface="Calibri" pitchFamily="34" charset="0"/>
                <a:ea typeface="Calibri" pitchFamily="34" charset="-122"/>
                <a:cs typeface="Calibri" pitchFamily="34" charset="-120"/>
              </a:rPr>
              <a:t>Personalized learning at scale in low-resource settings</a:t>
            </a:r>
            <a:endParaRPr lang="en-US" sz="1200" dirty="0"/>
          </a:p>
        </p:txBody>
      </p:sp>
      <p:sp>
        <p:nvSpPr>
          <p:cNvPr id="20" name="Shape 14"/>
          <p:cNvSpPr/>
          <p:nvPr/>
        </p:nvSpPr>
        <p:spPr>
          <a:xfrm>
            <a:off x="3246120" y="3136392"/>
            <a:ext cx="2743200" cy="1536192"/>
          </a:xfrm>
          <a:prstGeom prst="rect">
            <a:avLst/>
          </a:prstGeom>
          <a:solidFill>
            <a:srgbClr val="EEF2FF"/>
          </a:solidFill>
          <a:ln w="12700">
            <a:solidFill>
              <a:srgbClr val="0284C7"/>
            </a:solidFill>
            <a:prstDash val="solid"/>
          </a:ln>
        </p:spPr>
        <p:txBody>
          <a:bodyPr/>
          <a:lstStyle/>
          <a:p>
            <a:endParaRPr lang="fr-FR"/>
          </a:p>
        </p:txBody>
      </p:sp>
      <p:pic>
        <p:nvPicPr>
          <p:cNvPr id="21" name="Image 4" descr="preencoded.png"/>
          <p:cNvPicPr>
            <a:picLocks noChangeAspect="1"/>
          </p:cNvPicPr>
          <p:nvPr/>
        </p:nvPicPr>
        <p:blipFill>
          <a:blip r:embed="rId7"/>
          <a:stretch>
            <a:fillRect/>
          </a:stretch>
        </p:blipFill>
        <p:spPr>
          <a:xfrm>
            <a:off x="3410712" y="3383280"/>
            <a:ext cx="320040" cy="320040"/>
          </a:xfrm>
          <a:prstGeom prst="rect">
            <a:avLst/>
          </a:prstGeom>
        </p:spPr>
      </p:pic>
      <p:sp>
        <p:nvSpPr>
          <p:cNvPr id="22" name="Text 15"/>
          <p:cNvSpPr/>
          <p:nvPr/>
        </p:nvSpPr>
        <p:spPr>
          <a:xfrm>
            <a:off x="3840480" y="3319272"/>
            <a:ext cx="2011680" cy="347472"/>
          </a:xfrm>
          <a:prstGeom prst="rect">
            <a:avLst/>
          </a:prstGeom>
          <a:noFill/>
          <a:ln/>
        </p:spPr>
        <p:txBody>
          <a:bodyPr wrap="square" lIns="0" tIns="0" rIns="0" bIns="0" rtlCol="0" anchor="ctr"/>
          <a:lstStyle/>
          <a:p>
            <a:pPr marL="0" indent="0">
              <a:buNone/>
            </a:pPr>
            <a:r>
              <a:rPr lang="en-US" sz="1300" b="1" dirty="0">
                <a:solidFill>
                  <a:srgbClr val="0F172A"/>
                </a:solidFill>
                <a:latin typeface="Arial Black" pitchFamily="34" charset="0"/>
                <a:ea typeface="Arial Black" pitchFamily="34" charset="-122"/>
                <a:cs typeface="Arial Black" pitchFamily="34" charset="-120"/>
              </a:rPr>
              <a:t>Urban Systems</a:t>
            </a:r>
            <a:endParaRPr lang="en-US" sz="1300" dirty="0"/>
          </a:p>
        </p:txBody>
      </p:sp>
      <p:sp>
        <p:nvSpPr>
          <p:cNvPr id="23" name="Text 16"/>
          <p:cNvSpPr/>
          <p:nvPr/>
        </p:nvSpPr>
        <p:spPr>
          <a:xfrm>
            <a:off x="3410712" y="3794760"/>
            <a:ext cx="2423160" cy="731520"/>
          </a:xfrm>
          <a:prstGeom prst="rect">
            <a:avLst/>
          </a:prstGeom>
          <a:noFill/>
          <a:ln/>
        </p:spPr>
        <p:txBody>
          <a:bodyPr wrap="square" rtlCol="0" anchor="ctr"/>
          <a:lstStyle/>
          <a:p>
            <a:pPr marL="0" indent="0">
              <a:lnSpc>
                <a:spcPct val="130000"/>
              </a:lnSpc>
              <a:buNone/>
            </a:pPr>
            <a:r>
              <a:rPr lang="en-US" sz="1200" dirty="0">
                <a:solidFill>
                  <a:srgbClr val="334155"/>
                </a:solidFill>
                <a:latin typeface="Calibri" pitchFamily="34" charset="0"/>
                <a:ea typeface="Calibri" pitchFamily="34" charset="-122"/>
                <a:cs typeface="Calibri" pitchFamily="34" charset="-120"/>
              </a:rPr>
              <a:t>Smart infrastructure, mobility, emissions reduction</a:t>
            </a:r>
            <a:endParaRPr lang="en-US" sz="1200" dirty="0"/>
          </a:p>
        </p:txBody>
      </p:sp>
      <p:sp>
        <p:nvSpPr>
          <p:cNvPr id="24" name="Shape 17"/>
          <p:cNvSpPr/>
          <p:nvPr/>
        </p:nvSpPr>
        <p:spPr>
          <a:xfrm>
            <a:off x="6172200" y="3136392"/>
            <a:ext cx="2743200" cy="1536192"/>
          </a:xfrm>
          <a:prstGeom prst="rect">
            <a:avLst/>
          </a:prstGeom>
          <a:solidFill>
            <a:srgbClr val="EEF2FF"/>
          </a:solidFill>
          <a:ln w="12700">
            <a:solidFill>
              <a:srgbClr val="7C3AED"/>
            </a:solidFill>
            <a:prstDash val="solid"/>
          </a:ln>
        </p:spPr>
        <p:txBody>
          <a:bodyPr/>
          <a:lstStyle/>
          <a:p>
            <a:endParaRPr lang="fr-FR"/>
          </a:p>
        </p:txBody>
      </p:sp>
      <p:pic>
        <p:nvPicPr>
          <p:cNvPr id="25" name="Image 5" descr="preencoded.png"/>
          <p:cNvPicPr>
            <a:picLocks noChangeAspect="1"/>
          </p:cNvPicPr>
          <p:nvPr/>
        </p:nvPicPr>
        <p:blipFill>
          <a:blip r:embed="rId8"/>
          <a:stretch>
            <a:fillRect/>
          </a:stretch>
        </p:blipFill>
        <p:spPr>
          <a:xfrm>
            <a:off x="6336792" y="3383280"/>
            <a:ext cx="320040" cy="320040"/>
          </a:xfrm>
          <a:prstGeom prst="rect">
            <a:avLst/>
          </a:prstGeom>
        </p:spPr>
      </p:pic>
      <p:sp>
        <p:nvSpPr>
          <p:cNvPr id="26" name="Text 18"/>
          <p:cNvSpPr/>
          <p:nvPr/>
        </p:nvSpPr>
        <p:spPr>
          <a:xfrm>
            <a:off x="6766560" y="3319272"/>
            <a:ext cx="2011680" cy="347472"/>
          </a:xfrm>
          <a:prstGeom prst="rect">
            <a:avLst/>
          </a:prstGeom>
          <a:noFill/>
          <a:ln/>
        </p:spPr>
        <p:txBody>
          <a:bodyPr wrap="square" lIns="0" tIns="0" rIns="0" bIns="0" rtlCol="0" anchor="ctr"/>
          <a:lstStyle/>
          <a:p>
            <a:pPr marL="0" indent="0">
              <a:buNone/>
            </a:pPr>
            <a:r>
              <a:rPr lang="en-US" sz="1300" b="1" dirty="0">
                <a:solidFill>
                  <a:srgbClr val="0F172A"/>
                </a:solidFill>
                <a:latin typeface="Arial Black" pitchFamily="34" charset="0"/>
                <a:ea typeface="Arial Black" pitchFamily="34" charset="-122"/>
                <a:cs typeface="Arial Black" pitchFamily="34" charset="-120"/>
              </a:rPr>
              <a:t>Biodiversity</a:t>
            </a:r>
            <a:endParaRPr lang="en-US" sz="1300" dirty="0"/>
          </a:p>
        </p:txBody>
      </p:sp>
      <p:sp>
        <p:nvSpPr>
          <p:cNvPr id="27" name="Text 19"/>
          <p:cNvSpPr/>
          <p:nvPr/>
        </p:nvSpPr>
        <p:spPr>
          <a:xfrm>
            <a:off x="6336792" y="3794760"/>
            <a:ext cx="2423160" cy="731520"/>
          </a:xfrm>
          <a:prstGeom prst="rect">
            <a:avLst/>
          </a:prstGeom>
          <a:noFill/>
          <a:ln/>
        </p:spPr>
        <p:txBody>
          <a:bodyPr wrap="square" rtlCol="0" anchor="ctr"/>
          <a:lstStyle/>
          <a:p>
            <a:pPr marL="0" indent="0">
              <a:lnSpc>
                <a:spcPct val="130000"/>
              </a:lnSpc>
              <a:buNone/>
            </a:pPr>
            <a:r>
              <a:rPr lang="en-US" sz="1200" dirty="0">
                <a:solidFill>
                  <a:srgbClr val="334155"/>
                </a:solidFill>
                <a:latin typeface="Calibri" pitchFamily="34" charset="0"/>
                <a:ea typeface="Calibri" pitchFamily="34" charset="-122"/>
                <a:cs typeface="Calibri" pitchFamily="34" charset="-120"/>
              </a:rPr>
              <a:t>Species monitoring, deforestation detection, ocean health</a:t>
            </a:r>
            <a:endParaRPr lang="en-US" sz="1200" dirty="0"/>
          </a:p>
        </p:txBody>
      </p:sp>
      <p:pic>
        <p:nvPicPr>
          <p:cNvPr id="31" name="Image 30">
            <a:extLst>
              <a:ext uri="{FF2B5EF4-FFF2-40B4-BE49-F238E27FC236}">
                <a16:creationId xmlns:a16="http://schemas.microsoft.com/office/drawing/2014/main" id="{237A1B16-949F-7823-8C94-76ACEB618702}"/>
              </a:ext>
            </a:extLst>
          </p:cNvPr>
          <p:cNvPicPr>
            <a:picLocks noChangeAspect="1"/>
          </p:cNvPicPr>
          <p:nvPr/>
        </p:nvPicPr>
        <p:blipFill>
          <a:blip r:embed="rId9"/>
          <a:stretch>
            <a:fillRect/>
          </a:stretch>
        </p:blipFill>
        <p:spPr>
          <a:xfrm>
            <a:off x="6995160" y="-326682"/>
            <a:ext cx="2228203" cy="14854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365760"/>
          </a:xfrm>
          <a:prstGeom prst="rect">
            <a:avLst/>
          </a:prstGeom>
          <a:noFill/>
          <a:ln/>
        </p:spPr>
        <p:txBody>
          <a:bodyPr wrap="square" lIns="0" tIns="0" rIns="0" bIns="0" rtlCol="0" anchor="ctr"/>
          <a:lstStyle/>
          <a:p>
            <a:pPr marL="0" indent="0">
              <a:buNone/>
            </a:pPr>
            <a:r>
              <a:rPr lang="en-US" sz="1100" b="1" kern="0" spc="500" dirty="0">
                <a:solidFill>
                  <a:srgbClr val="3D63F0"/>
                </a:solidFill>
                <a:latin typeface="Calibri" pitchFamily="34" charset="0"/>
                <a:ea typeface="Calibri" pitchFamily="34" charset="-122"/>
                <a:cs typeface="Calibri" pitchFamily="34" charset="-120"/>
              </a:rPr>
              <a:t>WHAT TO BUILD</a:t>
            </a:r>
            <a:endParaRPr lang="en-US" sz="1100" dirty="0"/>
          </a:p>
        </p:txBody>
      </p:sp>
      <p:sp>
        <p:nvSpPr>
          <p:cNvPr id="3" name="Text 1"/>
          <p:cNvSpPr/>
          <p:nvPr/>
        </p:nvSpPr>
        <p:spPr>
          <a:xfrm>
            <a:off x="457200" y="594360"/>
            <a:ext cx="5943600" cy="640080"/>
          </a:xfrm>
          <a:prstGeom prst="rect">
            <a:avLst/>
          </a:prstGeom>
          <a:noFill/>
          <a:ln/>
        </p:spPr>
        <p:txBody>
          <a:bodyPr wrap="square" lIns="0" tIns="0" rIns="0" bIns="0" rtlCol="0" anchor="ctr"/>
          <a:lstStyle/>
          <a:p>
            <a:pPr marL="0" indent="0">
              <a:buNone/>
            </a:pPr>
            <a:r>
              <a:rPr lang="en-US" sz="3600" b="1">
                <a:solidFill>
                  <a:srgbClr val="0F172A"/>
                </a:solidFill>
                <a:latin typeface="Arial Black"/>
                <a:ea typeface="Arial Black" pitchFamily="34" charset="-122"/>
                <a:cs typeface="Arial Black" pitchFamily="34" charset="-120"/>
              </a:rPr>
              <a:t>Think like a founder</a:t>
            </a:r>
            <a:endParaRPr lang="en-US" sz="3600">
              <a:latin typeface="Arial Black"/>
            </a:endParaRPr>
          </a:p>
        </p:txBody>
      </p:sp>
      <p:sp>
        <p:nvSpPr>
          <p:cNvPr id="4" name="Shape 2"/>
          <p:cNvSpPr/>
          <p:nvPr/>
        </p:nvSpPr>
        <p:spPr>
          <a:xfrm>
            <a:off x="457200" y="1444752"/>
            <a:ext cx="384048" cy="384048"/>
          </a:xfrm>
          <a:prstGeom prst="ellipse">
            <a:avLst/>
          </a:prstGeom>
          <a:solidFill>
            <a:srgbClr val="1A3DCC"/>
          </a:solidFill>
          <a:ln w="12700">
            <a:solidFill>
              <a:srgbClr val="1A3DCC"/>
            </a:solidFill>
            <a:prstDash val="solid"/>
          </a:ln>
        </p:spPr>
        <p:txBody>
          <a:bodyPr/>
          <a:lstStyle/>
          <a:p>
            <a:endParaRPr lang="fr-FR"/>
          </a:p>
        </p:txBody>
      </p:sp>
      <p:sp>
        <p:nvSpPr>
          <p:cNvPr id="5" name="Text 3"/>
          <p:cNvSpPr/>
          <p:nvPr/>
        </p:nvSpPr>
        <p:spPr>
          <a:xfrm>
            <a:off x="457200" y="144475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6" name="Text 4"/>
          <p:cNvSpPr/>
          <p:nvPr/>
        </p:nvSpPr>
        <p:spPr>
          <a:xfrm>
            <a:off x="1005840" y="1426464"/>
            <a:ext cx="3657600" cy="347472"/>
          </a:xfrm>
          <a:prstGeom prst="rect">
            <a:avLst/>
          </a:prstGeom>
          <a:noFill/>
          <a:ln/>
        </p:spPr>
        <p:txBody>
          <a:bodyPr wrap="square" lIns="0" tIns="0" rIns="0" bIns="0" rtlCol="0" anchor="ctr"/>
          <a:lstStyle/>
          <a:p>
            <a:pPr marL="0" indent="0">
              <a:buNone/>
            </a:pPr>
            <a:r>
              <a:rPr lang="en-US" sz="1400" b="1" dirty="0">
                <a:solidFill>
                  <a:srgbClr val="0F172A"/>
                </a:solidFill>
                <a:latin typeface="Arial Black" pitchFamily="34" charset="0"/>
                <a:ea typeface="Arial Black" pitchFamily="34" charset="-122"/>
                <a:cs typeface="Arial Black" pitchFamily="34" charset="-120"/>
              </a:rPr>
              <a:t>A real problem</a:t>
            </a:r>
            <a:endParaRPr lang="en-US" sz="1400" dirty="0"/>
          </a:p>
        </p:txBody>
      </p:sp>
      <p:sp>
        <p:nvSpPr>
          <p:cNvPr id="7" name="Text 5"/>
          <p:cNvSpPr/>
          <p:nvPr/>
        </p:nvSpPr>
        <p:spPr>
          <a:xfrm>
            <a:off x="1005840" y="1761169"/>
            <a:ext cx="3657600" cy="384048"/>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Something people or the planet actually suffer from today</a:t>
            </a:r>
            <a:endParaRPr lang="en-US" sz="1200" dirty="0"/>
          </a:p>
        </p:txBody>
      </p:sp>
      <p:sp>
        <p:nvSpPr>
          <p:cNvPr id="8" name="Shape 6"/>
          <p:cNvSpPr/>
          <p:nvPr/>
        </p:nvSpPr>
        <p:spPr>
          <a:xfrm>
            <a:off x="457200" y="2313432"/>
            <a:ext cx="384048" cy="384048"/>
          </a:xfrm>
          <a:prstGeom prst="ellipse">
            <a:avLst/>
          </a:prstGeom>
          <a:solidFill>
            <a:srgbClr val="1A3DCC"/>
          </a:solidFill>
          <a:ln w="12700">
            <a:solidFill>
              <a:srgbClr val="1A3DCC"/>
            </a:solidFill>
            <a:prstDash val="solid"/>
          </a:ln>
        </p:spPr>
        <p:txBody>
          <a:bodyPr/>
          <a:lstStyle/>
          <a:p>
            <a:endParaRPr lang="fr-FR"/>
          </a:p>
        </p:txBody>
      </p:sp>
      <p:sp>
        <p:nvSpPr>
          <p:cNvPr id="9" name="Text 7"/>
          <p:cNvSpPr/>
          <p:nvPr/>
        </p:nvSpPr>
        <p:spPr>
          <a:xfrm>
            <a:off x="457200" y="23134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0" name="Text 8"/>
          <p:cNvSpPr/>
          <p:nvPr/>
        </p:nvSpPr>
        <p:spPr>
          <a:xfrm>
            <a:off x="1005840" y="2295144"/>
            <a:ext cx="3657600" cy="347472"/>
          </a:xfrm>
          <a:prstGeom prst="rect">
            <a:avLst/>
          </a:prstGeom>
          <a:noFill/>
          <a:ln/>
        </p:spPr>
        <p:txBody>
          <a:bodyPr wrap="square" lIns="0" tIns="0" rIns="0" bIns="0" rtlCol="0" anchor="ctr"/>
          <a:lstStyle/>
          <a:p>
            <a:pPr marL="0" indent="0">
              <a:buNone/>
            </a:pPr>
            <a:r>
              <a:rPr lang="en-US" sz="1400" b="1" dirty="0">
                <a:solidFill>
                  <a:srgbClr val="0F172A"/>
                </a:solidFill>
                <a:latin typeface="Arial Black" pitchFamily="34" charset="0"/>
                <a:ea typeface="Arial Black" pitchFamily="34" charset="-122"/>
                <a:cs typeface="Arial Black" pitchFamily="34" charset="-120"/>
              </a:rPr>
              <a:t>An AI-powered solution</a:t>
            </a:r>
            <a:endParaRPr lang="en-US" sz="1400" dirty="0"/>
          </a:p>
        </p:txBody>
      </p:sp>
      <p:sp>
        <p:nvSpPr>
          <p:cNvPr id="11" name="Text 9"/>
          <p:cNvSpPr/>
          <p:nvPr/>
        </p:nvSpPr>
        <p:spPr>
          <a:xfrm>
            <a:off x="1005840" y="2660904"/>
            <a:ext cx="3657600" cy="384048"/>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Use the technology where it genuinely adds value</a:t>
            </a:r>
            <a:endParaRPr lang="en-US" sz="1200" dirty="0"/>
          </a:p>
        </p:txBody>
      </p:sp>
      <p:sp>
        <p:nvSpPr>
          <p:cNvPr id="12" name="Shape 10"/>
          <p:cNvSpPr/>
          <p:nvPr/>
        </p:nvSpPr>
        <p:spPr>
          <a:xfrm>
            <a:off x="457200" y="3182112"/>
            <a:ext cx="384048" cy="384048"/>
          </a:xfrm>
          <a:prstGeom prst="ellipse">
            <a:avLst/>
          </a:prstGeom>
          <a:solidFill>
            <a:srgbClr val="1A3DCC"/>
          </a:solidFill>
          <a:ln w="12700">
            <a:solidFill>
              <a:srgbClr val="1A3DCC"/>
            </a:solidFill>
            <a:prstDash val="solid"/>
          </a:ln>
        </p:spPr>
        <p:txBody>
          <a:bodyPr/>
          <a:lstStyle/>
          <a:p>
            <a:endParaRPr lang="fr-FR"/>
          </a:p>
        </p:txBody>
      </p:sp>
      <p:sp>
        <p:nvSpPr>
          <p:cNvPr id="13" name="Text 11"/>
          <p:cNvSpPr/>
          <p:nvPr/>
        </p:nvSpPr>
        <p:spPr>
          <a:xfrm>
            <a:off x="457200" y="31821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4" name="Text 12"/>
          <p:cNvSpPr/>
          <p:nvPr/>
        </p:nvSpPr>
        <p:spPr>
          <a:xfrm>
            <a:off x="1005840" y="3163824"/>
            <a:ext cx="3657600" cy="347472"/>
          </a:xfrm>
          <a:prstGeom prst="rect">
            <a:avLst/>
          </a:prstGeom>
          <a:noFill/>
          <a:ln/>
        </p:spPr>
        <p:txBody>
          <a:bodyPr wrap="square" lIns="0" tIns="0" rIns="0" bIns="0" rtlCol="0" anchor="ctr"/>
          <a:lstStyle/>
          <a:p>
            <a:pPr marL="0" indent="0">
              <a:buNone/>
            </a:pPr>
            <a:r>
              <a:rPr lang="en-US" sz="1400" b="1" dirty="0">
                <a:solidFill>
                  <a:srgbClr val="0F172A"/>
                </a:solidFill>
                <a:latin typeface="Arial Black" pitchFamily="34" charset="0"/>
                <a:ea typeface="Arial Black" pitchFamily="34" charset="-122"/>
                <a:cs typeface="Arial Black" pitchFamily="34" charset="-120"/>
              </a:rPr>
              <a:t>A clear user or beneficiary</a:t>
            </a:r>
            <a:endParaRPr lang="en-US" sz="1400" dirty="0"/>
          </a:p>
        </p:txBody>
      </p:sp>
      <p:sp>
        <p:nvSpPr>
          <p:cNvPr id="15" name="Text 13"/>
          <p:cNvSpPr/>
          <p:nvPr/>
        </p:nvSpPr>
        <p:spPr>
          <a:xfrm>
            <a:off x="1005840" y="3467991"/>
            <a:ext cx="3657600" cy="384048"/>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Who does this help? How? Be specific.</a:t>
            </a:r>
            <a:endParaRPr lang="en-US" sz="1200" dirty="0"/>
          </a:p>
        </p:txBody>
      </p:sp>
      <p:sp>
        <p:nvSpPr>
          <p:cNvPr id="16" name="Shape 14"/>
          <p:cNvSpPr/>
          <p:nvPr/>
        </p:nvSpPr>
        <p:spPr>
          <a:xfrm>
            <a:off x="457200" y="4050792"/>
            <a:ext cx="384048" cy="384048"/>
          </a:xfrm>
          <a:prstGeom prst="ellipse">
            <a:avLst/>
          </a:prstGeom>
          <a:solidFill>
            <a:srgbClr val="1A3DCC"/>
          </a:solidFill>
          <a:ln w="12700">
            <a:solidFill>
              <a:srgbClr val="1A3DCC"/>
            </a:solidFill>
            <a:prstDash val="solid"/>
          </a:ln>
        </p:spPr>
        <p:txBody>
          <a:bodyPr/>
          <a:lstStyle/>
          <a:p>
            <a:endParaRPr lang="fr-FR"/>
          </a:p>
        </p:txBody>
      </p:sp>
      <p:sp>
        <p:nvSpPr>
          <p:cNvPr id="17" name="Text 15"/>
          <p:cNvSpPr/>
          <p:nvPr/>
        </p:nvSpPr>
        <p:spPr>
          <a:xfrm>
            <a:off x="457200" y="40507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18" name="Text 16"/>
          <p:cNvSpPr/>
          <p:nvPr/>
        </p:nvSpPr>
        <p:spPr>
          <a:xfrm>
            <a:off x="1005840" y="4032504"/>
            <a:ext cx="3657600" cy="347472"/>
          </a:xfrm>
          <a:prstGeom prst="rect">
            <a:avLst/>
          </a:prstGeom>
          <a:noFill/>
          <a:ln/>
        </p:spPr>
        <p:txBody>
          <a:bodyPr wrap="square" lIns="0" tIns="0" rIns="0" bIns="0" rtlCol="0" anchor="ctr"/>
          <a:lstStyle/>
          <a:p>
            <a:pPr marL="0" indent="0">
              <a:buNone/>
            </a:pPr>
            <a:r>
              <a:rPr lang="en-US" sz="1400" b="1" dirty="0">
                <a:solidFill>
                  <a:srgbClr val="0F172A"/>
                </a:solidFill>
                <a:latin typeface="Arial Black" pitchFamily="34" charset="0"/>
                <a:ea typeface="Arial Black" pitchFamily="34" charset="-122"/>
                <a:cs typeface="Arial Black" pitchFamily="34" charset="-120"/>
              </a:rPr>
              <a:t>A path to impact</a:t>
            </a:r>
            <a:endParaRPr lang="en-US" sz="1400" dirty="0"/>
          </a:p>
        </p:txBody>
      </p:sp>
      <p:sp>
        <p:nvSpPr>
          <p:cNvPr id="19" name="Text 17"/>
          <p:cNvSpPr/>
          <p:nvPr/>
        </p:nvSpPr>
        <p:spPr>
          <a:xfrm>
            <a:off x="1005840" y="4332531"/>
            <a:ext cx="3657600" cy="384048"/>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How does this scale? What does success look like?</a:t>
            </a:r>
            <a:endParaRPr lang="en-US" sz="1200" dirty="0"/>
          </a:p>
        </p:txBody>
      </p:sp>
      <p:sp>
        <p:nvSpPr>
          <p:cNvPr id="20" name="Shape 18"/>
          <p:cNvSpPr/>
          <p:nvPr/>
        </p:nvSpPr>
        <p:spPr>
          <a:xfrm>
            <a:off x="5184219" y="1700284"/>
            <a:ext cx="3657600" cy="2098477"/>
          </a:xfrm>
          <a:prstGeom prst="rect">
            <a:avLst/>
          </a:prstGeom>
          <a:solidFill>
            <a:srgbClr val="1A3DCC"/>
          </a:solidFill>
          <a:ln w="12700">
            <a:solidFill>
              <a:srgbClr val="1A3DCC"/>
            </a:solidFill>
            <a:prstDash val="solid"/>
          </a:ln>
        </p:spPr>
        <p:txBody>
          <a:bodyPr/>
          <a:lstStyle/>
          <a:p>
            <a:endParaRPr lang="fr-FR"/>
          </a:p>
        </p:txBody>
      </p:sp>
      <p:sp>
        <p:nvSpPr>
          <p:cNvPr id="22" name="Shape 20"/>
          <p:cNvSpPr/>
          <p:nvPr/>
        </p:nvSpPr>
        <p:spPr>
          <a:xfrm>
            <a:off x="5367099" y="3221188"/>
            <a:ext cx="3108960" cy="0"/>
          </a:xfrm>
          <a:prstGeom prst="line">
            <a:avLst/>
          </a:prstGeom>
          <a:noFill/>
          <a:ln w="12700">
            <a:solidFill>
              <a:srgbClr val="93C5FD"/>
            </a:solidFill>
            <a:prstDash val="solid"/>
          </a:ln>
        </p:spPr>
        <p:txBody>
          <a:bodyPr/>
          <a:lstStyle/>
          <a:p>
            <a:endParaRPr lang="fr-FR"/>
          </a:p>
        </p:txBody>
      </p:sp>
      <p:sp>
        <p:nvSpPr>
          <p:cNvPr id="23" name="Text 21"/>
          <p:cNvSpPr/>
          <p:nvPr/>
        </p:nvSpPr>
        <p:spPr>
          <a:xfrm>
            <a:off x="5180648" y="2221063"/>
            <a:ext cx="3646884" cy="917616"/>
          </a:xfrm>
          <a:prstGeom prst="rect">
            <a:avLst/>
          </a:prstGeom>
          <a:noFill/>
          <a:ln/>
        </p:spPr>
        <p:txBody>
          <a:bodyPr wrap="square" lIns="91440" tIns="45720" rIns="91440" bIns="45720" rtlCol="0" anchor="ctr"/>
          <a:lstStyle/>
          <a:p>
            <a:pPr marL="0" indent="0" algn="ctr">
              <a:lnSpc>
                <a:spcPct val="140000"/>
              </a:lnSpc>
              <a:buNone/>
            </a:pPr>
            <a:r>
              <a:rPr lang="en-US" sz="2000" dirty="0">
                <a:solidFill>
                  <a:srgbClr val="BFDBFE"/>
                </a:solidFill>
                <a:latin typeface="Calibri"/>
                <a:ea typeface="Calibri"/>
                <a:cs typeface="Calibri"/>
              </a:rPr>
              <a:t>Build something you'd actually</a:t>
            </a:r>
            <a:endParaRPr lang="en-US" sz="2000">
              <a:latin typeface="Calibri"/>
              <a:ea typeface="Calibri"/>
              <a:cs typeface="Calibri"/>
            </a:endParaRPr>
          </a:p>
          <a:p>
            <a:pPr algn="ctr">
              <a:lnSpc>
                <a:spcPct val="140000"/>
              </a:lnSpc>
            </a:pPr>
            <a:r>
              <a:rPr lang="en-US" sz="2000">
                <a:solidFill>
                  <a:srgbClr val="BFDBFE"/>
                </a:solidFill>
                <a:latin typeface="Calibri"/>
                <a:ea typeface="Calibri"/>
                <a:cs typeface="Calibri"/>
              </a:rPr>
              <a:t>want to see in the world.</a:t>
            </a:r>
          </a:p>
        </p:txBody>
      </p:sp>
      <p:pic>
        <p:nvPicPr>
          <p:cNvPr id="26" name="Image 25">
            <a:extLst>
              <a:ext uri="{FF2B5EF4-FFF2-40B4-BE49-F238E27FC236}">
                <a16:creationId xmlns:a16="http://schemas.microsoft.com/office/drawing/2014/main" id="{8F746228-9B0B-3E08-26A6-AF5B3910075D}"/>
              </a:ext>
            </a:extLst>
          </p:cNvPr>
          <p:cNvPicPr>
            <a:picLocks noChangeAspect="1"/>
          </p:cNvPicPr>
          <p:nvPr/>
        </p:nvPicPr>
        <p:blipFill>
          <a:blip r:embed="rId3"/>
          <a:stretch>
            <a:fillRect/>
          </a:stretch>
        </p:blipFill>
        <p:spPr>
          <a:xfrm>
            <a:off x="6995160" y="-326682"/>
            <a:ext cx="2228203" cy="14854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365760"/>
          </a:xfrm>
          <a:prstGeom prst="rect">
            <a:avLst/>
          </a:prstGeom>
          <a:noFill/>
          <a:ln/>
        </p:spPr>
        <p:txBody>
          <a:bodyPr wrap="square" lIns="0" tIns="0" rIns="0" bIns="0" rtlCol="0" anchor="ctr"/>
          <a:lstStyle/>
          <a:p>
            <a:pPr marL="0" indent="0">
              <a:buNone/>
            </a:pPr>
            <a:r>
              <a:rPr lang="en-US" sz="1100" b="1" kern="0" spc="500" dirty="0">
                <a:solidFill>
                  <a:srgbClr val="3D63F0"/>
                </a:solidFill>
                <a:latin typeface="Calibri" pitchFamily="34" charset="0"/>
                <a:ea typeface="Calibri" pitchFamily="34" charset="-122"/>
                <a:cs typeface="Calibri" pitchFamily="34" charset="-120"/>
              </a:rPr>
              <a:t>HOW YOU'LL BE JUDGED</a:t>
            </a:r>
            <a:endParaRPr lang="en-US" sz="1100" dirty="0"/>
          </a:p>
        </p:txBody>
      </p:sp>
      <p:sp>
        <p:nvSpPr>
          <p:cNvPr id="3" name="Text 1"/>
          <p:cNvSpPr/>
          <p:nvPr/>
        </p:nvSpPr>
        <p:spPr>
          <a:xfrm>
            <a:off x="457200" y="594360"/>
            <a:ext cx="8229600" cy="594360"/>
          </a:xfrm>
          <a:prstGeom prst="rect">
            <a:avLst/>
          </a:prstGeom>
          <a:noFill/>
          <a:ln/>
        </p:spPr>
        <p:txBody>
          <a:bodyPr wrap="square" lIns="0" tIns="0" rIns="0" bIns="0" rtlCol="0" anchor="ctr"/>
          <a:lstStyle/>
          <a:p>
            <a:pPr marL="0" indent="0">
              <a:buNone/>
            </a:pPr>
            <a:r>
              <a:rPr lang="en-US" sz="3600" b="1" dirty="0">
                <a:solidFill>
                  <a:srgbClr val="0F172A"/>
                </a:solidFill>
                <a:latin typeface="Arial Black" pitchFamily="34" charset="0"/>
                <a:ea typeface="Arial Black" pitchFamily="34" charset="-122"/>
                <a:cs typeface="Arial Black" pitchFamily="34" charset="-120"/>
              </a:rPr>
              <a:t>Four things we look for.</a:t>
            </a:r>
            <a:endParaRPr lang="en-US" sz="3600" dirty="0"/>
          </a:p>
        </p:txBody>
      </p:sp>
      <p:sp>
        <p:nvSpPr>
          <p:cNvPr id="4" name="Shape 2"/>
          <p:cNvSpPr/>
          <p:nvPr/>
        </p:nvSpPr>
        <p:spPr>
          <a:xfrm>
            <a:off x="365760" y="1508760"/>
            <a:ext cx="2011680" cy="3200400"/>
          </a:xfrm>
          <a:prstGeom prst="rect">
            <a:avLst/>
          </a:prstGeom>
          <a:solidFill>
            <a:srgbClr val="EEF2FF"/>
          </a:solidFill>
          <a:ln w="19050">
            <a:solidFill>
              <a:srgbClr val="16A34A"/>
            </a:solidFill>
            <a:prstDash val="solid"/>
          </a:ln>
        </p:spPr>
        <p:txBody>
          <a:bodyPr/>
          <a:lstStyle/>
          <a:p>
            <a:endParaRPr lang="fr-FR"/>
          </a:p>
        </p:txBody>
      </p:sp>
      <p:sp>
        <p:nvSpPr>
          <p:cNvPr id="5" name="Shape 3"/>
          <p:cNvSpPr/>
          <p:nvPr/>
        </p:nvSpPr>
        <p:spPr>
          <a:xfrm>
            <a:off x="365760" y="1508760"/>
            <a:ext cx="2011680" cy="73152"/>
          </a:xfrm>
          <a:prstGeom prst="rect">
            <a:avLst/>
          </a:prstGeom>
          <a:solidFill>
            <a:srgbClr val="16A34A"/>
          </a:solidFill>
          <a:ln w="12700">
            <a:solidFill>
              <a:srgbClr val="16A34A"/>
            </a:solidFill>
            <a:prstDash val="solid"/>
          </a:ln>
        </p:spPr>
        <p:txBody>
          <a:bodyPr/>
          <a:lstStyle/>
          <a:p>
            <a:endParaRPr lang="fr-FR"/>
          </a:p>
        </p:txBody>
      </p:sp>
      <p:sp>
        <p:nvSpPr>
          <p:cNvPr id="6" name="Text 4"/>
          <p:cNvSpPr/>
          <p:nvPr/>
        </p:nvSpPr>
        <p:spPr>
          <a:xfrm>
            <a:off x="502920" y="1664208"/>
            <a:ext cx="1737360" cy="502920"/>
          </a:xfrm>
          <a:prstGeom prst="rect">
            <a:avLst/>
          </a:prstGeom>
          <a:noFill/>
          <a:ln/>
        </p:spPr>
        <p:txBody>
          <a:bodyPr wrap="square" lIns="0" tIns="0" rIns="0" bIns="0" rtlCol="0" anchor="ctr"/>
          <a:lstStyle/>
          <a:p>
            <a:pPr marL="0" indent="0">
              <a:buNone/>
            </a:pPr>
            <a:r>
              <a:rPr lang="en-US" sz="2800" b="1" dirty="0">
                <a:solidFill>
                  <a:srgbClr val="16A34A"/>
                </a:solidFill>
                <a:latin typeface="Arial Black" pitchFamily="34" charset="0"/>
                <a:ea typeface="Arial Black" pitchFamily="34" charset="-122"/>
                <a:cs typeface="Arial Black" pitchFamily="34" charset="-120"/>
              </a:rPr>
              <a:t>01</a:t>
            </a:r>
            <a:endParaRPr lang="en-US" sz="2800" dirty="0"/>
          </a:p>
        </p:txBody>
      </p:sp>
      <p:sp>
        <p:nvSpPr>
          <p:cNvPr id="8" name="Shape 6"/>
          <p:cNvSpPr/>
          <p:nvPr/>
        </p:nvSpPr>
        <p:spPr>
          <a:xfrm>
            <a:off x="457200" y="2505111"/>
            <a:ext cx="1645920" cy="0"/>
          </a:xfrm>
          <a:prstGeom prst="line">
            <a:avLst/>
          </a:prstGeom>
          <a:noFill/>
          <a:ln w="9525">
            <a:solidFill>
              <a:srgbClr val="CBD5E1"/>
            </a:solidFill>
            <a:prstDash val="solid"/>
          </a:ln>
        </p:spPr>
        <p:txBody>
          <a:bodyPr/>
          <a:lstStyle/>
          <a:p>
            <a:endParaRPr lang="fr-FR" dirty="0"/>
          </a:p>
        </p:txBody>
      </p:sp>
      <p:sp>
        <p:nvSpPr>
          <p:cNvPr id="9" name="Text 7"/>
          <p:cNvSpPr/>
          <p:nvPr/>
        </p:nvSpPr>
        <p:spPr>
          <a:xfrm>
            <a:off x="502920" y="2478973"/>
            <a:ext cx="1737360" cy="411480"/>
          </a:xfrm>
          <a:prstGeom prst="rect">
            <a:avLst/>
          </a:prstGeom>
          <a:noFill/>
          <a:ln/>
        </p:spPr>
        <p:txBody>
          <a:bodyPr wrap="square" lIns="0" tIns="0" rIns="0" bIns="0" rtlCol="0" anchor="ctr"/>
          <a:lstStyle/>
          <a:p>
            <a:pPr marL="0" indent="0">
              <a:buNone/>
            </a:pPr>
            <a:r>
              <a:rPr lang="en-US" sz="1300" b="1" dirty="0">
                <a:solidFill>
                  <a:srgbClr val="0F172A"/>
                </a:solidFill>
                <a:latin typeface="Arial Black" pitchFamily="34" charset="0"/>
                <a:ea typeface="Arial Black" pitchFamily="34" charset="-122"/>
                <a:cs typeface="Arial Black" pitchFamily="34" charset="-120"/>
              </a:rPr>
              <a:t>Impact Potential</a:t>
            </a:r>
            <a:endParaRPr lang="en-US" sz="1300" dirty="0"/>
          </a:p>
        </p:txBody>
      </p:sp>
      <p:sp>
        <p:nvSpPr>
          <p:cNvPr id="10" name="Text 8"/>
          <p:cNvSpPr/>
          <p:nvPr/>
        </p:nvSpPr>
        <p:spPr>
          <a:xfrm>
            <a:off x="512064" y="2889504"/>
            <a:ext cx="1719072" cy="1371600"/>
          </a:xfrm>
          <a:prstGeom prst="rect">
            <a:avLst/>
          </a:prstGeom>
          <a:noFill/>
          <a:ln/>
        </p:spPr>
        <p:txBody>
          <a:bodyPr wrap="square" rtlCol="0" anchor="ctr"/>
          <a:lstStyle/>
          <a:p>
            <a:pPr marL="0" indent="0" algn="ctr">
              <a:lnSpc>
                <a:spcPct val="135000"/>
              </a:lnSpc>
              <a:buNone/>
            </a:pPr>
            <a:r>
              <a:rPr lang="en-US" sz="1200" dirty="0">
                <a:solidFill>
                  <a:srgbClr val="334155"/>
                </a:solidFill>
                <a:latin typeface="Calibri" pitchFamily="34" charset="0"/>
                <a:ea typeface="Calibri" pitchFamily="34" charset="-122"/>
                <a:cs typeface="Calibri" pitchFamily="34" charset="-120"/>
              </a:rPr>
              <a:t>How real and scalable is the positive outcome?</a:t>
            </a:r>
            <a:endParaRPr lang="en-US" sz="1200" dirty="0"/>
          </a:p>
        </p:txBody>
      </p:sp>
      <p:sp>
        <p:nvSpPr>
          <p:cNvPr id="11" name="Shape 9"/>
          <p:cNvSpPr/>
          <p:nvPr/>
        </p:nvSpPr>
        <p:spPr>
          <a:xfrm>
            <a:off x="2578608" y="1508760"/>
            <a:ext cx="2011680" cy="3200400"/>
          </a:xfrm>
          <a:prstGeom prst="rect">
            <a:avLst/>
          </a:prstGeom>
          <a:solidFill>
            <a:srgbClr val="EEF2FF"/>
          </a:solidFill>
          <a:ln w="19050">
            <a:solidFill>
              <a:srgbClr val="0284C7"/>
            </a:solidFill>
            <a:prstDash val="solid"/>
          </a:ln>
        </p:spPr>
        <p:txBody>
          <a:bodyPr/>
          <a:lstStyle/>
          <a:p>
            <a:endParaRPr lang="fr-FR"/>
          </a:p>
        </p:txBody>
      </p:sp>
      <p:sp>
        <p:nvSpPr>
          <p:cNvPr id="12" name="Shape 10"/>
          <p:cNvSpPr/>
          <p:nvPr/>
        </p:nvSpPr>
        <p:spPr>
          <a:xfrm>
            <a:off x="2578608" y="1508760"/>
            <a:ext cx="2011680" cy="73152"/>
          </a:xfrm>
          <a:prstGeom prst="rect">
            <a:avLst/>
          </a:prstGeom>
          <a:solidFill>
            <a:srgbClr val="0284C7"/>
          </a:solidFill>
          <a:ln w="12700">
            <a:solidFill>
              <a:srgbClr val="0284C7"/>
            </a:solidFill>
            <a:prstDash val="solid"/>
          </a:ln>
        </p:spPr>
        <p:txBody>
          <a:bodyPr/>
          <a:lstStyle/>
          <a:p>
            <a:endParaRPr lang="fr-FR"/>
          </a:p>
        </p:txBody>
      </p:sp>
      <p:sp>
        <p:nvSpPr>
          <p:cNvPr id="13" name="Text 11"/>
          <p:cNvSpPr/>
          <p:nvPr/>
        </p:nvSpPr>
        <p:spPr>
          <a:xfrm>
            <a:off x="2715768" y="1664208"/>
            <a:ext cx="1737360" cy="502920"/>
          </a:xfrm>
          <a:prstGeom prst="rect">
            <a:avLst/>
          </a:prstGeom>
          <a:noFill/>
          <a:ln/>
        </p:spPr>
        <p:txBody>
          <a:bodyPr wrap="square" lIns="0" tIns="0" rIns="0" bIns="0" rtlCol="0" anchor="ctr"/>
          <a:lstStyle/>
          <a:p>
            <a:pPr marL="0" indent="0">
              <a:buNone/>
            </a:pPr>
            <a:r>
              <a:rPr lang="en-US" sz="2800" b="1" dirty="0">
                <a:solidFill>
                  <a:srgbClr val="0284C7"/>
                </a:solidFill>
                <a:latin typeface="Arial Black" pitchFamily="34" charset="0"/>
                <a:ea typeface="Arial Black" pitchFamily="34" charset="-122"/>
                <a:cs typeface="Arial Black" pitchFamily="34" charset="-120"/>
              </a:rPr>
              <a:t>02</a:t>
            </a:r>
            <a:endParaRPr lang="en-US" sz="2800" dirty="0"/>
          </a:p>
        </p:txBody>
      </p:sp>
      <p:sp>
        <p:nvSpPr>
          <p:cNvPr id="15" name="Shape 13"/>
          <p:cNvSpPr/>
          <p:nvPr/>
        </p:nvSpPr>
        <p:spPr>
          <a:xfrm>
            <a:off x="2715768" y="2517188"/>
            <a:ext cx="1645920" cy="0"/>
          </a:xfrm>
          <a:prstGeom prst="line">
            <a:avLst/>
          </a:prstGeom>
          <a:noFill/>
          <a:ln w="9525">
            <a:solidFill>
              <a:srgbClr val="CBD5E1"/>
            </a:solidFill>
            <a:prstDash val="solid"/>
          </a:ln>
        </p:spPr>
        <p:txBody>
          <a:bodyPr/>
          <a:lstStyle/>
          <a:p>
            <a:endParaRPr lang="fr-FR"/>
          </a:p>
        </p:txBody>
      </p:sp>
      <p:sp>
        <p:nvSpPr>
          <p:cNvPr id="16" name="Text 14"/>
          <p:cNvSpPr/>
          <p:nvPr/>
        </p:nvSpPr>
        <p:spPr>
          <a:xfrm>
            <a:off x="2715768" y="2478024"/>
            <a:ext cx="1737360" cy="411480"/>
          </a:xfrm>
          <a:prstGeom prst="rect">
            <a:avLst/>
          </a:prstGeom>
          <a:noFill/>
          <a:ln/>
        </p:spPr>
        <p:txBody>
          <a:bodyPr wrap="square" lIns="0" tIns="0" rIns="0" bIns="0" rtlCol="0" anchor="ctr"/>
          <a:lstStyle/>
          <a:p>
            <a:pPr marL="0" indent="0">
              <a:buNone/>
            </a:pPr>
            <a:r>
              <a:rPr lang="en-US" sz="1300" b="1" dirty="0">
                <a:solidFill>
                  <a:srgbClr val="0F172A"/>
                </a:solidFill>
                <a:latin typeface="Arial Black" pitchFamily="34" charset="0"/>
                <a:ea typeface="Arial Black" pitchFamily="34" charset="-122"/>
                <a:cs typeface="Arial Black" pitchFamily="34" charset="-120"/>
              </a:rPr>
              <a:t>AI Innovation</a:t>
            </a:r>
            <a:endParaRPr lang="en-US" sz="1300" dirty="0"/>
          </a:p>
        </p:txBody>
      </p:sp>
      <p:sp>
        <p:nvSpPr>
          <p:cNvPr id="17" name="Text 15"/>
          <p:cNvSpPr/>
          <p:nvPr/>
        </p:nvSpPr>
        <p:spPr>
          <a:xfrm>
            <a:off x="2656332" y="2889504"/>
            <a:ext cx="1856232" cy="1371600"/>
          </a:xfrm>
          <a:prstGeom prst="rect">
            <a:avLst/>
          </a:prstGeom>
          <a:noFill/>
          <a:ln/>
        </p:spPr>
        <p:txBody>
          <a:bodyPr wrap="square" rtlCol="0" anchor="ctr"/>
          <a:lstStyle/>
          <a:p>
            <a:pPr marL="0" indent="0" algn="ctr">
              <a:lnSpc>
                <a:spcPct val="135000"/>
              </a:lnSpc>
              <a:buNone/>
            </a:pPr>
            <a:r>
              <a:rPr lang="en-US" sz="1200" dirty="0">
                <a:solidFill>
                  <a:srgbClr val="334155"/>
                </a:solidFill>
                <a:latin typeface="Calibri" pitchFamily="34" charset="0"/>
                <a:ea typeface="Calibri" pitchFamily="34" charset="-122"/>
                <a:cs typeface="Calibri" pitchFamily="34" charset="-120"/>
              </a:rPr>
              <a:t>Does AI play a meaningful, non-trivial role?</a:t>
            </a:r>
            <a:endParaRPr lang="en-US" sz="1200" dirty="0"/>
          </a:p>
        </p:txBody>
      </p:sp>
      <p:sp>
        <p:nvSpPr>
          <p:cNvPr id="18" name="Shape 16"/>
          <p:cNvSpPr/>
          <p:nvPr/>
        </p:nvSpPr>
        <p:spPr>
          <a:xfrm>
            <a:off x="4791456" y="1508760"/>
            <a:ext cx="2011680" cy="3200400"/>
          </a:xfrm>
          <a:prstGeom prst="rect">
            <a:avLst/>
          </a:prstGeom>
          <a:solidFill>
            <a:srgbClr val="EEF2FF"/>
          </a:solidFill>
          <a:ln w="19050">
            <a:solidFill>
              <a:srgbClr val="1A3DCC"/>
            </a:solidFill>
            <a:prstDash val="solid"/>
          </a:ln>
        </p:spPr>
        <p:txBody>
          <a:bodyPr/>
          <a:lstStyle/>
          <a:p>
            <a:endParaRPr lang="fr-FR"/>
          </a:p>
        </p:txBody>
      </p:sp>
      <p:sp>
        <p:nvSpPr>
          <p:cNvPr id="19" name="Shape 17"/>
          <p:cNvSpPr/>
          <p:nvPr/>
        </p:nvSpPr>
        <p:spPr>
          <a:xfrm>
            <a:off x="4791456" y="1508760"/>
            <a:ext cx="2011680" cy="73152"/>
          </a:xfrm>
          <a:prstGeom prst="rect">
            <a:avLst/>
          </a:prstGeom>
          <a:solidFill>
            <a:srgbClr val="1A3DCC"/>
          </a:solidFill>
          <a:ln w="12700">
            <a:solidFill>
              <a:srgbClr val="1A3DCC"/>
            </a:solidFill>
            <a:prstDash val="solid"/>
          </a:ln>
        </p:spPr>
        <p:txBody>
          <a:bodyPr/>
          <a:lstStyle/>
          <a:p>
            <a:endParaRPr lang="fr-FR"/>
          </a:p>
        </p:txBody>
      </p:sp>
      <p:sp>
        <p:nvSpPr>
          <p:cNvPr id="20" name="Text 18"/>
          <p:cNvSpPr/>
          <p:nvPr/>
        </p:nvSpPr>
        <p:spPr>
          <a:xfrm>
            <a:off x="4928616" y="1664208"/>
            <a:ext cx="1737360" cy="502920"/>
          </a:xfrm>
          <a:prstGeom prst="rect">
            <a:avLst/>
          </a:prstGeom>
          <a:noFill/>
          <a:ln/>
        </p:spPr>
        <p:txBody>
          <a:bodyPr wrap="square" lIns="0" tIns="0" rIns="0" bIns="0" rtlCol="0" anchor="ctr"/>
          <a:lstStyle/>
          <a:p>
            <a:pPr marL="0" indent="0">
              <a:buNone/>
            </a:pPr>
            <a:r>
              <a:rPr lang="en-US" sz="2800" b="1" dirty="0">
                <a:solidFill>
                  <a:srgbClr val="1A3DCC"/>
                </a:solidFill>
                <a:latin typeface="Arial Black" pitchFamily="34" charset="0"/>
                <a:ea typeface="Arial Black" pitchFamily="34" charset="-122"/>
                <a:cs typeface="Arial Black" pitchFamily="34" charset="-120"/>
              </a:rPr>
              <a:t>03</a:t>
            </a:r>
            <a:endParaRPr lang="en-US" sz="2800" dirty="0"/>
          </a:p>
        </p:txBody>
      </p:sp>
      <p:sp>
        <p:nvSpPr>
          <p:cNvPr id="22" name="Shape 20"/>
          <p:cNvSpPr/>
          <p:nvPr/>
        </p:nvSpPr>
        <p:spPr>
          <a:xfrm>
            <a:off x="4928616" y="2517188"/>
            <a:ext cx="1645920" cy="0"/>
          </a:xfrm>
          <a:prstGeom prst="line">
            <a:avLst/>
          </a:prstGeom>
          <a:noFill/>
          <a:ln w="9525">
            <a:solidFill>
              <a:srgbClr val="CBD5E1"/>
            </a:solidFill>
            <a:prstDash val="solid"/>
          </a:ln>
        </p:spPr>
        <p:txBody>
          <a:bodyPr/>
          <a:lstStyle/>
          <a:p>
            <a:endParaRPr lang="fr-FR"/>
          </a:p>
        </p:txBody>
      </p:sp>
      <p:sp>
        <p:nvSpPr>
          <p:cNvPr id="23" name="Text 21"/>
          <p:cNvSpPr/>
          <p:nvPr/>
        </p:nvSpPr>
        <p:spPr>
          <a:xfrm>
            <a:off x="4928616" y="2478024"/>
            <a:ext cx="1737360" cy="411480"/>
          </a:xfrm>
          <a:prstGeom prst="rect">
            <a:avLst/>
          </a:prstGeom>
          <a:noFill/>
          <a:ln/>
        </p:spPr>
        <p:txBody>
          <a:bodyPr wrap="square" lIns="0" tIns="0" rIns="0" bIns="0" rtlCol="0" anchor="ctr"/>
          <a:lstStyle/>
          <a:p>
            <a:pPr marL="0" indent="0">
              <a:buNone/>
            </a:pPr>
            <a:r>
              <a:rPr lang="en-US" sz="1300" b="1" dirty="0">
                <a:solidFill>
                  <a:srgbClr val="0F172A"/>
                </a:solidFill>
                <a:latin typeface="Arial Black" pitchFamily="34" charset="0"/>
                <a:ea typeface="Arial Black" pitchFamily="34" charset="-122"/>
                <a:cs typeface="Arial Black" pitchFamily="34" charset="-120"/>
              </a:rPr>
              <a:t>SDG Alignment</a:t>
            </a:r>
            <a:endParaRPr lang="en-US" sz="1300" dirty="0"/>
          </a:p>
        </p:txBody>
      </p:sp>
      <p:sp>
        <p:nvSpPr>
          <p:cNvPr id="24" name="Text 22"/>
          <p:cNvSpPr/>
          <p:nvPr/>
        </p:nvSpPr>
        <p:spPr>
          <a:xfrm>
            <a:off x="4835796" y="2891661"/>
            <a:ext cx="1874520" cy="1371600"/>
          </a:xfrm>
          <a:prstGeom prst="rect">
            <a:avLst/>
          </a:prstGeom>
          <a:noFill/>
          <a:ln/>
        </p:spPr>
        <p:txBody>
          <a:bodyPr wrap="square" rtlCol="0" anchor="ctr"/>
          <a:lstStyle/>
          <a:p>
            <a:pPr marL="0" indent="0" algn="ctr">
              <a:lnSpc>
                <a:spcPct val="135000"/>
              </a:lnSpc>
              <a:buNone/>
            </a:pPr>
            <a:r>
              <a:rPr lang="en-US" sz="1200" dirty="0">
                <a:solidFill>
                  <a:srgbClr val="334155"/>
                </a:solidFill>
                <a:latin typeface="Calibri" pitchFamily="34" charset="0"/>
                <a:ea typeface="Calibri" pitchFamily="34" charset="-122"/>
                <a:cs typeface="Calibri" pitchFamily="34" charset="-120"/>
              </a:rPr>
              <a:t>Is the connection to a UN goal clear and genuine?</a:t>
            </a:r>
            <a:endParaRPr lang="en-US" sz="1200" dirty="0"/>
          </a:p>
        </p:txBody>
      </p:sp>
      <p:sp>
        <p:nvSpPr>
          <p:cNvPr id="25" name="Shape 23"/>
          <p:cNvSpPr/>
          <p:nvPr/>
        </p:nvSpPr>
        <p:spPr>
          <a:xfrm>
            <a:off x="7004304" y="1508760"/>
            <a:ext cx="2011680" cy="3200400"/>
          </a:xfrm>
          <a:prstGeom prst="rect">
            <a:avLst/>
          </a:prstGeom>
          <a:solidFill>
            <a:srgbClr val="EEF2FF"/>
          </a:solidFill>
          <a:ln w="19050">
            <a:solidFill>
              <a:srgbClr val="D97706"/>
            </a:solidFill>
            <a:prstDash val="solid"/>
          </a:ln>
        </p:spPr>
        <p:txBody>
          <a:bodyPr/>
          <a:lstStyle/>
          <a:p>
            <a:endParaRPr lang="fr-FR"/>
          </a:p>
        </p:txBody>
      </p:sp>
      <p:sp>
        <p:nvSpPr>
          <p:cNvPr id="26" name="Shape 24"/>
          <p:cNvSpPr/>
          <p:nvPr/>
        </p:nvSpPr>
        <p:spPr>
          <a:xfrm>
            <a:off x="7004304" y="1508760"/>
            <a:ext cx="2011680" cy="73152"/>
          </a:xfrm>
          <a:prstGeom prst="rect">
            <a:avLst/>
          </a:prstGeom>
          <a:solidFill>
            <a:srgbClr val="D97706"/>
          </a:solidFill>
          <a:ln w="12700">
            <a:solidFill>
              <a:srgbClr val="D97706"/>
            </a:solidFill>
            <a:prstDash val="solid"/>
          </a:ln>
        </p:spPr>
        <p:txBody>
          <a:bodyPr/>
          <a:lstStyle/>
          <a:p>
            <a:endParaRPr lang="fr-FR"/>
          </a:p>
        </p:txBody>
      </p:sp>
      <p:sp>
        <p:nvSpPr>
          <p:cNvPr id="27" name="Text 25"/>
          <p:cNvSpPr/>
          <p:nvPr/>
        </p:nvSpPr>
        <p:spPr>
          <a:xfrm>
            <a:off x="7141464" y="1664208"/>
            <a:ext cx="1737360" cy="502920"/>
          </a:xfrm>
          <a:prstGeom prst="rect">
            <a:avLst/>
          </a:prstGeom>
          <a:noFill/>
          <a:ln/>
        </p:spPr>
        <p:txBody>
          <a:bodyPr wrap="square" lIns="0" tIns="0" rIns="0" bIns="0" rtlCol="0" anchor="ctr"/>
          <a:lstStyle/>
          <a:p>
            <a:pPr marL="0" indent="0">
              <a:buNone/>
            </a:pPr>
            <a:r>
              <a:rPr lang="en-US" sz="2800" b="1" dirty="0">
                <a:solidFill>
                  <a:srgbClr val="D97706"/>
                </a:solidFill>
                <a:latin typeface="Arial Black" pitchFamily="34" charset="0"/>
                <a:ea typeface="Arial Black" pitchFamily="34" charset="-122"/>
                <a:cs typeface="Arial Black" pitchFamily="34" charset="-120"/>
              </a:rPr>
              <a:t>04</a:t>
            </a:r>
            <a:endParaRPr lang="en-US" sz="2800" dirty="0"/>
          </a:p>
        </p:txBody>
      </p:sp>
      <p:sp>
        <p:nvSpPr>
          <p:cNvPr id="29" name="Shape 27"/>
          <p:cNvSpPr/>
          <p:nvPr/>
        </p:nvSpPr>
        <p:spPr>
          <a:xfrm>
            <a:off x="7141464" y="2517188"/>
            <a:ext cx="1645920" cy="0"/>
          </a:xfrm>
          <a:prstGeom prst="line">
            <a:avLst/>
          </a:prstGeom>
          <a:noFill/>
          <a:ln w="9525">
            <a:solidFill>
              <a:srgbClr val="CBD5E1"/>
            </a:solidFill>
            <a:prstDash val="solid"/>
          </a:ln>
        </p:spPr>
        <p:txBody>
          <a:bodyPr/>
          <a:lstStyle/>
          <a:p>
            <a:endParaRPr lang="fr-FR"/>
          </a:p>
        </p:txBody>
      </p:sp>
      <p:sp>
        <p:nvSpPr>
          <p:cNvPr id="30" name="Text 28"/>
          <p:cNvSpPr/>
          <p:nvPr/>
        </p:nvSpPr>
        <p:spPr>
          <a:xfrm>
            <a:off x="7123176" y="2462928"/>
            <a:ext cx="1737360" cy="411480"/>
          </a:xfrm>
          <a:prstGeom prst="rect">
            <a:avLst/>
          </a:prstGeom>
          <a:noFill/>
          <a:ln/>
        </p:spPr>
        <p:txBody>
          <a:bodyPr wrap="square" lIns="0" tIns="0" rIns="0" bIns="0" rtlCol="0" anchor="ctr"/>
          <a:lstStyle/>
          <a:p>
            <a:pPr marL="0" indent="0">
              <a:buNone/>
            </a:pPr>
            <a:r>
              <a:rPr lang="en-US" sz="1300" b="1" dirty="0">
                <a:solidFill>
                  <a:srgbClr val="0F172A"/>
                </a:solidFill>
                <a:latin typeface="Arial Black" pitchFamily="34" charset="0"/>
                <a:ea typeface="Arial Black" pitchFamily="34" charset="-122"/>
                <a:cs typeface="Arial Black" pitchFamily="34" charset="-120"/>
              </a:rPr>
              <a:t>Execution &amp; Demo</a:t>
            </a:r>
            <a:endParaRPr lang="en-US" sz="1300" dirty="0"/>
          </a:p>
        </p:txBody>
      </p:sp>
      <p:sp>
        <p:nvSpPr>
          <p:cNvPr id="31" name="Text 29"/>
          <p:cNvSpPr/>
          <p:nvPr/>
        </p:nvSpPr>
        <p:spPr>
          <a:xfrm>
            <a:off x="7004304" y="2889504"/>
            <a:ext cx="2002536" cy="1371600"/>
          </a:xfrm>
          <a:prstGeom prst="rect">
            <a:avLst/>
          </a:prstGeom>
          <a:noFill/>
          <a:ln/>
        </p:spPr>
        <p:txBody>
          <a:bodyPr wrap="square" rtlCol="0" anchor="ctr"/>
          <a:lstStyle/>
          <a:p>
            <a:pPr marL="0" indent="0" algn="ctr">
              <a:lnSpc>
                <a:spcPct val="135000"/>
              </a:lnSpc>
              <a:buNone/>
            </a:pPr>
            <a:r>
              <a:rPr lang="en-US" sz="1200" dirty="0">
                <a:solidFill>
                  <a:srgbClr val="334155"/>
                </a:solidFill>
                <a:latin typeface="Calibri" pitchFamily="34" charset="0"/>
                <a:ea typeface="Calibri" pitchFamily="34" charset="-122"/>
                <a:cs typeface="Calibri" pitchFamily="34" charset="-120"/>
              </a:rPr>
              <a:t>Does it actually work? Can you show us something real?</a:t>
            </a:r>
            <a:endParaRPr lang="en-US" sz="1200" dirty="0"/>
          </a:p>
        </p:txBody>
      </p:sp>
      <p:pic>
        <p:nvPicPr>
          <p:cNvPr id="34" name="Image 33">
            <a:extLst>
              <a:ext uri="{FF2B5EF4-FFF2-40B4-BE49-F238E27FC236}">
                <a16:creationId xmlns:a16="http://schemas.microsoft.com/office/drawing/2014/main" id="{70434C2E-2DEA-3D7D-A243-E9DB72979EA1}"/>
              </a:ext>
            </a:extLst>
          </p:cNvPr>
          <p:cNvPicPr>
            <a:picLocks noChangeAspect="1"/>
          </p:cNvPicPr>
          <p:nvPr/>
        </p:nvPicPr>
        <p:blipFill>
          <a:blip r:embed="rId3"/>
          <a:stretch>
            <a:fillRect/>
          </a:stretch>
        </p:blipFill>
        <p:spPr>
          <a:xfrm>
            <a:off x="6995160" y="-326682"/>
            <a:ext cx="2228203" cy="14854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1A3DCC"/>
          </a:solidFill>
          <a:ln w="12700">
            <a:solidFill>
              <a:srgbClr val="1A3DCC"/>
            </a:solidFill>
            <a:prstDash val="solid"/>
          </a:ln>
        </p:spPr>
        <p:txBody>
          <a:bodyPr/>
          <a:lstStyle/>
          <a:p>
            <a:endParaRPr lang="fr-FR"/>
          </a:p>
        </p:txBody>
      </p:sp>
      <p:sp>
        <p:nvSpPr>
          <p:cNvPr id="3" name="Text 1"/>
          <p:cNvSpPr/>
          <p:nvPr/>
        </p:nvSpPr>
        <p:spPr>
          <a:xfrm>
            <a:off x="903684" y="236887"/>
            <a:ext cx="7315200" cy="685800"/>
          </a:xfrm>
          <a:prstGeom prst="rect">
            <a:avLst/>
          </a:prstGeom>
          <a:noFill/>
          <a:ln/>
        </p:spPr>
        <p:txBody>
          <a:bodyPr wrap="square" lIns="0" tIns="0" rIns="0" bIns="0" rtlCol="0" anchor="ctr"/>
          <a:lstStyle/>
          <a:p>
            <a:pPr algn="ctr"/>
            <a:r>
              <a:rPr lang="en-US" sz="3000" b="1">
                <a:solidFill>
                  <a:srgbClr val="FFFFFF"/>
                </a:solidFill>
                <a:latin typeface="Arial Black"/>
              </a:rPr>
              <a:t>THE PRIZE</a:t>
            </a:r>
          </a:p>
        </p:txBody>
      </p:sp>
      <p:sp>
        <p:nvSpPr>
          <p:cNvPr id="4" name="Text 2"/>
          <p:cNvSpPr/>
          <p:nvPr/>
        </p:nvSpPr>
        <p:spPr>
          <a:xfrm>
            <a:off x="457200" y="914400"/>
            <a:ext cx="8229600" cy="502920"/>
          </a:xfrm>
          <a:prstGeom prst="rect">
            <a:avLst/>
          </a:prstGeom>
          <a:noFill/>
          <a:ln/>
        </p:spPr>
        <p:txBody>
          <a:bodyPr wrap="square" lIns="0" tIns="0" rIns="0" bIns="0" rtlCol="0" anchor="ctr"/>
          <a:lstStyle/>
          <a:p>
            <a:pPr marL="0" indent="0" algn="ctr">
              <a:buNone/>
            </a:pPr>
            <a:r>
              <a:rPr lang="en-US" sz="1500" dirty="0">
                <a:solidFill>
                  <a:srgbClr val="BFDBFE"/>
                </a:solidFill>
                <a:latin typeface="Calibri" pitchFamily="34" charset="0"/>
                <a:ea typeface="Calibri" pitchFamily="34" charset="-122"/>
                <a:cs typeface="Calibri" pitchFamily="34" charset="-120"/>
              </a:rPr>
              <a:t>The S2S Ventures Case</a:t>
            </a:r>
            <a:endParaRPr lang="en-US" sz="1500" dirty="0"/>
          </a:p>
        </p:txBody>
      </p:sp>
      <p:sp>
        <p:nvSpPr>
          <p:cNvPr id="18" name="Shape 2">
            <a:extLst>
              <a:ext uri="{FF2B5EF4-FFF2-40B4-BE49-F238E27FC236}">
                <a16:creationId xmlns:a16="http://schemas.microsoft.com/office/drawing/2014/main" id="{0FACC259-A2CF-3A5E-7135-49B9789CDB5A}"/>
              </a:ext>
            </a:extLst>
          </p:cNvPr>
          <p:cNvSpPr/>
          <p:nvPr/>
        </p:nvSpPr>
        <p:spPr>
          <a:xfrm>
            <a:off x="818940" y="2122493"/>
            <a:ext cx="384048" cy="384048"/>
          </a:xfrm>
          <a:prstGeom prst="ellipse">
            <a:avLst/>
          </a:prstGeom>
          <a:solidFill>
            <a:srgbClr val="1A3DCC"/>
          </a:solidFill>
          <a:ln w="12700">
            <a:solidFill>
              <a:srgbClr val="1A3DCC"/>
            </a:solidFill>
            <a:prstDash val="solid"/>
          </a:ln>
        </p:spPr>
        <p:txBody>
          <a:bodyPr/>
          <a:lstStyle/>
          <a:p>
            <a:endParaRPr lang="fr-FR"/>
          </a:p>
        </p:txBody>
      </p:sp>
      <p:sp>
        <p:nvSpPr>
          <p:cNvPr id="19" name="Text 3">
            <a:extLst>
              <a:ext uri="{FF2B5EF4-FFF2-40B4-BE49-F238E27FC236}">
                <a16:creationId xmlns:a16="http://schemas.microsoft.com/office/drawing/2014/main" id="{D594D13A-D6A7-17AC-BE3C-7D7655D21933}"/>
              </a:ext>
            </a:extLst>
          </p:cNvPr>
          <p:cNvSpPr/>
          <p:nvPr/>
        </p:nvSpPr>
        <p:spPr>
          <a:xfrm>
            <a:off x="818940" y="2122493"/>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20" name="Text 4">
            <a:extLst>
              <a:ext uri="{FF2B5EF4-FFF2-40B4-BE49-F238E27FC236}">
                <a16:creationId xmlns:a16="http://schemas.microsoft.com/office/drawing/2014/main" id="{164EDCE6-FA24-B152-25E4-443A977360A4}"/>
              </a:ext>
            </a:extLst>
          </p:cNvPr>
          <p:cNvSpPr/>
          <p:nvPr/>
        </p:nvSpPr>
        <p:spPr>
          <a:xfrm>
            <a:off x="1367580" y="2164234"/>
            <a:ext cx="3657600" cy="347472"/>
          </a:xfrm>
          <a:prstGeom prst="rect">
            <a:avLst/>
          </a:prstGeom>
          <a:noFill/>
          <a:ln/>
        </p:spPr>
        <p:txBody>
          <a:bodyPr wrap="square" lIns="0" tIns="0" rIns="0" bIns="0" rtlCol="0" anchor="ctr"/>
          <a:lstStyle/>
          <a:p>
            <a:pPr marL="0" indent="0">
              <a:buNone/>
            </a:pPr>
            <a:r>
              <a:rPr lang="en-US" sz="1400" b="1" dirty="0">
                <a:solidFill>
                  <a:srgbClr val="0F172A"/>
                </a:solidFill>
                <a:latin typeface="Arial Black" pitchFamily="34" charset="0"/>
                <a:cs typeface="Arial Black" pitchFamily="34" charset="-120"/>
              </a:rPr>
              <a:t>1 month Claude Pro subscription</a:t>
            </a:r>
            <a:endParaRPr lang="en-US" sz="1400" dirty="0"/>
          </a:p>
        </p:txBody>
      </p:sp>
      <p:sp>
        <p:nvSpPr>
          <p:cNvPr id="22" name="Shape 6">
            <a:extLst>
              <a:ext uri="{FF2B5EF4-FFF2-40B4-BE49-F238E27FC236}">
                <a16:creationId xmlns:a16="http://schemas.microsoft.com/office/drawing/2014/main" id="{3129D034-C086-AC4D-1362-3981B9AA58A3}"/>
              </a:ext>
            </a:extLst>
          </p:cNvPr>
          <p:cNvSpPr/>
          <p:nvPr/>
        </p:nvSpPr>
        <p:spPr>
          <a:xfrm>
            <a:off x="818940" y="2739965"/>
            <a:ext cx="384048" cy="384048"/>
          </a:xfrm>
          <a:prstGeom prst="ellipse">
            <a:avLst/>
          </a:prstGeom>
          <a:solidFill>
            <a:srgbClr val="1A3DCC"/>
          </a:solidFill>
          <a:ln w="12700">
            <a:solidFill>
              <a:srgbClr val="1A3DCC"/>
            </a:solidFill>
            <a:prstDash val="solid"/>
          </a:ln>
        </p:spPr>
        <p:txBody>
          <a:bodyPr/>
          <a:lstStyle/>
          <a:p>
            <a:endParaRPr lang="fr-FR"/>
          </a:p>
        </p:txBody>
      </p:sp>
      <p:sp>
        <p:nvSpPr>
          <p:cNvPr id="23" name="Text 7">
            <a:extLst>
              <a:ext uri="{FF2B5EF4-FFF2-40B4-BE49-F238E27FC236}">
                <a16:creationId xmlns:a16="http://schemas.microsoft.com/office/drawing/2014/main" id="{A5EC1C54-1512-CFEA-DF8D-E4D03C0E5941}"/>
              </a:ext>
            </a:extLst>
          </p:cNvPr>
          <p:cNvSpPr/>
          <p:nvPr/>
        </p:nvSpPr>
        <p:spPr>
          <a:xfrm>
            <a:off x="818940" y="2739965"/>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24" name="Text 8">
            <a:extLst>
              <a:ext uri="{FF2B5EF4-FFF2-40B4-BE49-F238E27FC236}">
                <a16:creationId xmlns:a16="http://schemas.microsoft.com/office/drawing/2014/main" id="{A1CBCD25-7D70-B0E7-48FA-70D48C4D1820}"/>
              </a:ext>
            </a:extLst>
          </p:cNvPr>
          <p:cNvSpPr/>
          <p:nvPr/>
        </p:nvSpPr>
        <p:spPr>
          <a:xfrm>
            <a:off x="1367580" y="2721676"/>
            <a:ext cx="6741440" cy="688216"/>
          </a:xfrm>
          <a:prstGeom prst="rect">
            <a:avLst/>
          </a:prstGeom>
          <a:noFill/>
          <a:ln/>
        </p:spPr>
        <p:txBody>
          <a:bodyPr wrap="square" lIns="0" tIns="0" rIns="0" bIns="0" rtlCol="0" anchor="ctr"/>
          <a:lstStyle/>
          <a:p>
            <a:pPr marL="0" indent="0">
              <a:buNone/>
            </a:pPr>
            <a:r>
              <a:rPr lang="en-US" sz="1400" b="1" dirty="0">
                <a:solidFill>
                  <a:srgbClr val="0F172A"/>
                </a:solidFill>
                <a:latin typeface="Arial Black" pitchFamily="34" charset="0"/>
                <a:ea typeface="Arial Black" pitchFamily="34" charset="-122"/>
                <a:cs typeface="Arial Black" pitchFamily="34" charset="-120"/>
              </a:rPr>
              <a:t>A 60-minute hands-on session with the S2S Investment Committee, where the winners will receive feedback and support on their pitch and idea</a:t>
            </a:r>
          </a:p>
        </p:txBody>
      </p:sp>
      <p:sp>
        <p:nvSpPr>
          <p:cNvPr id="26" name="Shape 10">
            <a:extLst>
              <a:ext uri="{FF2B5EF4-FFF2-40B4-BE49-F238E27FC236}">
                <a16:creationId xmlns:a16="http://schemas.microsoft.com/office/drawing/2014/main" id="{4EC2932A-9B08-37E6-BD65-D1749C0F694E}"/>
              </a:ext>
            </a:extLst>
          </p:cNvPr>
          <p:cNvSpPr/>
          <p:nvPr/>
        </p:nvSpPr>
        <p:spPr>
          <a:xfrm>
            <a:off x="818940" y="3608645"/>
            <a:ext cx="384048" cy="384048"/>
          </a:xfrm>
          <a:prstGeom prst="ellipse">
            <a:avLst/>
          </a:prstGeom>
          <a:solidFill>
            <a:srgbClr val="1A3DCC"/>
          </a:solidFill>
          <a:ln w="12700">
            <a:solidFill>
              <a:srgbClr val="1A3DCC"/>
            </a:solidFill>
            <a:prstDash val="solid"/>
          </a:ln>
        </p:spPr>
        <p:txBody>
          <a:bodyPr/>
          <a:lstStyle/>
          <a:p>
            <a:endParaRPr lang="fr-FR"/>
          </a:p>
        </p:txBody>
      </p:sp>
      <p:sp>
        <p:nvSpPr>
          <p:cNvPr id="27" name="Text 11">
            <a:extLst>
              <a:ext uri="{FF2B5EF4-FFF2-40B4-BE49-F238E27FC236}">
                <a16:creationId xmlns:a16="http://schemas.microsoft.com/office/drawing/2014/main" id="{A9F483E3-19A5-686B-6D75-97F7B93F9583}"/>
              </a:ext>
            </a:extLst>
          </p:cNvPr>
          <p:cNvSpPr/>
          <p:nvPr/>
        </p:nvSpPr>
        <p:spPr>
          <a:xfrm>
            <a:off x="818940" y="3608645"/>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8" name="Text 12">
            <a:extLst>
              <a:ext uri="{FF2B5EF4-FFF2-40B4-BE49-F238E27FC236}">
                <a16:creationId xmlns:a16="http://schemas.microsoft.com/office/drawing/2014/main" id="{3EB1B4A3-822A-649E-9E35-70A61882578E}"/>
              </a:ext>
            </a:extLst>
          </p:cNvPr>
          <p:cNvSpPr/>
          <p:nvPr/>
        </p:nvSpPr>
        <p:spPr>
          <a:xfrm>
            <a:off x="1367580" y="3509972"/>
            <a:ext cx="6741440" cy="638743"/>
          </a:xfrm>
          <a:prstGeom prst="rect">
            <a:avLst/>
          </a:prstGeom>
          <a:noFill/>
          <a:ln/>
        </p:spPr>
        <p:txBody>
          <a:bodyPr wrap="square" lIns="0" tIns="0" rIns="0" bIns="0" rtlCol="0" anchor="ctr"/>
          <a:lstStyle/>
          <a:p>
            <a:pPr marL="0" indent="0">
              <a:buNone/>
            </a:pPr>
            <a:r>
              <a:rPr lang="en-US" sz="1400" b="1" dirty="0">
                <a:solidFill>
                  <a:srgbClr val="0F172A"/>
                </a:solidFill>
                <a:latin typeface="Arial Black" pitchFamily="34" charset="0"/>
                <a:ea typeface="Arial Black" pitchFamily="34" charset="-122"/>
                <a:cs typeface="Arial Black" pitchFamily="34" charset="-120"/>
              </a:rPr>
              <a:t>An invitation to join the next S2S Portfolio Summit, which will most likely take place in November</a:t>
            </a:r>
            <a:endParaRPr lang="en-US" sz="1400" dirty="0"/>
          </a:p>
        </p:txBody>
      </p:sp>
      <p:sp>
        <p:nvSpPr>
          <p:cNvPr id="30" name="Shape 14">
            <a:extLst>
              <a:ext uri="{FF2B5EF4-FFF2-40B4-BE49-F238E27FC236}">
                <a16:creationId xmlns:a16="http://schemas.microsoft.com/office/drawing/2014/main" id="{1FF5E821-5179-0F96-8D4A-1E06296EEEB0}"/>
              </a:ext>
            </a:extLst>
          </p:cNvPr>
          <p:cNvSpPr/>
          <p:nvPr/>
        </p:nvSpPr>
        <p:spPr>
          <a:xfrm>
            <a:off x="818940" y="4336649"/>
            <a:ext cx="384048" cy="384048"/>
          </a:xfrm>
          <a:prstGeom prst="ellipse">
            <a:avLst/>
          </a:prstGeom>
          <a:solidFill>
            <a:srgbClr val="1A3DCC"/>
          </a:solidFill>
          <a:ln w="12700">
            <a:solidFill>
              <a:srgbClr val="1A3DCC"/>
            </a:solidFill>
            <a:prstDash val="solid"/>
          </a:ln>
        </p:spPr>
        <p:txBody>
          <a:bodyPr/>
          <a:lstStyle/>
          <a:p>
            <a:endParaRPr lang="fr-FR"/>
          </a:p>
        </p:txBody>
      </p:sp>
      <p:sp>
        <p:nvSpPr>
          <p:cNvPr id="31" name="Text 15">
            <a:extLst>
              <a:ext uri="{FF2B5EF4-FFF2-40B4-BE49-F238E27FC236}">
                <a16:creationId xmlns:a16="http://schemas.microsoft.com/office/drawing/2014/main" id="{DE79F61C-8280-C5F2-65B6-2A89EA35E265}"/>
              </a:ext>
            </a:extLst>
          </p:cNvPr>
          <p:cNvSpPr/>
          <p:nvPr/>
        </p:nvSpPr>
        <p:spPr>
          <a:xfrm>
            <a:off x="818940" y="4336649"/>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32" name="Text 16">
            <a:extLst>
              <a:ext uri="{FF2B5EF4-FFF2-40B4-BE49-F238E27FC236}">
                <a16:creationId xmlns:a16="http://schemas.microsoft.com/office/drawing/2014/main" id="{C5982753-6636-39BC-F6E6-DB8BDFB5E0B3}"/>
              </a:ext>
            </a:extLst>
          </p:cNvPr>
          <p:cNvSpPr/>
          <p:nvPr/>
        </p:nvSpPr>
        <p:spPr>
          <a:xfrm>
            <a:off x="1367580" y="4318361"/>
            <a:ext cx="6630908" cy="347472"/>
          </a:xfrm>
          <a:prstGeom prst="rect">
            <a:avLst/>
          </a:prstGeom>
          <a:noFill/>
          <a:ln/>
        </p:spPr>
        <p:txBody>
          <a:bodyPr wrap="square" lIns="0" tIns="0" rIns="0" bIns="0" rtlCol="0" anchor="ctr"/>
          <a:lstStyle/>
          <a:p>
            <a:pPr marL="0" indent="0">
              <a:buNone/>
            </a:pPr>
            <a:r>
              <a:rPr lang="en-US" sz="1400" b="1" dirty="0">
                <a:solidFill>
                  <a:srgbClr val="0F172A"/>
                </a:solidFill>
                <a:latin typeface="Arial Black" pitchFamily="34" charset="0"/>
                <a:ea typeface="Arial Black" pitchFamily="34" charset="-122"/>
                <a:cs typeface="Arial Black" pitchFamily="34" charset="-120"/>
              </a:rPr>
              <a:t>Support from S2S in connecting the winners with relevant people from our network in case they want to pursue their idea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7262e59-1b56-4f5a-a412-6f07181f48ee}" enabled="0" method="" siteId="{a7262e59-1b56-4f5a-a412-6f07181f48ee}" removed="1"/>
</clbl:labelList>
</file>

<file path=docProps/app.xml><?xml version="1.0" encoding="utf-8"?>
<Properties xmlns="http://schemas.openxmlformats.org/officeDocument/2006/extended-properties" xmlns:vt="http://schemas.openxmlformats.org/officeDocument/2006/docPropsVTypes">
  <TotalTime>274</TotalTime>
  <Words>903</Words>
  <Application>Microsoft Macintosh PowerPoint</Application>
  <PresentationFormat>On-screen Show (16:9)</PresentationFormat>
  <Paragraphs>150</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Arial Black</vt:lpstr>
      <vt:lpstr>Calibri</vt:lpstr>
      <vt:lpstr>Canva Sans Bold</vt:lpstr>
      <vt:lpstr>Gill Sans MT Pro Bold</vt:lpstr>
      <vt:lpstr>Gill Sans MT Pro Medium</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S2S Ventures x START Hack 2026 — AI x Sustainability</dc:title>
  <dc:subject>PptxGenJS Presentation</dc:subject>
  <dc:creator>PptxGenJS</dc:creator>
  <cp:lastModifiedBy>Sunteva, Sara</cp:lastModifiedBy>
  <cp:revision>386</cp:revision>
  <dcterms:created xsi:type="dcterms:W3CDTF">2026-05-25T20:05:25Z</dcterms:created>
  <dcterms:modified xsi:type="dcterms:W3CDTF">2026-05-29T15:17:02Z</dcterms:modified>
</cp:coreProperties>
</file>